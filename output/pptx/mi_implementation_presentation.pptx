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4.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1pPr>
    <a:lvl2pPr marL="0" marR="0" indent="457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charts/_rels/chart1.xml.rels><?xml version="1.0" encoding="UTF-8"?>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a="http://schemas.openxmlformats.org/drawingml/2006/main" xmlns:c="http://schemas.openxmlformats.org/drawingml/2006/chart" xmlns:r="http://schemas.openxmlformats.org/officeDocument/2006/relationships">
  <c:date1904 val="1"/>
  <c:roundedCorners val="0"/>
  <c:chart>
    <c:autoTitleDeleted val="1"/>
    <c:plotArea>
      <c:layout>
        <c:manualLayout>
          <c:layoutTarget val="inner"/>
          <c:xMode val="edge"/>
          <c:yMode val="edge"/>
          <c:x val="0.36"/>
          <c:y val="0.055"/>
          <c:w val="0.58"/>
          <c:h val="0.82"/>
        </c:manualLayout>
      </c:layout>
      <c:barChart>
        <c:barDir val="bar"/>
        <c:grouping val="clustered"/>
        <c:varyColors val="0"/>
        <c:ser>
          <c:idx val="0"/>
          <c:order val="0"/>
          <c:tx>
            <c:strRef>
              <c:f>Sheet1!$A$2</c:f>
              <c:strCache>
                <c:ptCount val="1"/>
                <c:pt idx="0">
                  <c:v>Result</c:v>
                </c:pt>
              </c:strCache>
            </c:strRef>
          </c:tx>
          <c:spPr>
            <a:solidFill>
              <a:srgbClr val="91ACB9"/>
            </a:solidFill>
            <a:ln w="12700" cap="flat">
              <a:noFill/>
              <a:miter lim="400000"/>
            </a:ln>
            <a:effectLst/>
          </c:spPr>
          <c:invertIfNegative val="0"/>
          <c:dPt>
            <c:idx val="0"/>
            <c:spPr>
              <a:solidFill>
                <a:srgbClr val="91ACB9"/>
              </a:solidFill>
            </c:spPr>
          </c:dPt>
          <c:dPt>
            <c:idx val="1"/>
            <c:spPr>
              <a:solidFill>
                <a:srgbClr val="087F8C"/>
              </a:solidFill>
            </c:spPr>
          </c:dPt>
          <c:dPt>
            <c:idx val="2"/>
            <c:spPr>
              <a:solidFill>
                <a:srgbClr val="AB562B"/>
              </a:solidFill>
            </c:spPr>
          </c:dPt>
          <c:dLbls>
            <c:numFmt formatCode="0.00" sourceLinked="0"/>
            <c:txPr>
              <a:bodyPr/>
              <a:lstStyle/>
              <a:p>
                <a:pPr>
                  <a:defRPr b="1" i="0" strike="noStrike" sz="3400" u="none">
                    <a:solidFill>
                      <a:srgbClr val="17324D"/>
                    </a:solidFill>
                    <a:latin typeface="Avenir Next"/>
                  </a:defRPr>
                </a:pPr>
              </a:p>
            </c:txPr>
            <c:dLblPos val="outEnd"/>
            <c:showLegendKey val="0"/>
            <c:showVal val="1"/>
            <c:showCatName val="0"/>
            <c:showSerName val="0"/>
            <c:showPercent val="0"/>
            <c:showBubbleSize val="0"/>
            <c:showLeaderLines val="0"/>
          </c:dLbls>
          <c:cat>
            <c:strRef>
              <c:f>Sheet1!$B$1:$D$1</c:f>
              <c:strCache>
                <c:ptCount val="3"/>
                <c:pt idx="0">
                  <c:v>Published paper</c:v>
                </c:pt>
                <c:pt idx="1">
                  <c:v>Our random beat CV</c:v>
                </c:pt>
                <c:pt idx="2">
                  <c:v>Our patient grouped CV</c:v>
                </c:pt>
              </c:strCache>
            </c:strRef>
          </c:cat>
          <c:val>
            <c:numRef>
              <c:f>Sheet1!$B$2:$D$2</c:f>
              <c:numCache>
                <c:ptCount val="3"/>
                <c:pt idx="0">
                  <c:v>99.800000</c:v>
                </c:pt>
                <c:pt idx="1">
                  <c:v>99.135637</c:v>
                </c:pt>
                <c:pt idx="2">
                  <c:v>41.385294</c:v>
                </c:pt>
              </c:numCache>
            </c:numRef>
          </c:val>
        </c:ser>
        <c:gapWidth val="85"/>
        <c:overlap val="-10"/>
        <c:axId val="2094734552"/>
        <c:axId val="2094734553"/>
      </c:barChart>
      <c:catAx>
        <c:axId val="2094734552"/>
        <c:scaling>
          <c:orientation val="maxMin"/>
        </c:scaling>
        <c:delete val="0"/>
        <c:axPos val="l"/>
        <c:numFmt formatCode="General" sourceLinked="0"/>
        <c:majorTickMark val="none"/>
        <c:minorTickMark val="none"/>
        <c:tickLblPos val="nextTo"/>
        <c:spPr>
          <a:ln w="12700" cap="flat">
            <a:solidFill>
              <a:srgbClr val="000000"/>
            </a:solidFill>
            <a:prstDash val="solid"/>
            <a:miter lim="400000"/>
          </a:ln>
        </c:spPr>
        <c:txPr>
          <a:bodyPr rot="0"/>
          <a:lstStyle/>
          <a:p>
            <a:pPr>
              <a:defRPr b="0" i="0" strike="noStrike" sz="3000" u="none">
                <a:solidFill>
                  <a:srgbClr val="536778"/>
                </a:solidFill>
                <a:latin typeface="Avenir Next"/>
              </a:defRPr>
            </a:pPr>
          </a:p>
        </c:txPr>
        <c:crossAx val="2094734553"/>
        <c:crosses val="autoZero"/>
        <c:auto val="1"/>
        <c:lblAlgn val="ctr"/>
        <c:noMultiLvlLbl val="1"/>
      </c:catAx>
      <c:valAx>
        <c:axId val="2094734553"/>
        <c:scaling>
          <c:orientation val="minMax"/>
          <c:max val="100"/>
          <c:min val="0"/>
        </c:scaling>
        <c:delete val="0"/>
        <c:axPos val="b"/>
        <c:numFmt formatCode="0" sourceLinked="0"/>
        <c:majorTickMark val="none"/>
        <c:minorTickMark val="none"/>
        <c:tickLblPos val="low"/>
        <c:spPr>
          <a:ln w="12700" cap="flat">
            <a:noFill/>
            <a:prstDash val="solid"/>
            <a:miter lim="400000"/>
          </a:ln>
        </c:spPr>
        <c:txPr>
          <a:bodyPr rot="0"/>
          <a:lstStyle/>
          <a:p>
            <a:pPr>
              <a:defRPr b="0" i="0" strike="noStrike" sz="3000" u="none">
                <a:solidFill>
                  <a:srgbClr val="536778"/>
                </a:solidFill>
                <a:latin typeface="Avenir Next"/>
              </a:defRPr>
            </a:pPr>
          </a:p>
        </c:txPr>
        <c:crossAx val="2094734552"/>
        <c:crosses val="autoZero"/>
        <c:crossBetween val="between"/>
        <c:majorUnit val="25"/>
      </c:valAx>
      <c:spPr>
        <a:noFill/>
        <a:ln w="12700" cap="flat">
          <a:noFill/>
          <a:miter lim="400000"/>
        </a:ln>
        <a:effectLst/>
      </c:spPr>
    </c:plotArea>
    <c:plotVisOnly val="1"/>
    <c:dispBlanksAs val="gap"/>
  </c:chart>
  <c:spPr>
    <a:noFill/>
    <a:ln>
      <a:noFill/>
    </a:ln>
    <a:effectLst/>
  </c:spPr>
  <c:externalData r:id="rId1">
    <c:autoUpdate val="0"/>
  </c:externalData>
</c:chartSpace>
</file>

<file path=ppt/charts/chart2.xml><?xml version="1.0" encoding="utf-8"?>
<c:chartSpace xmlns:a="http://schemas.openxmlformats.org/drawingml/2006/main" xmlns:c="http://schemas.openxmlformats.org/drawingml/2006/chart" xmlns:r="http://schemas.openxmlformats.org/officeDocument/2006/relationships">
  <c:date1904 val="1"/>
  <c:roundedCorners val="0"/>
  <c:chart>
    <c:autoTitleDeleted val="1"/>
    <c:plotArea>
      <c:layout>
        <c:manualLayout>
          <c:layoutTarget val="inner"/>
          <c:xMode val="edge"/>
          <c:yMode val="edge"/>
          <c:x val="0.36"/>
          <c:y val="0.055"/>
          <c:w val="0.58"/>
          <c:h val="0.82"/>
        </c:manualLayout>
      </c:layout>
      <c:barChart>
        <c:barDir val="bar"/>
        <c:grouping val="clustered"/>
        <c:varyColors val="0"/>
        <c:ser>
          <c:idx val="0"/>
          <c:order val="0"/>
          <c:tx>
            <c:strRef>
              <c:f>Sheet1!$A$2</c:f>
              <c:strCache>
                <c:ptCount val="1"/>
                <c:pt idx="0">
                  <c:v>Result</c:v>
                </c:pt>
              </c:strCache>
            </c:strRef>
          </c:tx>
          <c:spPr>
            <a:solidFill>
              <a:srgbClr val="91ACB9"/>
            </a:solidFill>
            <a:ln w="12700" cap="flat">
              <a:noFill/>
              <a:miter lim="400000"/>
            </a:ln>
            <a:effectLst/>
          </c:spPr>
          <c:invertIfNegative val="0"/>
          <c:dPt>
            <c:idx val="0"/>
            <c:spPr>
              <a:solidFill>
                <a:srgbClr val="91ACB9"/>
              </a:solidFill>
            </c:spPr>
          </c:dPt>
          <c:dPt>
            <c:idx val="1"/>
            <c:spPr>
              <a:solidFill>
                <a:srgbClr val="91ACB9"/>
              </a:solidFill>
            </c:spPr>
          </c:dPt>
          <c:dPt>
            <c:idx val="2"/>
            <c:spPr>
              <a:solidFill>
                <a:srgbClr val="087F8C"/>
              </a:solidFill>
            </c:spPr>
          </c:dPt>
          <c:dLbls>
            <c:numFmt formatCode="0.000" sourceLinked="0"/>
            <c:txPr>
              <a:bodyPr/>
              <a:lstStyle/>
              <a:p>
                <a:pPr>
                  <a:defRPr b="1" i="0" strike="noStrike" sz="3400" u="none">
                    <a:solidFill>
                      <a:srgbClr val="17324D"/>
                    </a:solidFill>
                    <a:latin typeface="Avenir Next"/>
                  </a:defRPr>
                </a:pPr>
              </a:p>
            </c:txPr>
            <c:dLblPos val="outEnd"/>
            <c:showLegendKey val="0"/>
            <c:showVal val="1"/>
            <c:showCatName val="0"/>
            <c:showSerName val="0"/>
            <c:showPercent val="0"/>
            <c:showBubbleSize val="0"/>
            <c:showLeaderLines val="0"/>
          </c:dLbls>
          <c:cat>
            <c:strRef>
              <c:f>Sheet1!$B$1:$D$1</c:f>
              <c:strCache>
                <c:ptCount val="3"/>
                <c:pt idx="0">
                  <c:v>Random forest</c:v>
                </c:pt>
                <c:pt idx="1">
                  <c:v>Linear SVM</c:v>
                </c:pt>
                <c:pt idx="2">
                  <c:v>XGBoost</c:v>
                </c:pt>
              </c:strCache>
            </c:strRef>
          </c:cat>
          <c:val>
            <c:numRef>
              <c:f>Sheet1!$B$2:$D$2</c:f>
              <c:numCache>
                <c:ptCount val="3"/>
                <c:pt idx="0">
                  <c:v>0.379660</c:v>
                </c:pt>
                <c:pt idx="1">
                  <c:v>0.366069</c:v>
                </c:pt>
                <c:pt idx="2">
                  <c:v>0.402743</c:v>
                </c:pt>
              </c:numCache>
            </c:numRef>
          </c:val>
        </c:ser>
        <c:gapWidth val="85"/>
        <c:overlap val="-10"/>
        <c:axId val="2094734552"/>
        <c:axId val="2094734553"/>
      </c:barChart>
      <c:catAx>
        <c:axId val="2094734552"/>
        <c:scaling>
          <c:orientation val="maxMin"/>
        </c:scaling>
        <c:delete val="0"/>
        <c:axPos val="l"/>
        <c:numFmt formatCode="General" sourceLinked="0"/>
        <c:majorTickMark val="none"/>
        <c:minorTickMark val="none"/>
        <c:tickLblPos val="nextTo"/>
        <c:spPr>
          <a:ln w="12700" cap="flat">
            <a:solidFill>
              <a:srgbClr val="000000"/>
            </a:solidFill>
            <a:prstDash val="solid"/>
            <a:miter lim="400000"/>
          </a:ln>
        </c:spPr>
        <c:txPr>
          <a:bodyPr rot="0"/>
          <a:lstStyle/>
          <a:p>
            <a:pPr>
              <a:defRPr b="0" i="0" strike="noStrike" sz="3000" u="none">
                <a:solidFill>
                  <a:srgbClr val="536778"/>
                </a:solidFill>
                <a:latin typeface="Avenir Next"/>
              </a:defRPr>
            </a:pPr>
          </a:p>
        </c:txPr>
        <c:crossAx val="2094734553"/>
        <c:crosses val="autoZero"/>
        <c:auto val="1"/>
        <c:lblAlgn val="ctr"/>
        <c:noMultiLvlLbl val="1"/>
      </c:catAx>
      <c:valAx>
        <c:axId val="2094734553"/>
        <c:scaling>
          <c:orientation val="minMax"/>
          <c:max val="0.6"/>
          <c:min val="0"/>
        </c:scaling>
        <c:delete val="0"/>
        <c:axPos val="b"/>
        <c:numFmt formatCode="0.0" sourceLinked="0"/>
        <c:majorTickMark val="none"/>
        <c:minorTickMark val="none"/>
        <c:tickLblPos val="low"/>
        <c:spPr>
          <a:ln w="12700" cap="flat">
            <a:noFill/>
            <a:prstDash val="solid"/>
            <a:miter lim="400000"/>
          </a:ln>
        </c:spPr>
        <c:txPr>
          <a:bodyPr rot="0"/>
          <a:lstStyle/>
          <a:p>
            <a:pPr>
              <a:defRPr b="0" i="0" strike="noStrike" sz="3000" u="none">
                <a:solidFill>
                  <a:srgbClr val="536778"/>
                </a:solidFill>
                <a:latin typeface="Avenir Next"/>
              </a:defRPr>
            </a:pPr>
          </a:p>
        </c:txPr>
        <c:crossAx val="2094734552"/>
        <c:crosses val="autoZero"/>
        <c:crossBetween val="between"/>
        <c:majorUnit val="0.2"/>
      </c:valAx>
      <c:spPr>
        <a:noFill/>
        <a:ln w="12700" cap="flat">
          <a:noFill/>
          <a:miter lim="400000"/>
        </a:ln>
        <a:effectLst/>
      </c:spPr>
    </c:plotArea>
    <c:plotVisOnly val="1"/>
    <c:dispBlanksAs val="gap"/>
  </c:chart>
  <c:spPr>
    <a:noFill/>
    <a:ln>
      <a:noFill/>
    </a:ln>
    <a:effectLst/>
  </c:spPr>
  <c:externalData r:id="rId1">
    <c:autoUpdate val="0"/>
  </c:externalData>
</c:chartSpace>
</file>

<file path=ppt/charts/chart3.xml><?xml version="1.0" encoding="utf-8"?>
<c:chartSpace xmlns:a="http://schemas.openxmlformats.org/drawingml/2006/main" xmlns:c="http://schemas.openxmlformats.org/drawingml/2006/chart" xmlns:r="http://schemas.openxmlformats.org/officeDocument/2006/relationships">
  <c:date1904 val="1"/>
  <c:roundedCorners val="0"/>
  <c:chart>
    <c:autoTitleDeleted val="1"/>
    <c:plotArea>
      <c:layout>
        <c:manualLayout>
          <c:layoutTarget val="inner"/>
          <c:xMode val="edge"/>
          <c:yMode val="edge"/>
          <c:x val="0.36"/>
          <c:y val="0.055"/>
          <c:w val="0.58"/>
          <c:h val="0.82"/>
        </c:manualLayout>
      </c:layout>
      <c:barChart>
        <c:barDir val="bar"/>
        <c:grouping val="clustered"/>
        <c:varyColors val="0"/>
        <c:ser>
          <c:idx val="0"/>
          <c:order val="0"/>
          <c:tx>
            <c:strRef>
              <c:f>Sheet1!$A$2</c:f>
              <c:strCache>
                <c:ptCount val="1"/>
                <c:pt idx="0">
                  <c:v>Result</c:v>
                </c:pt>
              </c:strCache>
            </c:strRef>
          </c:tx>
          <c:spPr>
            <a:solidFill>
              <a:srgbClr val="91ACB9"/>
            </a:solidFill>
            <a:ln w="12700" cap="flat">
              <a:noFill/>
              <a:miter lim="400000"/>
            </a:ln>
            <a:effectLst/>
          </c:spPr>
          <c:invertIfNegative val="0"/>
          <c:dPt>
            <c:idx val="0"/>
            <c:spPr>
              <a:solidFill>
                <a:srgbClr val="087F8C"/>
              </a:solidFill>
            </c:spPr>
          </c:dPt>
          <c:dPt>
            <c:idx val="1"/>
            <c:spPr>
              <a:solidFill>
                <a:srgbClr val="91ACB9"/>
              </a:solidFill>
            </c:spPr>
          </c:dPt>
          <c:dPt>
            <c:idx val="2"/>
            <c:spPr>
              <a:solidFill>
                <a:srgbClr val="91ACB9"/>
              </a:solidFill>
            </c:spPr>
          </c:dPt>
          <c:dPt>
            <c:idx val="3"/>
            <c:spPr>
              <a:solidFill>
                <a:srgbClr val="91ACB9"/>
              </a:solidFill>
            </c:spPr>
          </c:dPt>
          <c:dPt>
            <c:idx val="4"/>
            <c:spPr>
              <a:solidFill>
                <a:srgbClr val="91ACB9"/>
              </a:solidFill>
            </c:spPr>
          </c:dPt>
          <c:dLbls>
            <c:numFmt formatCode="0.000" sourceLinked="0"/>
            <c:txPr>
              <a:bodyPr/>
              <a:lstStyle/>
              <a:p>
                <a:pPr>
                  <a:defRPr b="1" i="0" strike="noStrike" sz="3400" u="none">
                    <a:solidFill>
                      <a:srgbClr val="17324D"/>
                    </a:solidFill>
                    <a:latin typeface="Avenir Next"/>
                  </a:defRPr>
                </a:pPr>
              </a:p>
            </c:txPr>
            <c:dLblPos val="outEnd"/>
            <c:showLegendKey val="0"/>
            <c:showVal val="1"/>
            <c:showCatName val="0"/>
            <c:showSerName val="0"/>
            <c:showPercent val="0"/>
            <c:showBubbleSize val="0"/>
            <c:showLeaderLines val="0"/>
          </c:dLbls>
          <c:cat>
            <c:strRef>
              <c:f>Sheet1!$B$1:$F$1</c:f>
              <c:strCache>
                <c:ptCount val="5"/>
                <c:pt idx="0">
                  <c:v>Wavelet statistics</c:v>
                </c:pt>
                <c:pt idx="1">
                  <c:v>Tucker rank 5</c:v>
                </c:pt>
                <c:pt idx="2">
                  <c:v>Tucker rank 3</c:v>
                </c:pt>
                <c:pt idx="3">
                  <c:v>Amplitude normalization</c:v>
                </c:pt>
                <c:pt idx="4">
                  <c:v>No wavelet subbands</c:v>
                </c:pt>
              </c:strCache>
            </c:strRef>
          </c:cat>
          <c:val>
            <c:numRef>
              <c:f>Sheet1!$B$2:$F$2</c:f>
              <c:numCache>
                <c:ptCount val="5"/>
                <c:pt idx="0">
                  <c:v>0.464004</c:v>
                </c:pt>
                <c:pt idx="1">
                  <c:v>0.423068</c:v>
                </c:pt>
                <c:pt idx="2">
                  <c:v>0.415910</c:v>
                </c:pt>
                <c:pt idx="3">
                  <c:v>0.368913</c:v>
                </c:pt>
                <c:pt idx="4">
                  <c:v>0.278247</c:v>
                </c:pt>
              </c:numCache>
            </c:numRef>
          </c:val>
        </c:ser>
        <c:gapWidth val="85"/>
        <c:overlap val="-10"/>
        <c:axId val="2094734552"/>
        <c:axId val="2094734553"/>
      </c:barChart>
      <c:catAx>
        <c:axId val="2094734552"/>
        <c:scaling>
          <c:orientation val="maxMin"/>
        </c:scaling>
        <c:delete val="0"/>
        <c:axPos val="l"/>
        <c:numFmt formatCode="General" sourceLinked="0"/>
        <c:majorTickMark val="none"/>
        <c:minorTickMark val="none"/>
        <c:tickLblPos val="nextTo"/>
        <c:spPr>
          <a:ln w="12700" cap="flat">
            <a:solidFill>
              <a:srgbClr val="000000"/>
            </a:solidFill>
            <a:prstDash val="solid"/>
            <a:miter lim="400000"/>
          </a:ln>
        </c:spPr>
        <c:txPr>
          <a:bodyPr rot="0"/>
          <a:lstStyle/>
          <a:p>
            <a:pPr>
              <a:defRPr b="0" i="0" strike="noStrike" sz="3000" u="none">
                <a:solidFill>
                  <a:srgbClr val="536778"/>
                </a:solidFill>
                <a:latin typeface="Avenir Next"/>
              </a:defRPr>
            </a:pPr>
          </a:p>
        </c:txPr>
        <c:crossAx val="2094734553"/>
        <c:crosses val="autoZero"/>
        <c:auto val="1"/>
        <c:lblAlgn val="ctr"/>
        <c:noMultiLvlLbl val="1"/>
      </c:catAx>
      <c:valAx>
        <c:axId val="2094734553"/>
        <c:scaling>
          <c:orientation val="minMax"/>
          <c:max val="0.6"/>
          <c:min val="0"/>
        </c:scaling>
        <c:delete val="0"/>
        <c:axPos val="b"/>
        <c:numFmt formatCode="0.0" sourceLinked="0"/>
        <c:majorTickMark val="none"/>
        <c:minorTickMark val="none"/>
        <c:tickLblPos val="low"/>
        <c:spPr>
          <a:ln w="12700" cap="flat">
            <a:noFill/>
            <a:prstDash val="solid"/>
            <a:miter lim="400000"/>
          </a:ln>
        </c:spPr>
        <c:txPr>
          <a:bodyPr rot="0"/>
          <a:lstStyle/>
          <a:p>
            <a:pPr>
              <a:defRPr b="0" i="0" strike="noStrike" sz="3000" u="none">
                <a:solidFill>
                  <a:srgbClr val="536778"/>
                </a:solidFill>
                <a:latin typeface="Avenir Next"/>
              </a:defRPr>
            </a:pPr>
          </a:p>
        </c:txPr>
        <c:crossAx val="2094734552"/>
        <c:crosses val="autoZero"/>
        <c:crossBetween val="between"/>
        <c:majorUnit val="0.2"/>
      </c:valAx>
      <c:spPr>
        <a:noFill/>
        <a:ln w="12700" cap="flat">
          <a:noFill/>
          <a:miter lim="400000"/>
        </a:ln>
        <a:effectLst/>
      </c:spPr>
    </c:plotArea>
    <c:plotVisOnly val="1"/>
    <c:dispBlanksAs val="gap"/>
  </c:chart>
  <c:spPr>
    <a:noFill/>
    <a:ln>
      <a:noFill/>
    </a:ln>
    <a:effectLst/>
  </c:spPr>
  <c:externalData r:id="rId1">
    <c:autoUpdate val="0"/>
  </c:externalData>
</c:chartSpace>
</file>

<file path=ppt/charts/chart4.xml><?xml version="1.0" encoding="utf-8"?>
<c:chartSpace xmlns:a="http://schemas.openxmlformats.org/drawingml/2006/main" xmlns:c="http://schemas.openxmlformats.org/drawingml/2006/chart" xmlns:r="http://schemas.openxmlformats.org/officeDocument/2006/relationships">
  <c:date1904 val="1"/>
  <c:roundedCorners val="0"/>
  <c:chart>
    <c:autoTitleDeleted val="1"/>
    <c:plotArea>
      <c:layout>
        <c:manualLayout>
          <c:layoutTarget val="inner"/>
          <c:xMode val="edge"/>
          <c:yMode val="edge"/>
          <c:x val="0.36"/>
          <c:y val="0.055"/>
          <c:w val="0.58"/>
          <c:h val="0.82"/>
        </c:manualLayout>
      </c:layout>
      <c:barChart>
        <c:barDir val="bar"/>
        <c:grouping val="clustered"/>
        <c:varyColors val="0"/>
        <c:ser>
          <c:idx val="0"/>
          <c:order val="0"/>
          <c:tx>
            <c:strRef>
              <c:f>Sheet1!$A$2</c:f>
              <c:strCache>
                <c:ptCount val="1"/>
                <c:pt idx="0">
                  <c:v>Result</c:v>
                </c:pt>
              </c:strCache>
            </c:strRef>
          </c:tx>
          <c:spPr>
            <a:solidFill>
              <a:srgbClr val="91ACB9"/>
            </a:solidFill>
            <a:ln w="12700" cap="flat">
              <a:noFill/>
              <a:miter lim="400000"/>
            </a:ln>
            <a:effectLst/>
          </c:spPr>
          <c:invertIfNegative val="0"/>
          <c:dPt>
            <c:idx val="0"/>
            <c:spPr>
              <a:solidFill>
                <a:srgbClr val="087F8C"/>
              </a:solidFill>
            </c:spPr>
          </c:dPt>
          <c:dPt>
            <c:idx val="1"/>
            <c:spPr>
              <a:solidFill>
                <a:srgbClr val="91ACB9"/>
              </a:solidFill>
            </c:spPr>
          </c:dPt>
          <c:dPt>
            <c:idx val="2"/>
            <c:spPr>
              <a:solidFill>
                <a:srgbClr val="91ACB9"/>
              </a:solidFill>
            </c:spPr>
          </c:dPt>
          <c:dLbls>
            <c:numFmt formatCode="0.000" sourceLinked="0"/>
            <c:txPr>
              <a:bodyPr/>
              <a:lstStyle/>
              <a:p>
                <a:pPr>
                  <a:defRPr b="1" i="0" strike="noStrike" sz="3400" u="none">
                    <a:solidFill>
                      <a:srgbClr val="17324D"/>
                    </a:solidFill>
                    <a:latin typeface="Avenir Next"/>
                  </a:defRPr>
                </a:pPr>
              </a:p>
            </c:txPr>
            <c:dLblPos val="outEnd"/>
            <c:showLegendKey val="0"/>
            <c:showVal val="1"/>
            <c:showCatName val="0"/>
            <c:showSerName val="0"/>
            <c:showPercent val="0"/>
            <c:showBubbleSize val="0"/>
            <c:showLeaderLines val="0"/>
          </c:dLbls>
          <c:cat>
            <c:strRef>
              <c:f>Sheet1!$B$1:$D$1</c:f>
              <c:strCache>
                <c:ptCount val="3"/>
                <c:pt idx="0">
                  <c:v>Measured / measured</c:v>
                </c:pt>
                <c:pt idx="1">
                  <c:v>Measured / derived</c:v>
                </c:pt>
                <c:pt idx="2">
                  <c:v>Derived / derived</c:v>
                </c:pt>
              </c:strCache>
            </c:strRef>
          </c:cat>
          <c:val>
            <c:numRef>
              <c:f>Sheet1!$B$2:$D$2</c:f>
              <c:numCache>
                <c:ptCount val="3"/>
                <c:pt idx="0">
                  <c:v>0.468723</c:v>
                </c:pt>
                <c:pt idx="1">
                  <c:v>0.422483</c:v>
                </c:pt>
                <c:pt idx="2">
                  <c:v>0.466620</c:v>
                </c:pt>
              </c:numCache>
            </c:numRef>
          </c:val>
        </c:ser>
        <c:gapWidth val="85"/>
        <c:overlap val="-10"/>
        <c:axId val="2094734552"/>
        <c:axId val="2094734553"/>
      </c:barChart>
      <c:catAx>
        <c:axId val="2094734552"/>
        <c:scaling>
          <c:orientation val="maxMin"/>
        </c:scaling>
        <c:delete val="0"/>
        <c:axPos val="l"/>
        <c:numFmt formatCode="General" sourceLinked="0"/>
        <c:majorTickMark val="none"/>
        <c:minorTickMark val="none"/>
        <c:tickLblPos val="nextTo"/>
        <c:spPr>
          <a:ln w="12700" cap="flat">
            <a:solidFill>
              <a:srgbClr val="000000"/>
            </a:solidFill>
            <a:prstDash val="solid"/>
            <a:miter lim="400000"/>
          </a:ln>
        </c:spPr>
        <c:txPr>
          <a:bodyPr rot="0"/>
          <a:lstStyle/>
          <a:p>
            <a:pPr>
              <a:defRPr b="0" i="0" strike="noStrike" sz="3000" u="none">
                <a:solidFill>
                  <a:srgbClr val="536778"/>
                </a:solidFill>
                <a:latin typeface="Avenir Next"/>
              </a:defRPr>
            </a:pPr>
          </a:p>
        </c:txPr>
        <c:crossAx val="2094734553"/>
        <c:crosses val="autoZero"/>
        <c:auto val="1"/>
        <c:lblAlgn val="ctr"/>
        <c:noMultiLvlLbl val="1"/>
      </c:catAx>
      <c:valAx>
        <c:axId val="2094734553"/>
        <c:scaling>
          <c:orientation val="minMax"/>
          <c:max val="0.6"/>
          <c:min val="0"/>
        </c:scaling>
        <c:delete val="0"/>
        <c:axPos val="b"/>
        <c:numFmt formatCode="0.0" sourceLinked="0"/>
        <c:majorTickMark val="none"/>
        <c:minorTickMark val="none"/>
        <c:tickLblPos val="low"/>
        <c:spPr>
          <a:ln w="12700" cap="flat">
            <a:noFill/>
            <a:prstDash val="solid"/>
            <a:miter lim="400000"/>
          </a:ln>
        </c:spPr>
        <c:txPr>
          <a:bodyPr rot="0"/>
          <a:lstStyle/>
          <a:p>
            <a:pPr>
              <a:defRPr b="0" i="0" strike="noStrike" sz="3000" u="none">
                <a:solidFill>
                  <a:srgbClr val="536778"/>
                </a:solidFill>
                <a:latin typeface="Avenir Next"/>
              </a:defRPr>
            </a:pPr>
          </a:p>
        </c:txPr>
        <c:crossAx val="2094734552"/>
        <c:crosses val="autoZero"/>
        <c:crossBetween val="between"/>
        <c:majorUnit val="0.2"/>
      </c:valAx>
      <c:spPr>
        <a:noFill/>
        <a:ln w="12700" cap="flat">
          <a:noFill/>
          <a:miter lim="400000"/>
        </a:ln>
        <a:effectLst/>
      </c:spPr>
    </c:plotArea>
    <c:plotVisOnly val="1"/>
    <c:dispBlanksAs val="gap"/>
  </c:chart>
  <c:spPr>
    <a:noFill/>
    <a:ln>
      <a:noFill/>
    </a:ln>
    <a:effectLst/>
  </c:spPr>
  <c:externalData r:id="rId1">
    <c:autoUpdate val="0"/>
  </c:externalData>
</c:chartSpace>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68" name="Shape 168"/>
          <p:cNvSpPr/>
          <p:nvPr>
            <p:ph type="sldImg"/>
          </p:nvPr>
        </p:nvSpPr>
        <p:spPr>
          <a:xfrm>
            <a:off x="1143000" y="685800"/>
            <a:ext cx="4572000" cy="3429000"/>
          </a:xfrm>
          <a:prstGeom prst="rect">
            <a:avLst/>
          </a:prstGeom>
        </p:spPr>
        <p:txBody>
          <a:bodyPr/>
          <a:lstStyle/>
          <a:p>
            <a:pPr/>
          </a:p>
        </p:txBody>
      </p:sp>
      <p:sp>
        <p:nvSpPr>
          <p:cNvPr id="169" name="Shape 16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4" name="Shape 174"/>
          <p:cNvSpPr/>
          <p:nvPr>
            <p:ph type="sldImg"/>
          </p:nvPr>
        </p:nvSpPr>
        <p:spPr>
          <a:prstGeom prst="rect">
            <a:avLst/>
          </a:prstGeom>
        </p:spPr>
        <p:txBody>
          <a:bodyPr/>
          <a:lstStyle/>
          <a:p>
            <a:pPr/>
          </a:p>
        </p:txBody>
      </p:sp>
      <p:sp>
        <p:nvSpPr>
          <p:cNvPr id="175" name="Shape 175"/>
          <p:cNvSpPr/>
          <p:nvPr>
            <p:ph type="body" sz="quarter" idx="1"/>
          </p:nvPr>
        </p:nvSpPr>
        <p:spPr>
          <a:prstGeom prst="rect">
            <a:avLst/>
          </a:prstGeom>
        </p:spPr>
        <p:txBody>
          <a:bodyPr/>
          <a:lstStyle/>
          <a:p>
            <a:pPr/>
            <a:r>
              <a:t>SUGGESTED TIME 20 seconds</a:t>
            </a:r>
          </a:p>
          <a:p>
            <a:pPr/>
          </a:p>
          <a:p>
            <a:pPr/>
            <a:r>
              <a:t>SAY</a:t>
            </a:r>
          </a:p>
          <a:p>
            <a:pPr/>
            <a:r>
              <a:t>My friend has explained the paper and the problem statement. I will now explain what we implemented and what the experiments showed. We built the published pipeline, evaluated generalization to unseen patients, compared feature representations, and tested the selected model on another database.</a:t>
            </a:r>
          </a:p>
          <a:p>
            <a:pPr/>
          </a:p>
          <a:p>
            <a:pPr/>
            <a:r>
              <a:t>TRANSITION</a:t>
            </a:r>
          </a:p>
          <a:p>
            <a:pPr/>
            <a:r>
              <a:t>First, here is the complete system we built.</a:t>
            </a:r>
          </a:p>
          <a:p>
            <a:pPr/>
          </a:p>
          <a:p>
            <a:pPr/>
            <a:r>
              <a:t>EVIDENCE</a:t>
            </a:r>
          </a:p>
          <a:p>
            <a:pPr/>
            <a:r>
              <a:t>README.md and saved experiment reports.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1" name="Shape 181"/>
          <p:cNvSpPr/>
          <p:nvPr>
            <p:ph type="sldImg"/>
          </p:nvPr>
        </p:nvSpPr>
        <p:spPr>
          <a:prstGeom prst="rect">
            <a:avLst/>
          </a:prstGeom>
        </p:spPr>
        <p:txBody>
          <a:bodyPr/>
          <a:lstStyle/>
          <a:p>
            <a:pPr/>
          </a:p>
        </p:txBody>
      </p:sp>
      <p:sp>
        <p:nvSpPr>
          <p:cNvPr id="182" name="Shape 182"/>
          <p:cNvSpPr/>
          <p:nvPr>
            <p:ph type="body" sz="quarter" idx="1"/>
          </p:nvPr>
        </p:nvSpPr>
        <p:spPr>
          <a:prstGeom prst="rect">
            <a:avLst/>
          </a:prstGeom>
        </p:spPr>
        <p:txBody>
          <a:bodyPr/>
          <a:lstStyle/>
          <a:p>
            <a:pPr/>
            <a:r>
              <a:t>SUGGESTED TIME 35 seconds</a:t>
            </a:r>
          </a:p>
          <a:p>
            <a:pPr/>
          </a:p>
          <a:p>
            <a:pPr/>
            <a:r>
              <a:t>SAY</a:t>
            </a:r>
          </a:p>
          <a:p>
            <a:pPr/>
            <a:r>
              <a:t>Our implementation has four parts. The first prepares the PTB cohort and processes Frank VCG. The second extracts the paper's tensor features and reproduces its random beat evaluation. The third adds patient-disjoint model selection and representation comparisons. The fourth performs locked external testing and the paired acquisition-domain experiment. All of these run through our Python command-line interface.</a:t>
            </a:r>
          </a:p>
          <a:p>
            <a:pPr/>
          </a:p>
          <a:p>
            <a:pPr/>
            <a:r>
              <a:t>TRANSITION</a:t>
            </a:r>
          </a:p>
          <a:p>
            <a:pPr/>
            <a:r>
              <a:t>I will follow this sequence, starting with the data.</a:t>
            </a:r>
          </a:p>
          <a:p>
            <a:pPr/>
          </a:p>
          <a:p>
            <a:pPr/>
            <a:r>
              <a:t>EVIDENCE</a:t>
            </a:r>
          </a:p>
          <a:p>
            <a:pPr/>
            <a:r>
              <a:t>README.md; src/mi_localization/cli.py</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5" name="Shape 195"/>
          <p:cNvSpPr/>
          <p:nvPr>
            <p:ph type="sldImg"/>
          </p:nvPr>
        </p:nvSpPr>
        <p:spPr>
          <a:prstGeom prst="rect">
            <a:avLst/>
          </a:prstGeom>
        </p:spPr>
        <p:txBody>
          <a:bodyPr/>
          <a:lstStyle/>
          <a:p>
            <a:pPr/>
          </a:p>
        </p:txBody>
      </p:sp>
      <p:sp>
        <p:nvSpPr>
          <p:cNvPr id="196" name="Shape 196"/>
          <p:cNvSpPr/>
          <p:nvPr>
            <p:ph type="body" sz="quarter" idx="1"/>
          </p:nvPr>
        </p:nvSpPr>
        <p:spPr>
          <a:prstGeom prst="rect">
            <a:avLst/>
          </a:prstGeom>
        </p:spPr>
        <p:txBody>
          <a:bodyPr/>
          <a:lstStyle/>
          <a:p>
            <a:pPr/>
            <a:r>
              <a:t>SUGGESTED TIME 45 seconds</a:t>
            </a:r>
          </a:p>
          <a:p>
            <a:pPr/>
          </a:p>
          <a:p>
            <a:pPr/>
            <a:r>
              <a:t>SAY</a:t>
            </a:r>
          </a:p>
          <a:p>
            <a:pPr/>
            <a:r>
              <a:t>We use the measured Frank X, Y and Z signals from PTB, sampled at one thousand hertz. We matched the paper's cohort: 178 patients, including 126 with MI and 52 healthy controls, across 425 recordings. We excluded the noisy patient 294 and MI patients without acute location annotations. We detected 60,507 complete beats, twenty fewer than the paper. The total is close, but our class counts differ because the paper did not publish its exact R-peak annotations.</a:t>
            </a:r>
          </a:p>
          <a:p>
            <a:pPr/>
          </a:p>
          <a:p>
            <a:pPr/>
            <a:r>
              <a:t>TRANSITION</a:t>
            </a:r>
          </a:p>
          <a:p>
            <a:pPr/>
            <a:r>
              <a:t>The next slide shows how a recording becomes individual beats.</a:t>
            </a:r>
          </a:p>
          <a:p>
            <a:pPr/>
          </a:p>
          <a:p>
            <a:pPr/>
            <a:r>
              <a:t>EVIDENCE</a:t>
            </a:r>
          </a:p>
          <a:p>
            <a:pPr/>
            <a:r>
              <a:t>RESULTS.md; configs/paper.yaml; data/raw/ptbdb/manifest.csv</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8" name="Shape 208"/>
          <p:cNvSpPr/>
          <p:nvPr>
            <p:ph type="sldImg"/>
          </p:nvPr>
        </p:nvSpPr>
        <p:spPr>
          <a:prstGeom prst="rect">
            <a:avLst/>
          </a:prstGeom>
        </p:spPr>
        <p:txBody>
          <a:bodyPr/>
          <a:lstStyle/>
          <a:p>
            <a:pPr/>
          </a:p>
        </p:txBody>
      </p:sp>
      <p:sp>
        <p:nvSpPr>
          <p:cNvPr id="209" name="Shape 209"/>
          <p:cNvSpPr/>
          <p:nvPr>
            <p:ph type="body" sz="quarter" idx="1"/>
          </p:nvPr>
        </p:nvSpPr>
        <p:spPr>
          <a:prstGeom prst="rect">
            <a:avLst/>
          </a:prstGeom>
        </p:spPr>
        <p:txBody>
          <a:bodyPr/>
          <a:lstStyle/>
          <a:p>
            <a:pPr/>
            <a:r>
              <a:t>SUGGESTED TIME 55 seconds</a:t>
            </a:r>
          </a:p>
          <a:p>
            <a:pPr/>
          </a:p>
          <a:p>
            <a:pPr/>
            <a:r>
              <a:t>SAY</a:t>
            </a:r>
          </a:p>
          <a:p>
            <a:pPr/>
            <a:r>
              <a:t>This is a real PTB recording processed by our code. Gray is the recorded signal and teal is the denoised signal. We use bior6.8 wavelet denoising, then a Pan-Tompkins-style detector on the three-dimensional vector magnitude. The dashed lines mark detected peaks, and the shaded window shows one beat. We retain 250 samples before the R peak and 400 after it, including the peak itself. That gives 651 samples for each lead. This trace illustrates the processing output, rather than serving as independently annotated detector validation.</a:t>
            </a:r>
          </a:p>
          <a:p>
            <a:pPr/>
          </a:p>
          <a:p>
            <a:pPr/>
            <a:r>
              <a:t>TRANSITION</a:t>
            </a:r>
          </a:p>
          <a:p>
            <a:pPr/>
            <a:r>
              <a:t>Every extracted beat then becomes the tensor used by the paper.</a:t>
            </a:r>
          </a:p>
          <a:p>
            <a:pPr/>
          </a:p>
          <a:p>
            <a:pPr/>
            <a:r>
              <a:t>EVIDENCE</a:t>
            </a:r>
          </a:p>
          <a:p>
            <a:pPr/>
            <a:r>
              <a:t>Actual record patient001/s0010_re; src/mi_localization/signal.py; configs/paper.yaml. Detector threshold 0.06 is calibrated to published beat counts.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6" name="Shape 216"/>
          <p:cNvSpPr/>
          <p:nvPr>
            <p:ph type="sldImg"/>
          </p:nvPr>
        </p:nvSpPr>
        <p:spPr>
          <a:prstGeom prst="rect">
            <a:avLst/>
          </a:prstGeom>
        </p:spPr>
        <p:txBody>
          <a:bodyPr/>
          <a:lstStyle/>
          <a:p>
            <a:pPr/>
          </a:p>
        </p:txBody>
      </p:sp>
      <p:sp>
        <p:nvSpPr>
          <p:cNvPr id="217" name="Shape 217"/>
          <p:cNvSpPr/>
          <p:nvPr>
            <p:ph type="body" sz="quarter" idx="1"/>
          </p:nvPr>
        </p:nvSpPr>
        <p:spPr>
          <a:prstGeom prst="rect">
            <a:avLst/>
          </a:prstGeom>
        </p:spPr>
        <p:txBody>
          <a:bodyPr/>
          <a:lstStyle/>
          <a:p>
            <a:pPr/>
            <a:r>
              <a:t>SUGGESTED TIME 60 seconds</a:t>
            </a:r>
          </a:p>
          <a:p>
            <a:pPr/>
          </a:p>
          <a:p>
            <a:pPr/>
            <a:r>
              <a:t>SAY</a:t>
            </a:r>
          </a:p>
          <a:p>
            <a:pPr/>
            <a:r>
              <a:t>For each three-lead beat, we retain the original signal and reconstruct wavelet detail subbands D3 through D9. This gives eight slices and a tensor of shape three by 651 by eight. We compress only the time mode to rank three using truncated SVD. The lead and subband modes remain intact. The resulting core is three by three by eight, which we flatten into 72 values. Our code fixes SVD sign ambiguity and uses column-major vectorization for deterministic features. A 500-tree bootstrap random forest is our scikit-learn analogue of MATLAB TreeBagger.</a:t>
            </a:r>
          </a:p>
          <a:p>
            <a:pPr/>
          </a:p>
          <a:p>
            <a:pPr/>
            <a:r>
              <a:t>TRANSITION</a:t>
            </a:r>
          </a:p>
          <a:p>
            <a:pPr/>
            <a:r>
              <a:t>We first checked how close this implementation came to the published result.</a:t>
            </a:r>
          </a:p>
          <a:p>
            <a:pPr/>
          </a:p>
          <a:p>
            <a:pPr/>
            <a:r>
              <a:t>EVIDENCE</a:t>
            </a:r>
          </a:p>
          <a:p>
            <a:pPr/>
            <a:r>
              <a:t>src/mi_localization/features.py; src/mi_localization/evaluation.py; configs/paper.yaml</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4" name="Shape 224"/>
          <p:cNvSpPr/>
          <p:nvPr>
            <p:ph type="sldImg"/>
          </p:nvPr>
        </p:nvSpPr>
        <p:spPr>
          <a:prstGeom prst="rect">
            <a:avLst/>
          </a:prstGeom>
        </p:spPr>
        <p:txBody>
          <a:bodyPr/>
          <a:lstStyle/>
          <a:p>
            <a:pPr/>
          </a:p>
        </p:txBody>
      </p:sp>
      <p:sp>
        <p:nvSpPr>
          <p:cNvPr id="225" name="Shape 225"/>
          <p:cNvSpPr/>
          <p:nvPr>
            <p:ph type="body" sz="quarter" idx="1"/>
          </p:nvPr>
        </p:nvSpPr>
        <p:spPr>
          <a:prstGeom prst="rect">
            <a:avLst/>
          </a:prstGeom>
        </p:spPr>
        <p:txBody>
          <a:bodyPr/>
          <a:lstStyle/>
          <a:p>
            <a:pPr/>
            <a:r>
              <a:t>SUGGESTED TIME 65 seconds</a:t>
            </a:r>
          </a:p>
          <a:p>
            <a:pPr/>
          </a:p>
          <a:p>
            <a:pPr/>
            <a:r>
              <a:t>SAY</a:t>
            </a:r>
          </a:p>
          <a:p>
            <a:pPr/>
            <a:r>
              <a:t>The published accuracy is 99.80%. Our random beat ten-fold reproduction reaches 99.136%, only 0.664 percentage points lower. But almost every patient appears in both training and testing in those folds. When we group all recordings and beats of a patient together, the same 12-class model reaches only 41.385% beat accuracy. The drop is 57.75 percentage points. This is the main reason our project focuses on unseen patients. We closely reproduce the paper's reported regime, but that regime does not answer our patient-generalization question.</a:t>
            </a:r>
          </a:p>
          <a:p>
            <a:pPr/>
          </a:p>
          <a:p>
            <a:pPr/>
            <a:r>
              <a:t>TRANSITION</a:t>
            </a:r>
          </a:p>
          <a:p>
            <a:pPr/>
            <a:r>
              <a:t>To make the patient task learnable, we defined a better-supported six-class benchmark.</a:t>
            </a:r>
          </a:p>
          <a:p>
            <a:pPr/>
          </a:p>
          <a:p>
            <a:pPr/>
            <a:r>
              <a:t>EVIDENCE</a:t>
            </a:r>
          </a:p>
          <a:p>
            <a:pPr/>
            <a:r>
              <a:t>RESULTS.md; results/metrics_beat.json; results/metrics_patient.json. All three bars are beat accuracy on the 12-class task.</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4" name="Shape 234"/>
          <p:cNvSpPr/>
          <p:nvPr>
            <p:ph type="sldImg"/>
          </p:nvPr>
        </p:nvSpPr>
        <p:spPr>
          <a:prstGeom prst="rect">
            <a:avLst/>
          </a:prstGeom>
        </p:spPr>
        <p:txBody>
          <a:bodyPr/>
          <a:lstStyle/>
          <a:p>
            <a:pPr/>
          </a:p>
        </p:txBody>
      </p:sp>
      <p:sp>
        <p:nvSpPr>
          <p:cNvPr id="235" name="Shape 235"/>
          <p:cNvSpPr/>
          <p:nvPr>
            <p:ph type="body" sz="quarter" idx="1"/>
          </p:nvPr>
        </p:nvSpPr>
        <p:spPr>
          <a:prstGeom prst="rect">
            <a:avLst/>
          </a:prstGeom>
        </p:spPr>
        <p:txBody>
          <a:bodyPr/>
          <a:lstStyle/>
          <a:p>
            <a:pPr/>
            <a:r>
              <a:t>SUGGESTED TIME 60 seconds</a:t>
            </a:r>
          </a:p>
          <a:p>
            <a:pPr/>
          </a:p>
          <a:p>
            <a:pPr/>
            <a:r>
              <a:t>SAY</a:t>
            </a:r>
          </a:p>
          <a:p>
            <a:pPr/>
            <a:r>
              <a:t>Several original locations have only one patient. If that patient is held out, the class has no training examples. We therefore retain six classes with at least ten patients each. The cohort has 164 patients and 55,863 beats. We freeze ten outer patient folds, and choose hyperparameters within each training fold using three inner patient folds. Training weights balance classes and patients. At testing, we average all beat probabilities for each patient before making one prediction. Macro F1 averages the six class F1 scores equally, so the large healthy class cannot dominate the endpoint.</a:t>
            </a:r>
          </a:p>
          <a:p>
            <a:pPr/>
          </a:p>
          <a:p>
            <a:pPr/>
            <a:r>
              <a:t>TRANSITION</a:t>
            </a:r>
          </a:p>
          <a:p>
            <a:pPr/>
            <a:r>
              <a:t>This protocol lets us compare classifiers fairly.</a:t>
            </a:r>
          </a:p>
          <a:p>
            <a:pPr/>
          </a:p>
          <a:p>
            <a:pPr/>
            <a:r>
              <a:t>EVIDENCE</a:t>
            </a:r>
          </a:p>
          <a:p>
            <a:pPr/>
            <a:r>
              <a:t>BENCHMARK_RESULTS.md; configs/patient_folds.csv; src/mi_localization/benchmark.py</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2" name="Shape 242"/>
          <p:cNvSpPr/>
          <p:nvPr>
            <p:ph type="sldImg"/>
          </p:nvPr>
        </p:nvSpPr>
        <p:spPr>
          <a:prstGeom prst="rect">
            <a:avLst/>
          </a:prstGeom>
        </p:spPr>
        <p:txBody>
          <a:bodyPr/>
          <a:lstStyle/>
          <a:p>
            <a:pPr/>
          </a:p>
        </p:txBody>
      </p:sp>
      <p:sp>
        <p:nvSpPr>
          <p:cNvPr id="243" name="Shape 243"/>
          <p:cNvSpPr/>
          <p:nvPr>
            <p:ph type="body" sz="quarter" idx="1"/>
          </p:nvPr>
        </p:nvSpPr>
        <p:spPr>
          <a:prstGeom prst="rect">
            <a:avLst/>
          </a:prstGeom>
        </p:spPr>
        <p:txBody>
          <a:bodyPr/>
          <a:lstStyle/>
          <a:p>
            <a:pPr/>
            <a:r>
              <a:t>SUGGESTED TIME 45 seconds</a:t>
            </a:r>
          </a:p>
          <a:p>
            <a:pPr/>
          </a:p>
          <a:p>
            <a:pPr/>
            <a:r>
              <a:t>SAY</a:t>
            </a:r>
          </a:p>
          <a:p>
            <a:pPr/>
            <a:r>
              <a:t>We compared random forest, linear SVM and XGBoost using the same 72 tensor features and the same patient folds. XGBoost leads on our primary metric at 0.403 macro F1. Random forest gets 0.380 and SVM 0.366. Random forest has slightly higher accuracy, but we chose macro F1 because classes are unequal in size. The bootstrap intervals overlap substantially, so this cohort does not prove that one classifier is definitively superior. The modest results suggested that changing the representation might help more than changing the classifier.</a:t>
            </a:r>
          </a:p>
          <a:p>
            <a:pPr/>
          </a:p>
          <a:p>
            <a:pPr/>
            <a:r>
              <a:t>TRANSITION</a:t>
            </a:r>
          </a:p>
          <a:p>
            <a:pPr/>
            <a:r>
              <a:t>We therefore ran a representation ablation study.</a:t>
            </a:r>
          </a:p>
          <a:p>
            <a:pPr/>
          </a:p>
          <a:p>
            <a:pPr/>
            <a:r>
              <a:t>EVIDENCE</a:t>
            </a:r>
          </a:p>
          <a:p>
            <a:pPr/>
            <a:r>
              <a:t>BENCHMARK_RESULTS.md; results/patient_benchmark/metrics_{rf,svm,xgboost}.json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9" name="Shape 249"/>
          <p:cNvSpPr/>
          <p:nvPr>
            <p:ph type="sldImg"/>
          </p:nvPr>
        </p:nvSpPr>
        <p:spPr>
          <a:prstGeom prst="rect">
            <a:avLst/>
          </a:prstGeom>
        </p:spPr>
        <p:txBody>
          <a:bodyPr/>
          <a:lstStyle/>
          <a:p>
            <a:pPr/>
          </a:p>
        </p:txBody>
      </p:sp>
      <p:sp>
        <p:nvSpPr>
          <p:cNvPr id="250" name="Shape 250"/>
          <p:cNvSpPr/>
          <p:nvPr>
            <p:ph type="body" sz="quarter" idx="1"/>
          </p:nvPr>
        </p:nvSpPr>
        <p:spPr>
          <a:prstGeom prst="rect">
            <a:avLst/>
          </a:prstGeom>
        </p:spPr>
        <p:txBody>
          <a:bodyPr/>
          <a:lstStyle/>
          <a:p>
            <a:pPr/>
            <a:r>
              <a:t>SUGGESTED TIME 50 seconds</a:t>
            </a:r>
          </a:p>
          <a:p>
            <a:pPr/>
          </a:p>
          <a:p>
            <a:pPr/>
            <a:r>
              <a:t>SAY</a:t>
            </a:r>
          </a:p>
          <a:p>
            <a:pPr/>
            <a:r>
              <a:t>An ablation changes one aspect of the features while holding the evaluation setup fixed. We tested Tucker ranks, denoising, amplitude normalization, individual leads, wavelet removal, and a statistics-based representation. This chart shows five examples from all twelve. Wavelet statistics led the exploratory comparison at 0.464 macro F1. Removing wavelet slices was substantially worse. More Tucker rank added little. These are exploratory results with one fixed XGBoost model, which is why they differ from the nested benchmark numbers.</a:t>
            </a:r>
          </a:p>
          <a:p>
            <a:pPr/>
          </a:p>
          <a:p>
            <a:pPr/>
            <a:r>
              <a:t>TRANSITION</a:t>
            </a:r>
          </a:p>
          <a:p>
            <a:pPr/>
            <a:r>
              <a:t>Next we reran the strongest representation using the nested benchmark protocol.</a:t>
            </a:r>
          </a:p>
          <a:p>
            <a:pPr/>
          </a:p>
          <a:p>
            <a:pPr/>
            <a:r>
              <a:t>EVIDENCE</a:t>
            </a:r>
          </a:p>
          <a:p>
            <a:pPr/>
            <a:r>
              <a:t>ABLATION_RESULTS.md; results/ablation/comparison.csv. Fixed depth-6 XGBoost. Full 12-row table in backup slide 16.</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9" name="Shape 259"/>
          <p:cNvSpPr/>
          <p:nvPr>
            <p:ph type="sldImg"/>
          </p:nvPr>
        </p:nvSpPr>
        <p:spPr>
          <a:prstGeom prst="rect">
            <a:avLst/>
          </a:prstGeom>
        </p:spPr>
        <p:txBody>
          <a:bodyPr/>
          <a:lstStyle/>
          <a:p>
            <a:pPr/>
          </a:p>
        </p:txBody>
      </p:sp>
      <p:sp>
        <p:nvSpPr>
          <p:cNvPr id="260" name="Shape 260"/>
          <p:cNvSpPr/>
          <p:nvPr>
            <p:ph type="body" sz="quarter" idx="1"/>
          </p:nvPr>
        </p:nvSpPr>
        <p:spPr>
          <a:prstGeom prst="rect">
            <a:avLst/>
          </a:prstGeom>
        </p:spPr>
        <p:txBody>
          <a:bodyPr/>
          <a:lstStyle/>
          <a:p>
            <a:pPr/>
            <a:r>
              <a:t>SUGGESTED TIME 65 seconds</a:t>
            </a:r>
          </a:p>
          <a:p>
            <a:pPr/>
          </a:p>
          <a:p>
            <a:pPr/>
            <a:r>
              <a:t>SAY</a:t>
            </a:r>
          </a:p>
          <a:p>
            <a:pPr/>
            <a:r>
              <a:t>This representation keeps the same three leads and eight wavelet slices, but summarizes each slice with eight statistics instead of a low-rank Tucker core. Three times eight times eight gives 192 features. Using the nested protocol, macro F1 rises from 0.403 to 0.487 and accuracy rises from 46.95% to 54.88%. The paired bootstrap interval for the macro-F1 increase is 0.003 to 0.165. The result is encouraging within PTB, but we chose the representation after inspecting these folds. The nested rerun does not remove that selection effect. We therefore need external confirmation.</a:t>
            </a:r>
          </a:p>
          <a:p>
            <a:pPr/>
          </a:p>
          <a:p>
            <a:pPr/>
            <a:r>
              <a:t>TRANSITION</a:t>
            </a:r>
          </a:p>
          <a:p>
            <a:pPr/>
            <a:r>
              <a:t>We tested the fixed PTB model on the locked PTB-XL cohort.</a:t>
            </a:r>
          </a:p>
          <a:p>
            <a:pPr/>
          </a:p>
          <a:p>
            <a:pPr/>
            <a:r>
              <a:t>EVIDENCE</a:t>
            </a:r>
          </a:p>
          <a:p>
            <a:pPr/>
            <a:r>
              <a:t>ABLATION_RESULTS.md; results/wavelet_statistics_confirm/metrics_xgboost.json; src/mi_localization/features.py</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1" name="Shape 271"/>
          <p:cNvSpPr/>
          <p:nvPr>
            <p:ph type="sldImg"/>
          </p:nvPr>
        </p:nvSpPr>
        <p:spPr>
          <a:prstGeom prst="rect">
            <a:avLst/>
          </a:prstGeom>
        </p:spPr>
        <p:txBody>
          <a:bodyPr/>
          <a:lstStyle/>
          <a:p>
            <a:pPr/>
          </a:p>
        </p:txBody>
      </p:sp>
      <p:sp>
        <p:nvSpPr>
          <p:cNvPr id="272" name="Shape 272"/>
          <p:cNvSpPr/>
          <p:nvPr>
            <p:ph type="body" sz="quarter" idx="1"/>
          </p:nvPr>
        </p:nvSpPr>
        <p:spPr>
          <a:prstGeom prst="rect">
            <a:avLst/>
          </a:prstGeom>
        </p:spPr>
        <p:txBody>
          <a:bodyPr/>
          <a:lstStyle/>
          <a:p>
            <a:pPr/>
            <a:r>
              <a:t>SUGGESTED TIME 65 seconds</a:t>
            </a:r>
          </a:p>
          <a:p>
            <a:pPr/>
          </a:p>
          <a:p>
            <a:pPr/>
            <a:r>
              <a:t>SAY</a:t>
            </a:r>
          </a:p>
          <a:p>
            <a:pPr/>
            <a:r>
              <a:t>We train the selected wavelet-statistics model on all 164 eligible PTB patients and test it once on recommended PTB-XL fold ten. The strict test contains 1,185 records from 1,092 patients. PTB-XL provides 12-lead ECG, so we derive XYZ with the Kors matrix and resample from 500 to one thousand hertz. There is no external tuning. The patient macro F1 is only 0.242. The cohort is 72% healthy, and an always-healthy classifier has higher accuracy than our model. This is a useful negative result: the current localization model does not transfer reliably. Differences in signals, labels and population make it difficult to assign the gap to one cause.</a:t>
            </a:r>
          </a:p>
          <a:p>
            <a:pPr/>
          </a:p>
          <a:p>
            <a:pPr/>
            <a:r>
              <a:t>TRANSITION</a:t>
            </a:r>
          </a:p>
          <a:p>
            <a:pPr/>
            <a:r>
              <a:t>We investigated one specific cause using simultaneous PTB signals.</a:t>
            </a:r>
          </a:p>
          <a:p>
            <a:pPr/>
          </a:p>
          <a:p>
            <a:pPr/>
            <a:r>
              <a:t>EVIDENCE</a:t>
            </a:r>
          </a:p>
          <a:p>
            <a:pPr/>
            <a:r>
              <a:t>EXTERNAL_RESULTS.md; results/ptbxl_external/metrics.json; configs/ptbxl_external.yaml. PTB-XL v1.0.3. Cross-database identity overlap has not been independently verified.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9" name="Shape 279"/>
          <p:cNvSpPr/>
          <p:nvPr>
            <p:ph type="sldImg"/>
          </p:nvPr>
        </p:nvSpPr>
        <p:spPr>
          <a:prstGeom prst="rect">
            <a:avLst/>
          </a:prstGeom>
        </p:spPr>
        <p:txBody>
          <a:bodyPr/>
          <a:lstStyle/>
          <a:p>
            <a:pPr/>
          </a:p>
        </p:txBody>
      </p:sp>
      <p:sp>
        <p:nvSpPr>
          <p:cNvPr id="280" name="Shape 280"/>
          <p:cNvSpPr/>
          <p:nvPr>
            <p:ph type="body" sz="quarter" idx="1"/>
          </p:nvPr>
        </p:nvSpPr>
        <p:spPr>
          <a:prstGeom prst="rect">
            <a:avLst/>
          </a:prstGeom>
        </p:spPr>
        <p:txBody>
          <a:bodyPr/>
          <a:lstStyle/>
          <a:p>
            <a:pPr/>
            <a:r>
              <a:t>SUGGESTED TIME 60 seconds</a:t>
            </a:r>
          </a:p>
          <a:p>
            <a:pPr/>
          </a:p>
          <a:p>
            <a:pPr/>
            <a:r>
              <a:t>SAY</a:t>
            </a:r>
          </a:p>
          <a:p>
            <a:pPr/>
            <a:r>
              <a:t>PTB has simultaneous measured Frank VCG and 12-lead ECG. We derive Kors VCG from the ECG for the same 164 patients, 391 records and original beat positions. This holds patient identity, labels and timing constant. The fixed measured-to-measured model reaches 0.469 macro F1. Testing it on derived VCG gives 0.422, and training and testing in the derived domain gives 0.467. The estimated reduction is 0.046, but its interval includes zero. The pattern suggests acquisition mismatch may contribute. It cannot fully explain the external result. These scores use a fixed depth-three model, whereas the earlier 0.487 score used nested selection.</a:t>
            </a:r>
          </a:p>
          <a:p>
            <a:pPr/>
          </a:p>
          <a:p>
            <a:pPr/>
            <a:r>
              <a:t>TRANSITION</a:t>
            </a:r>
          </a:p>
          <a:p>
            <a:pPr/>
            <a:r>
              <a:t>Alongside the experiments, we built a reproducible codebase.</a:t>
            </a:r>
          </a:p>
          <a:p>
            <a:pPr/>
          </a:p>
          <a:p>
            <a:pPr/>
            <a:r>
              <a:t>EVIDENCE</a:t>
            </a:r>
          </a:p>
          <a:p>
            <a:pPr/>
            <a:r>
              <a:t>DOMAIN_SHIFT_RESULTS.md; results/domain_shift/metrics.json. Fixed depth-3 XGBoost and shared measured-domain R positions.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0" name="Shape 290"/>
          <p:cNvSpPr/>
          <p:nvPr>
            <p:ph type="sldImg"/>
          </p:nvPr>
        </p:nvSpPr>
        <p:spPr>
          <a:prstGeom prst="rect">
            <a:avLst/>
          </a:prstGeom>
        </p:spPr>
        <p:txBody>
          <a:bodyPr/>
          <a:lstStyle/>
          <a:p>
            <a:pPr/>
          </a:p>
        </p:txBody>
      </p:sp>
      <p:sp>
        <p:nvSpPr>
          <p:cNvPr id="291" name="Shape 291"/>
          <p:cNvSpPr/>
          <p:nvPr>
            <p:ph type="body" sz="quarter" idx="1"/>
          </p:nvPr>
        </p:nvSpPr>
        <p:spPr>
          <a:prstGeom prst="rect">
            <a:avLst/>
          </a:prstGeom>
        </p:spPr>
        <p:txBody>
          <a:bodyPr/>
          <a:lstStyle/>
          <a:p>
            <a:pPr/>
            <a:r>
              <a:t>SUGGESTED TIME 40 seconds</a:t>
            </a:r>
          </a:p>
          <a:p>
            <a:pPr/>
          </a:p>
          <a:p>
            <a:pPr/>
            <a:r>
              <a:t>SAY</a:t>
            </a:r>
          </a:p>
          <a:p>
            <a:pPr/>
            <a:r>
              <a:t>The implementation is a Python package with a command-line interface. It separates data preparation, signal processing, features and evaluation. YAML configurations fix processing parameters and model settings, and the patient assignments are saved in a CSV. Outputs include out-of-fold probabilities, metrics, confusion matrices and tuning decisions. We cache features to avoid repeating signal processing. We have fifteen passing automated tests. The repository also contains the experiment reports and presentation material. Large raw signals, caches and fitted models stay local.</a:t>
            </a:r>
          </a:p>
          <a:p>
            <a:pPr/>
          </a:p>
          <a:p>
            <a:pPr/>
            <a:r>
              <a:t>TRANSITION</a:t>
            </a:r>
          </a:p>
          <a:p>
            <a:pPr/>
            <a:r>
              <a:t>I will close with the completed contribution and the next development step.</a:t>
            </a:r>
          </a:p>
          <a:p>
            <a:pPr/>
          </a:p>
          <a:p>
            <a:pPr/>
            <a:r>
              <a:t>EVIDENCE</a:t>
            </a:r>
          </a:p>
          <a:p>
            <a:pPr/>
            <a:r>
              <a:t>README.md; pyproject.toml; src/mi_localization/; tests/. Test verification: 15 passed, 6 October 2026.</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1" name="Shape 301"/>
          <p:cNvSpPr/>
          <p:nvPr>
            <p:ph type="sldImg"/>
          </p:nvPr>
        </p:nvSpPr>
        <p:spPr>
          <a:prstGeom prst="rect">
            <a:avLst/>
          </a:prstGeom>
        </p:spPr>
        <p:txBody>
          <a:bodyPr/>
          <a:lstStyle/>
          <a:p>
            <a:pPr/>
          </a:p>
        </p:txBody>
      </p:sp>
      <p:sp>
        <p:nvSpPr>
          <p:cNvPr id="302" name="Shape 302"/>
          <p:cNvSpPr/>
          <p:nvPr>
            <p:ph type="body" sz="quarter" idx="1"/>
          </p:nvPr>
        </p:nvSpPr>
        <p:spPr>
          <a:prstGeom prst="rect">
            <a:avLst/>
          </a:prstGeom>
        </p:spPr>
        <p:txBody>
          <a:bodyPr/>
          <a:lstStyle/>
          <a:p>
            <a:pPr/>
            <a:r>
              <a:t>SUGGESTED TIME 50 seconds</a:t>
            </a:r>
          </a:p>
          <a:p>
            <a:pPr/>
          </a:p>
          <a:p>
            <a:pPr/>
            <a:r>
              <a:t>SAY</a:t>
            </a:r>
          </a:p>
          <a:p>
            <a:pPr/>
            <a:r>
              <a:t>We have completed the paper reproduction, established a patient-disjoint benchmark, found a stronger PTB feature representation, and documented its external limitations. The main conclusion is that nearly reproducing 99% beat accuracy does not establish reliability on new patients. The next milestone is a compact 1D CNN or ResNet and a model that combines learned signal features with tensor or wavelet features. Those models are proposed work. We should evaluate them using the same patient endpoint and reserve fresh validation for any improvement claim. This gives us a concrete path from the completed implementation to the next project phase.</a:t>
            </a:r>
          </a:p>
          <a:p>
            <a:pPr/>
          </a:p>
          <a:p>
            <a:pPr/>
            <a:r>
              <a:t>TRANSITION</a:t>
            </a:r>
          </a:p>
          <a:p>
            <a:pPr/>
            <a:r>
              <a:t>That completes the implementation section. I am happy to discuss the design and results.</a:t>
            </a:r>
          </a:p>
          <a:p>
            <a:pPr/>
          </a:p>
          <a:p>
            <a:pPr/>
            <a:r>
              <a:t>EVIDENCE</a:t>
            </a:r>
          </a:p>
          <a:p>
            <a:pPr/>
            <a:r>
              <a:t>All five experiment reports. Deep models and hybrid remain unimplemented as of 7 October 2026.</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8" name="Shape 308"/>
          <p:cNvSpPr/>
          <p:nvPr>
            <p:ph type="sldImg"/>
          </p:nvPr>
        </p:nvSpPr>
        <p:spPr>
          <a:prstGeom prst="rect">
            <a:avLst/>
          </a:prstGeom>
        </p:spPr>
        <p:txBody>
          <a:bodyPr/>
          <a:lstStyle/>
          <a:p>
            <a:pPr/>
          </a:p>
        </p:txBody>
      </p:sp>
      <p:sp>
        <p:nvSpPr>
          <p:cNvPr id="309" name="Shape 309"/>
          <p:cNvSpPr/>
          <p:nvPr>
            <p:ph type="body" sz="quarter" idx="1"/>
          </p:nvPr>
        </p:nvSpPr>
        <p:spPr>
          <a:prstGeom prst="rect">
            <a:avLst/>
          </a:prstGeom>
        </p:spPr>
        <p:txBody>
          <a:bodyPr/>
          <a:lstStyle/>
          <a:p>
            <a:pPr/>
            <a:r>
              <a:t>BACKUP SLIDE</a:t>
            </a:r>
          </a:p>
          <a:p>
            <a:pPr/>
          </a:p>
          <a:p>
            <a:pPr/>
            <a:r>
              <a:t>SAY</a:t>
            </a:r>
          </a:p>
          <a:p>
            <a:pPr/>
            <a:r>
              <a:t>These values make clear that the improvement is uneven. AMI and ILMI improve on PTB, whereas ASMI declines. External performance is especially weak for AMI, ALMI and ILMI, and ALMI has only five external test patients.</a:t>
            </a:r>
          </a:p>
          <a:p>
            <a:pPr/>
          </a:p>
          <a:p>
            <a:pPr/>
            <a:r>
              <a:t>TRANSITION</a:t>
            </a:r>
          </a:p>
          <a:p>
            <a:pPr/>
            <a:r>
              <a:t>Use this slide only if asked about specific MI locations.</a:t>
            </a:r>
          </a:p>
          <a:p>
            <a:pPr/>
          </a:p>
          <a:p>
            <a:pPr/>
            <a:r>
              <a:t>EVIDENCE</a:t>
            </a:r>
          </a:p>
          <a:p>
            <a:pPr/>
            <a:r>
              <a:t>ABLATION_RESULTS.md; saved classification reports for Tucker, wavelet statistics and PTB-XL</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5" name="Shape 315"/>
          <p:cNvSpPr/>
          <p:nvPr>
            <p:ph type="sldImg"/>
          </p:nvPr>
        </p:nvSpPr>
        <p:spPr>
          <a:prstGeom prst="rect">
            <a:avLst/>
          </a:prstGeom>
        </p:spPr>
        <p:txBody>
          <a:bodyPr/>
          <a:lstStyle/>
          <a:p>
            <a:pPr/>
          </a:p>
        </p:txBody>
      </p:sp>
      <p:sp>
        <p:nvSpPr>
          <p:cNvPr id="316" name="Shape 316"/>
          <p:cNvSpPr/>
          <p:nvPr>
            <p:ph type="body" sz="quarter" idx="1"/>
          </p:nvPr>
        </p:nvSpPr>
        <p:spPr>
          <a:prstGeom prst="rect">
            <a:avLst/>
          </a:prstGeom>
        </p:spPr>
        <p:txBody>
          <a:bodyPr/>
          <a:lstStyle/>
          <a:p>
            <a:pPr/>
            <a:r>
              <a:t>BACKUP SLIDE</a:t>
            </a:r>
          </a:p>
          <a:p>
            <a:pPr/>
          </a:p>
          <a:p>
            <a:pPr/>
            <a:r>
              <a:t>SAY</a:t>
            </a:r>
          </a:p>
          <a:p>
            <a:pPr/>
            <a:r>
              <a:t>This full table contains all twelve representations. These scores use one fixed classifier and are exploratory. They should not be mixed with the nested model-selection estimates.</a:t>
            </a:r>
          </a:p>
          <a:p>
            <a:pPr/>
          </a:p>
          <a:p>
            <a:pPr/>
            <a:r>
              <a:t>TRANSITION</a:t>
            </a:r>
          </a:p>
          <a:p>
            <a:pPr/>
            <a:r>
              <a:t>Use this table to answer questions about alternative features and ranks.</a:t>
            </a:r>
          </a:p>
          <a:p>
            <a:pPr/>
          </a:p>
          <a:p>
            <a:pPr/>
            <a:r>
              <a:t>EVIDENCE</a:t>
            </a:r>
          </a:p>
          <a:p>
            <a:pPr/>
            <a:r>
              <a:t>results/ablation/comparison.csv; ABLATION_RESULTS.md</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2" name="Shape 322"/>
          <p:cNvSpPr/>
          <p:nvPr>
            <p:ph type="sldImg"/>
          </p:nvPr>
        </p:nvSpPr>
        <p:spPr>
          <a:prstGeom prst="rect">
            <a:avLst/>
          </a:prstGeom>
        </p:spPr>
        <p:txBody>
          <a:bodyPr/>
          <a:lstStyle/>
          <a:p>
            <a:pPr/>
          </a:p>
        </p:txBody>
      </p:sp>
      <p:sp>
        <p:nvSpPr>
          <p:cNvPr id="323" name="Shape 323"/>
          <p:cNvSpPr/>
          <p:nvPr>
            <p:ph type="body" sz="quarter" idx="1"/>
          </p:nvPr>
        </p:nvSpPr>
        <p:spPr>
          <a:prstGeom prst="rect">
            <a:avLst/>
          </a:prstGeom>
        </p:spPr>
        <p:txBody>
          <a:bodyPr/>
          <a:lstStyle/>
          <a:p>
            <a:pPr/>
            <a:r>
              <a:t>BACKUP SLIDE</a:t>
            </a:r>
          </a:p>
          <a:p>
            <a:pPr/>
          </a:p>
          <a:p>
            <a:pPr/>
            <a:r>
              <a:t>SAY</a:t>
            </a:r>
          </a:p>
          <a:p>
            <a:pPr/>
            <a:r>
              <a:t>The paper omits several implementation choices. We made them deterministic and recorded them in configuration. In particular the detector threshold of 0.06 is calibrated to published beat counts. Matching the total does not recover the unpublished annotations. SVD sign fixing and column-major flattening help portable results. Some wavelet details depend heavily on boundary extension because nine levels is long for a 651-sample beat.</a:t>
            </a:r>
          </a:p>
          <a:p>
            <a:pPr/>
          </a:p>
          <a:p>
            <a:pPr/>
            <a:r>
              <a:t>TRANSITION</a:t>
            </a:r>
          </a:p>
          <a:p>
            <a:pPr/>
            <a:r>
              <a:t>Use this slide for questions about exact reproducibility.</a:t>
            </a:r>
          </a:p>
          <a:p>
            <a:pPr/>
          </a:p>
          <a:p>
            <a:pPr/>
            <a:r>
              <a:t>EVIDENCE</a:t>
            </a:r>
          </a:p>
          <a:p>
            <a:pPr/>
            <a:r>
              <a:t>README.md Reproduction boundaries; configs/paper.yaml; src/mi_localization/features.py</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12" name="Presentation Title"/>
          <p:cNvSpPr txBox="1"/>
          <p:nvPr>
            <p:ph type="title" hasCustomPrompt="1"/>
          </p:nvPr>
        </p:nvSpPr>
        <p:spPr>
          <a:xfrm>
            <a:off x="1206496" y="2574991"/>
            <a:ext cx="21971004" cy="4648201"/>
          </a:xfrm>
          <a:prstGeom prst="rect">
            <a:avLst/>
          </a:prstGeom>
        </p:spPr>
        <p:txBody>
          <a:bodyPr anchor="b"/>
          <a:lstStyle>
            <a:lvl1pPr>
              <a:defRPr spc="-232" sz="11600"/>
            </a:lvl1pPr>
          </a:lstStyle>
          <a:p>
            <a:pPr/>
            <a:r>
              <a:t>Presentation Title</a:t>
            </a:r>
          </a:p>
        </p:txBody>
      </p:sp>
      <p:sp>
        <p:nvSpPr>
          <p:cNvPr id="13" name="Body Level One…"/>
          <p:cNvSpPr txBox="1"/>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Avocados and limes"/>
          <p:cNvSpPr/>
          <p:nvPr>
            <p:ph type="pic" idx="21"/>
          </p:nvPr>
        </p:nvSpPr>
        <p:spPr>
          <a:xfrm>
            <a:off x="-1155700" y="-1295400"/>
            <a:ext cx="26746200" cy="16018933"/>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defRPr spc="-232" sz="11600"/>
            </a:lvl1pPr>
          </a:lstStyle>
          <a:p>
            <a:pPr/>
            <a:r>
              <a:t>Presentation Title</a:t>
            </a:r>
          </a:p>
        </p:txBody>
      </p:sp>
      <p:sp>
        <p:nvSpPr>
          <p:cNvPr id="23" name="Author and Date"/>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24" name="Body Level One…"/>
          <p:cNvSpPr txBox="1"/>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Bowl with salmon cakes, salad and houmous"/>
          <p:cNvSpPr/>
          <p:nvPr>
            <p:ph type="pic" idx="21"/>
          </p:nvPr>
        </p:nvSpPr>
        <p:spPr>
          <a:xfrm>
            <a:off x="10972800" y="-203200"/>
            <a:ext cx="12144837" cy="14135100"/>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270000"/>
            <a:ext cx="9779000" cy="5882273"/>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1098550"/>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61"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62" name="Bowl of pappardelle pasta with parsley butter, roasted hazelnuts and shaved parmesan cheese"/>
          <p:cNvSpPr/>
          <p:nvPr>
            <p:ph type="pic" idx="22"/>
          </p:nvPr>
        </p:nvSpPr>
        <p:spPr>
          <a:xfrm>
            <a:off x="12192000" y="-407266"/>
            <a:ext cx="10916874" cy="14555832"/>
          </a:xfrm>
          <a:prstGeom prst="rect">
            <a:avLst/>
          </a:prstGeom>
        </p:spPr>
        <p:txBody>
          <a:bodyPr lIns="91439" tIns="45719" rIns="91439" bIns="45719">
            <a:noAutofit/>
          </a:bodyPr>
          <a:lstStyle/>
          <a:p>
            <a:pPr/>
          </a:p>
        </p:txBody>
      </p:sp>
      <p:sp>
        <p:nvSpPr>
          <p:cNvPr id="6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1"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72"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7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1"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82"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8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91" name="Section Title"/>
          <p:cNvSpPr txBox="1"/>
          <p:nvPr>
            <p:ph type="title" hasCustomPrompt="1"/>
          </p:nvPr>
        </p:nvSpPr>
        <p:spPr>
          <a:xfrm>
            <a:off x="1206496" y="4533900"/>
            <a:ext cx="21971004" cy="4648200"/>
          </a:xfrm>
          <a:prstGeom prst="rect">
            <a:avLst/>
          </a:prstGeom>
        </p:spPr>
        <p:txBody>
          <a:bodyPr anchor="ctr"/>
          <a:lstStyle>
            <a:lvl1pPr>
              <a:defRPr b="0" spc="-232" sz="11600">
                <a:latin typeface="Helvetica Neue Medium"/>
                <a:ea typeface="Helvetica Neue Medium"/>
                <a:cs typeface="Helvetica Neue Medium"/>
                <a:sym typeface="Helvetica Neue Medium"/>
              </a:defRPr>
            </a:lvl1pPr>
          </a:lstStyle>
          <a:p>
            <a:pPr/>
            <a:r>
              <a:t>Section Title</a:t>
            </a:r>
          </a:p>
        </p:txBody>
      </p:sp>
      <p:sp>
        <p:nvSpPr>
          <p:cNvPr id="92"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99" name="Slide Title"/>
          <p:cNvSpPr txBox="1"/>
          <p:nvPr>
            <p:ph type="title" hasCustomPrompt="1"/>
          </p:nvPr>
        </p:nvSpPr>
        <p:spPr>
          <a:xfrm>
            <a:off x="1206500" y="1079500"/>
            <a:ext cx="21971000" cy="1434949"/>
          </a:xfrm>
          <a:prstGeom prst="rect">
            <a:avLst/>
          </a:prstGeom>
        </p:spPr>
        <p:txBody>
          <a:bodyPr/>
          <a:lstStyle/>
          <a:p>
            <a:pPr/>
            <a:r>
              <a:t>Slide Title</a:t>
            </a:r>
          </a:p>
        </p:txBody>
      </p:sp>
      <p:sp>
        <p:nvSpPr>
          <p:cNvPr id="100"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10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108" name="Agenda Title"/>
          <p:cNvSpPr txBox="1"/>
          <p:nvPr>
            <p:ph type="title" hasCustomPrompt="1"/>
          </p:nvPr>
        </p:nvSpPr>
        <p:spPr>
          <a:xfrm>
            <a:off x="1206500" y="1079500"/>
            <a:ext cx="21971000" cy="1435100"/>
          </a:xfrm>
          <a:prstGeom prst="rect">
            <a:avLst/>
          </a:prstGeom>
        </p:spPr>
        <p:txBody>
          <a:bodyPr/>
          <a:lstStyle/>
          <a:p>
            <a:pPr/>
            <a:r>
              <a:t>Agenda Title</a:t>
            </a:r>
          </a:p>
        </p:txBody>
      </p:sp>
      <p:sp>
        <p:nvSpPr>
          <p:cNvPr id="109" name="Agenda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Agenda Subtitle</a:t>
            </a:r>
          </a:p>
        </p:txBody>
      </p:sp>
      <p:sp>
        <p:nvSpPr>
          <p:cNvPr id="110" name="Body Level One…"/>
          <p:cNvSpPr txBox="1"/>
          <p:nvPr>
            <p:ph type="body" idx="1" hasCustomPrompt="1"/>
          </p:nvPr>
        </p:nvSpPr>
        <p:spPr>
          <a:prstGeom prst="rect">
            <a:avLst/>
          </a:prstGeom>
        </p:spPr>
        <p:txBody>
          <a:bodyPr/>
          <a:lstStyle>
            <a:lvl1pPr marL="0" indent="0" defTabSz="825500">
              <a:lnSpc>
                <a:spcPct val="100000"/>
              </a:lnSpc>
              <a:spcBef>
                <a:spcPts val="1800"/>
              </a:spcBef>
              <a:buSzTx/>
              <a:buNone/>
              <a:defRPr spc="-55" sz="5500"/>
            </a:lvl1pPr>
            <a:lvl2pPr marL="0" indent="457200" defTabSz="825500">
              <a:lnSpc>
                <a:spcPct val="100000"/>
              </a:lnSpc>
              <a:spcBef>
                <a:spcPts val="1800"/>
              </a:spcBef>
              <a:buSzTx/>
              <a:buNone/>
              <a:defRPr spc="-55" sz="5500"/>
            </a:lvl2pPr>
            <a:lvl3pPr marL="0" indent="914400" defTabSz="825500">
              <a:lnSpc>
                <a:spcPct val="100000"/>
              </a:lnSpc>
              <a:spcBef>
                <a:spcPts val="1800"/>
              </a:spcBef>
              <a:buSzTx/>
              <a:buNone/>
              <a:defRPr spc="-55" sz="5500"/>
            </a:lvl3pPr>
            <a:lvl4pPr marL="0" indent="1371600" defTabSz="825500">
              <a:lnSpc>
                <a:spcPct val="100000"/>
              </a:lnSpc>
              <a:spcBef>
                <a:spcPts val="1800"/>
              </a:spcBef>
              <a:buSzTx/>
              <a:buNone/>
              <a:defRPr spc="-55" sz="5500"/>
            </a:lvl4pPr>
            <a:lvl5pPr marL="0" indent="1828800" defTabSz="825500">
              <a:lnSpc>
                <a:spcPct val="100000"/>
              </a:lnSpc>
              <a:spcBef>
                <a:spcPts val="1800"/>
              </a:spcBef>
              <a:buSzTx/>
              <a:buNone/>
              <a:defRPr spc="-55" sz="5500"/>
            </a:lvl5pPr>
          </a:lstStyle>
          <a:p>
            <a:pPr/>
            <a:r>
              <a:t>Agenda Topics</a:t>
            </a:r>
          </a:p>
          <a:p>
            <a:pPr lvl="1"/>
            <a:r>
              <a:t/>
            </a:r>
          </a:p>
          <a:p>
            <a:pPr lvl="2"/>
            <a:r>
              <a:t/>
            </a:r>
          </a:p>
          <a:p>
            <a:pPr lvl="3"/>
            <a:r>
              <a:t/>
            </a:r>
          </a:p>
          <a:p>
            <a:pPr lvl="4"/>
            <a:r>
              <a:t/>
            </a:r>
          </a:p>
        </p:txBody>
      </p:sp>
      <p:sp>
        <p:nvSpPr>
          <p:cNvPr id="1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118" name="Body Level One…"/>
          <p:cNvSpPr txBox="1"/>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pc="-232" sz="11600">
                <a:latin typeface="Helvetica Neue Medium"/>
                <a:ea typeface="Helvetica Neue Medium"/>
                <a:cs typeface="Helvetica Neue Medium"/>
                <a:sym typeface="Helvetica Neue Medium"/>
              </a:defRPr>
            </a:lvl1pPr>
            <a:lvl2pPr marL="0" indent="457200" algn="ctr">
              <a:lnSpc>
                <a:spcPct val="80000"/>
              </a:lnSpc>
              <a:spcBef>
                <a:spcPts val="0"/>
              </a:spcBef>
              <a:buSzTx/>
              <a:buNone/>
              <a:defRPr spc="-232" sz="11600">
                <a:latin typeface="Helvetica Neue Medium"/>
                <a:ea typeface="Helvetica Neue Medium"/>
                <a:cs typeface="Helvetica Neue Medium"/>
                <a:sym typeface="Helvetica Neue Medium"/>
              </a:defRPr>
            </a:lvl2pPr>
            <a:lvl3pPr marL="0" indent="914400" algn="ctr">
              <a:lnSpc>
                <a:spcPct val="80000"/>
              </a:lnSpc>
              <a:spcBef>
                <a:spcPts val="0"/>
              </a:spcBef>
              <a:buSzTx/>
              <a:buNone/>
              <a:defRPr spc="-232" sz="11600">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pc="-232" sz="11600">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pc="-232" sz="11600">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1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26" name="Body Level One…"/>
          <p:cNvSpPr txBox="1"/>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b="1" spc="-250" sz="25000"/>
            </a:lvl1pPr>
            <a:lvl2pPr marL="0" indent="457200" algn="ctr">
              <a:lnSpc>
                <a:spcPct val="80000"/>
              </a:lnSpc>
              <a:spcBef>
                <a:spcPts val="0"/>
              </a:spcBef>
              <a:buSzTx/>
              <a:buNone/>
              <a:defRPr b="1" spc="-250" sz="25000"/>
            </a:lvl2pPr>
            <a:lvl3pPr marL="0" indent="914400" algn="ctr">
              <a:lnSpc>
                <a:spcPct val="80000"/>
              </a:lnSpc>
              <a:spcBef>
                <a:spcPts val="0"/>
              </a:spcBef>
              <a:buSzTx/>
              <a:buNone/>
              <a:defRPr b="1" spc="-250" sz="25000"/>
            </a:lvl3pPr>
            <a:lvl4pPr marL="0" indent="1371600" algn="ctr">
              <a:lnSpc>
                <a:spcPct val="80000"/>
              </a:lnSpc>
              <a:spcBef>
                <a:spcPts val="0"/>
              </a:spcBef>
              <a:buSzTx/>
              <a:buNone/>
              <a:defRPr b="1" spc="-250" sz="25000"/>
            </a:lvl4pPr>
            <a:lvl5pPr marL="0" indent="1828800" algn="ctr">
              <a:lnSpc>
                <a:spcPct val="80000"/>
              </a:lnSpc>
              <a:spcBef>
                <a:spcPts val="0"/>
              </a:spcBef>
              <a:buSzTx/>
              <a:buNone/>
              <a:defRPr b="1" spc="-250" sz="25000"/>
            </a:lvl5pPr>
          </a:lstStyle>
          <a:p>
            <a:pPr/>
            <a:r>
              <a:t>100%</a:t>
            </a:r>
          </a:p>
          <a:p>
            <a:pPr lvl="1"/>
            <a:r>
              <a:t/>
            </a:r>
          </a:p>
          <a:p>
            <a:pPr lvl="2"/>
            <a:r>
              <a:t/>
            </a:r>
          </a:p>
          <a:p>
            <a:pPr lvl="3"/>
            <a:r>
              <a:t/>
            </a:r>
          </a:p>
          <a:p>
            <a:pPr lvl="4"/>
            <a:r>
              <a:t/>
            </a:r>
          </a:p>
        </p:txBody>
      </p:sp>
      <p:sp>
        <p:nvSpPr>
          <p:cNvPr id="127" name="Fact information"/>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b="1" sz="5500"/>
            </a:lvl1pPr>
          </a:lstStyle>
          <a:p>
            <a:pPr/>
            <a:r>
              <a:t>Fact information</a:t>
            </a:r>
          </a:p>
        </p:txBody>
      </p:sp>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35" name="Attribution"/>
          <p:cNvSpPr txBox="1"/>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Attribution</a:t>
            </a:r>
          </a:p>
        </p:txBody>
      </p:sp>
      <p:sp>
        <p:nvSpPr>
          <p:cNvPr id="136" name="Body Level One…"/>
          <p:cNvSpPr txBox="1"/>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pc="-170" sz="8500">
                <a:latin typeface="Helvetica Neue Medium"/>
                <a:ea typeface="Helvetica Neue Medium"/>
                <a:cs typeface="Helvetica Neue Medium"/>
                <a:sym typeface="Helvetica Neue Medium"/>
              </a:defRPr>
            </a:lvl1pPr>
            <a:lvl2pPr marL="638923" indent="-12700">
              <a:spcBef>
                <a:spcPts val="0"/>
              </a:spcBef>
              <a:buSzTx/>
              <a:buNone/>
              <a:defRPr spc="-170" sz="8500">
                <a:latin typeface="Helvetica Neue Medium"/>
                <a:ea typeface="Helvetica Neue Medium"/>
                <a:cs typeface="Helvetica Neue Medium"/>
                <a:sym typeface="Helvetica Neue Medium"/>
              </a:defRPr>
            </a:lvl2pPr>
            <a:lvl3pPr marL="638923" indent="444500">
              <a:spcBef>
                <a:spcPts val="0"/>
              </a:spcBef>
              <a:buSzTx/>
              <a:buNone/>
              <a:defRPr spc="-170" sz="8500">
                <a:latin typeface="Helvetica Neue Medium"/>
                <a:ea typeface="Helvetica Neue Medium"/>
                <a:cs typeface="Helvetica Neue Medium"/>
                <a:sym typeface="Helvetica Neue Medium"/>
              </a:defRPr>
            </a:lvl3pPr>
            <a:lvl4pPr marL="638923" indent="901700">
              <a:spcBef>
                <a:spcPts val="0"/>
              </a:spcBef>
              <a:buSzTx/>
              <a:buNone/>
              <a:defRPr spc="-170" sz="8500">
                <a:latin typeface="Helvetica Neue Medium"/>
                <a:ea typeface="Helvetica Neue Medium"/>
                <a:cs typeface="Helvetica Neue Medium"/>
                <a:sym typeface="Helvetica Neue Medium"/>
              </a:defRPr>
            </a:lvl4pPr>
            <a:lvl5pPr marL="638923" indent="1358900">
              <a:spcBef>
                <a:spcPts val="0"/>
              </a:spcBef>
              <a:buSzTx/>
              <a:buNone/>
              <a:defRPr spc="-170" sz="8500">
                <a:latin typeface="Helvetica Neue Medium"/>
                <a:ea typeface="Helvetica Neue Medium"/>
                <a:cs typeface="Helvetica Neue Medium"/>
                <a:sym typeface="Helvetica Neue Medium"/>
              </a:defRPr>
            </a:lvl5pPr>
          </a:lstStyle>
          <a:p>
            <a:pPr/>
            <a:r>
              <a:t>“Notable Quote”</a:t>
            </a:r>
          </a:p>
          <a:p>
            <a:pPr lvl="1"/>
            <a:r>
              <a:t/>
            </a:r>
          </a:p>
          <a:p>
            <a:pPr lvl="2"/>
            <a:r>
              <a:t/>
            </a:r>
          </a:p>
          <a:p>
            <a:pPr lvl="3"/>
            <a:r>
              <a:t/>
            </a:r>
          </a:p>
          <a:p>
            <a:pPr lvl="4"/>
            <a:r>
              <a:t/>
            </a:r>
          </a:p>
        </p:txBody>
      </p:sp>
      <p:sp>
        <p:nvSpPr>
          <p:cNvPr id="1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44" name="Bowl of salad with fried rice, boiled eggs and chopsticks"/>
          <p:cNvSpPr/>
          <p:nvPr>
            <p:ph type="pic" sz="quarter" idx="21"/>
          </p:nvPr>
        </p:nvSpPr>
        <p:spPr>
          <a:xfrm>
            <a:off x="15760700" y="1016000"/>
            <a:ext cx="7439099" cy="5949678"/>
          </a:xfrm>
          <a:prstGeom prst="rect">
            <a:avLst/>
          </a:prstGeom>
        </p:spPr>
        <p:txBody>
          <a:bodyPr lIns="91439" tIns="45719" rIns="91439" bIns="45719">
            <a:noAutofit/>
          </a:bodyPr>
          <a:lstStyle/>
          <a:p>
            <a:pPr/>
          </a:p>
        </p:txBody>
      </p:sp>
      <p:sp>
        <p:nvSpPr>
          <p:cNvPr id="145" name="Bowl with salmon cakes, salad and houmous "/>
          <p:cNvSpPr/>
          <p:nvPr>
            <p:ph type="pic" sz="half" idx="22"/>
          </p:nvPr>
        </p:nvSpPr>
        <p:spPr>
          <a:xfrm>
            <a:off x="13500100" y="3978275"/>
            <a:ext cx="10439400" cy="12150181"/>
          </a:xfrm>
          <a:prstGeom prst="rect">
            <a:avLst/>
          </a:prstGeom>
        </p:spPr>
        <p:txBody>
          <a:bodyPr lIns="91439" tIns="45719" rIns="91439" bIns="45719">
            <a:noAutofit/>
          </a:bodyPr>
          <a:lstStyle/>
          <a:p>
            <a:pPr/>
          </a:p>
        </p:txBody>
      </p:sp>
      <p:sp>
        <p:nvSpPr>
          <p:cNvPr id="146" name="Bowl of pappardelle pasta with parsley butter, roasted hazelnuts and shaved parmesan cheese"/>
          <p:cNvSpPr/>
          <p:nvPr>
            <p:ph type="pic" idx="23"/>
          </p:nvPr>
        </p:nvSpPr>
        <p:spPr>
          <a:xfrm>
            <a:off x="-139700" y="495300"/>
            <a:ext cx="16611600" cy="12458700"/>
          </a:xfrm>
          <a:prstGeom prst="rect">
            <a:avLst/>
          </a:prstGeom>
        </p:spPr>
        <p:txBody>
          <a:bodyPr lIns="91439" tIns="45719" rIns="91439" bIns="45719">
            <a:noAutofit/>
          </a:bodyPr>
          <a:lstStyle/>
          <a:p>
            <a:pPr/>
          </a:p>
        </p:txBody>
      </p:sp>
      <p:sp>
        <p:nvSpPr>
          <p:cNvPr id="14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54" name="bowl of salad with fried rice, boiled eggs and chopsticks"/>
          <p:cNvSpPr/>
          <p:nvPr>
            <p:ph type="pic" idx="21"/>
          </p:nvPr>
        </p:nvSpPr>
        <p:spPr>
          <a:xfrm>
            <a:off x="-1333500" y="-5524500"/>
            <a:ext cx="27051000" cy="21640800"/>
          </a:xfrm>
          <a:prstGeom prst="rect">
            <a:avLst/>
          </a:prstGeom>
        </p:spPr>
        <p:txBody>
          <a:bodyPr lIns="91439" tIns="45719" rIns="91439" bIns="45719">
            <a:noAutofit/>
          </a:bodyPr>
          <a:lstStyle/>
          <a:p>
            <a:pPr/>
          </a:p>
        </p:txBody>
      </p:sp>
      <p:sp>
        <p:nvSpPr>
          <p:cNvPr id="15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6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8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transition xmlns:p14="http://schemas.microsoft.com/office/powerpoint/2010/main" spd="med" advClick="1"/>
  <p:txStyles>
    <p:titleStyle>
      <a:lvl1pPr marL="0" marR="0" indent="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 Id="rId3" Type="http://schemas.openxmlformats.org/officeDocument/2006/relationships/chart" Target="../charts/chart2.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xml"/><Relationship Id="rId3" Type="http://schemas.openxmlformats.org/officeDocument/2006/relationships/chart" Target="../charts/chart3.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xml"/><Relationship Id="rId3" Type="http://schemas.openxmlformats.org/officeDocument/2006/relationships/chart" Target="../charts/chart4.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xml"/></Relationships>

</file>

<file path=ppt/slides/slide1.xml><?xml version="1.0" encoding="utf-8"?>
<p:sld xmlns:a="http://schemas.openxmlformats.org/drawingml/2006/main" xmlns:ns2="http://schemas.microsoft.com/office/mac/drawingml/2011/main" xmlns:p="http://schemas.openxmlformats.org/presentationml/2006/main" showMasterSp="1" showMasterPhAnim="1">
  <p:cSld>
    <p:bg>
      <p:bgPr>
        <a:solidFill>
          <a:srgbClr val="17324D"/>
        </a:solidFill>
        <a:effectLst/>
      </p:bgPr>
    </p:bg>
    <p:spTree>
      <p:nvGrpSpPr>
        <p:cNvPr id="1" name=""/>
        <p:cNvGrpSpPr/>
        <p:nvPr/>
      </p:nvGrpSpPr>
      <p:grpSpPr>
        <a:xfrm>
          <a:off x="0" y="0"/>
          <a:ext cx="0" cy="0"/>
          <a:chOff x="0" y="0"/>
          <a:chExt cx="0" cy="0"/>
        </a:xfrm>
      </p:grpSpPr>
      <p:sp>
        <p:nvSpPr>
          <p:cNvPr id="171" name="Implementation…"/>
          <p:cNvSpPr txBox="1"/>
          <p:nvPr/>
        </p:nvSpPr>
        <p:spPr>
          <a:xfrm>
            <a:off x="1524000" y="3178810"/>
            <a:ext cx="21082000" cy="4437381"/>
          </a:xfrm>
          <a:prstGeom prst="rect">
            <a:avLst/>
          </a:prstGeom>
          <a:ln w="12700">
            <a:miter lim="400000"/>
          </a:ln>
          <a:extLst>
            <a:ext uri="{C572A759-6A51-4108-AA02-DFA0A04FC94B}">
              <ns2:wrappingTextBoxFlag val="1"/>
            </a:ext>
          </a:extLst>
        </p:spPr>
        <p:txBody>
          <a:bodyPr lIns="50800" tIns="50800" rIns="50800" bIns="50800" anchor="ctr">
            <a:spAutoFit/>
          </a:bodyPr>
          <a:lstStyle/>
          <a:p>
            <a:pPr>
              <a:defRPr sz="11400">
                <a:solidFill>
                  <a:srgbClr val="FFFFFF"/>
                </a:solidFill>
                <a:latin typeface="Avenir Next Demi Bold"/>
                <a:ea typeface="Avenir Next Demi Bold"/>
                <a:cs typeface="Avenir Next Demi Bold"/>
                <a:sym typeface="Avenir Next Demi Bold"/>
              </a:defRPr>
            </a:pPr>
            <a:r>
              <a:t>Implementation</a:t>
            </a:r>
          </a:p>
          <a:p>
            <a:pPr>
              <a:defRPr sz="11400">
                <a:solidFill>
                  <a:srgbClr val="FFFFFF"/>
                </a:solidFill>
                <a:latin typeface="Avenir Next Demi Bold"/>
                <a:ea typeface="Avenir Next Demi Bold"/>
                <a:cs typeface="Avenir Next Demi Bold"/>
                <a:sym typeface="Avenir Next Demi Bold"/>
              </a:defRPr>
            </a:pPr>
            <a:r>
              <a:t>and results</a:t>
            </a:r>
          </a:p>
        </p:txBody>
      </p:sp>
      <p:sp>
        <p:nvSpPr>
          <p:cNvPr id="172" name="Patient-independent MI localization"/>
          <p:cNvSpPr txBox="1"/>
          <p:nvPr/>
        </p:nvSpPr>
        <p:spPr>
          <a:xfrm>
            <a:off x="1587500" y="8102599"/>
            <a:ext cx="20320001" cy="9398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a:solidFill>
                  <a:srgbClr val="FFFFFF"/>
                </a:solidFill>
                <a:latin typeface="Avenir Next Regular"/>
                <a:ea typeface="Avenir Next Regular"/>
                <a:cs typeface="Avenir Next Regular"/>
                <a:sym typeface="Avenir Next Regular"/>
              </a:defRPr>
            </a:lvl1pPr>
          </a:lstStyle>
          <a:p>
            <a:pPr/>
            <a:r>
              <a:t>Patient-independent MI localization</a:t>
            </a:r>
          </a:p>
        </p:txBody>
      </p:sp>
      <p:sp>
        <p:nvSpPr>
          <p:cNvPr id="173" name="Presented by Aryan Kumar…"/>
          <p:cNvSpPr txBox="1"/>
          <p:nvPr/>
        </p:nvSpPr>
        <p:spPr>
          <a:xfrm>
            <a:off x="1587500" y="10772775"/>
            <a:ext cx="17780000" cy="1758951"/>
          </a:xfrm>
          <a:prstGeom prst="rect">
            <a:avLst/>
          </a:prstGeom>
          <a:ln w="12700">
            <a:miter lim="400000"/>
          </a:ln>
          <a:extLst>
            <a:ext uri="{C572A759-6A51-4108-AA02-DFA0A04FC94B}">
              <ns2:wrappingTextBoxFlag val="1"/>
            </a:ext>
          </a:extLst>
        </p:spPr>
        <p:txBody>
          <a:bodyPr lIns="50800" tIns="50800" rIns="50800" bIns="50800" anchor="ctr">
            <a:spAutoFit/>
          </a:bodyPr>
          <a:lstStyle/>
          <a:p>
            <a:pPr>
              <a:defRPr sz="3300">
                <a:solidFill>
                  <a:srgbClr val="D8E4ED"/>
                </a:solidFill>
                <a:latin typeface="Avenir Next Regular"/>
                <a:ea typeface="Avenir Next Regular"/>
                <a:cs typeface="Avenir Next Regular"/>
                <a:sym typeface="Avenir Next Regular"/>
              </a:defRPr>
            </a:pPr>
            <a:r>
              <a:t>Presented by Aryan Kumar</a:t>
            </a:r>
          </a:p>
          <a:p>
            <a:pPr>
              <a:defRPr sz="3300">
                <a:solidFill>
                  <a:srgbClr val="D8E4ED"/>
                </a:solidFill>
                <a:latin typeface="Avenir Next Regular"/>
                <a:ea typeface="Avenir Next Regular"/>
                <a:cs typeface="Avenir Next Regular"/>
                <a:sym typeface="Avenir Next Regular"/>
              </a:defRPr>
            </a:pPr>
            <a:r>
              <a:t>Major project with Kunal Maka, NIT Goa</a:t>
            </a:r>
          </a:p>
        </p:txBody>
      </p:sp>
    </p:spTree>
  </p:cSld>
  <p:clrMapOvr>
    <a:masterClrMapping/>
  </p:clrMapOvr>
  <p:transition spd="med" advClick="1"/>
</p:sld>
</file>

<file path=ppt/slides/slide2.xml><?xml version="1.0" encoding="utf-8"?>
<p:sld xmlns:a="http://schemas.openxmlformats.org/drawingml/2006/main" xmlns:ns2="http://schemas.microsoft.com/office/mac/drawingml/2011/main" xmlns:p="http://schemas.openxmlformats.org/presentationml/2006/main" showMasterSp="1" showMasterPhAnim="1">
  <p:cSld>
    <p:spTree>
      <p:nvGrpSpPr>
        <p:cNvPr id="1" name=""/>
        <p:cNvGrpSpPr/>
        <p:nvPr/>
      </p:nvGrpSpPr>
      <p:grpSpPr>
        <a:xfrm>
          <a:off x="0" y="0"/>
          <a:ext cx="0" cy="0"/>
          <a:chOff x="0" y="0"/>
          <a:chExt cx="0" cy="0"/>
        </a:xfrm>
      </p:grpSpPr>
      <p:sp>
        <p:nvSpPr>
          <p:cNvPr id="177" name="The system we implemented"/>
          <p:cNvSpPr txBox="1"/>
          <p:nvPr/>
        </p:nvSpPr>
        <p:spPr>
          <a:xfrm>
            <a:off x="1270000" y="1060449"/>
            <a:ext cx="21844000" cy="12446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6600">
                <a:solidFill>
                  <a:srgbClr val="1D4260"/>
                </a:solidFill>
                <a:latin typeface="Avenir Next Demi Bold"/>
                <a:ea typeface="Avenir Next Demi Bold"/>
                <a:cs typeface="Avenir Next Demi Bold"/>
                <a:sym typeface="Avenir Next Demi Bold"/>
              </a:defRPr>
            </a:lvl1pPr>
          </a:lstStyle>
          <a:p>
            <a:pPr/>
            <a:r>
              <a:t>The system we implemented</a:t>
            </a:r>
          </a:p>
        </p:txBody>
      </p:sp>
      <p:sp>
        <p:nvSpPr>
          <p:cNvPr id="178" name="02"/>
          <p:cNvSpPr txBox="1"/>
          <p:nvPr/>
        </p:nvSpPr>
        <p:spPr>
          <a:xfrm>
            <a:off x="20827999" y="12738099"/>
            <a:ext cx="2286001" cy="4953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2300">
                <a:solidFill>
                  <a:srgbClr val="657B8B"/>
                </a:solidFill>
                <a:latin typeface="Avenir Next Regular"/>
                <a:ea typeface="Avenir Next Regular"/>
                <a:cs typeface="Avenir Next Regular"/>
                <a:sym typeface="Avenir Next Regular"/>
              </a:defRPr>
            </a:lvl1pPr>
          </a:lstStyle>
          <a:p>
            <a:pPr/>
            <a:r>
              <a:t>02</a:t>
            </a:r>
          </a:p>
        </p:txBody>
      </p:sp>
      <p:graphicFrame>
        <p:nvGraphicFramePr>
          <p:cNvPr id="179" name="Table 1"/>
          <p:cNvGraphicFramePr/>
          <p:nvPr/>
        </p:nvGraphicFramePr>
        <p:xfrm>
          <a:off x="1270000" y="3048000"/>
          <a:ext cx="10922000" cy="11176000"/>
        </p:xfrm>
        <a:graphic>
          <a:graphicData uri="http://schemas.openxmlformats.org/drawingml/2006/table">
            <a:tbl>
              <a:tblPr firstCol="0" firstRow="1" lastCol="0" lastRow="0" bandCol="0" bandRow="0" rtl="0">
                <a:tableStyleId>{4C3C2611-4C71-4FC5-86AE-919BDF0F9419}</a:tableStyleId>
              </a:tblPr>
              <a:tblGrid>
                <a:gridCol w="7874000"/>
                <a:gridCol w="13970000"/>
              </a:tblGrid>
              <a:tr h="1460500">
                <a:tc>
                  <a:txBody>
                    <a:bodyPr/>
                    <a:lstStyle/>
                    <a:p>
                      <a:pPr defTabSz="914400">
                        <a:tabLst>
                          <a:tab pos="1663700" algn="l"/>
                        </a:tabLst>
                        <a:defRPr b="0"/>
                      </a:pPr>
                      <a:r>
                        <a:rPr sz="3800">
                          <a:solidFill>
                            <a:srgbClr val="FFFFFF"/>
                          </a:solidFill>
                          <a:latin typeface="Avenir Next Regular"/>
                          <a:ea typeface="Avenir Next Regular"/>
                          <a:cs typeface="Avenir Next Regular"/>
                          <a:sym typeface="Avenir Next Regular"/>
                        </a:rPr>
                        <a:t>Implemented stage</a:t>
                      </a:r>
                    </a:p>
                  </a:txBody>
                  <a:tcPr marL="50800" marR="50800" marT="50800" marB="50800" anchor="ctr" anchorCtr="0" horzOverflow="overflow">
                    <a:solidFill>
                      <a:srgbClr val="1D4260"/>
                    </a:solidFill>
                  </a:tcPr>
                </a:tc>
                <a:tc>
                  <a:txBody>
                    <a:bodyPr/>
                    <a:lstStyle/>
                    <a:p>
                      <a:pPr defTabSz="914400">
                        <a:tabLst>
                          <a:tab pos="1663700" algn="l"/>
                        </a:tabLst>
                        <a:defRPr b="0"/>
                      </a:pPr>
                      <a:r>
                        <a:rPr sz="3800">
                          <a:solidFill>
                            <a:srgbClr val="FFFFFF"/>
                          </a:solidFill>
                          <a:latin typeface="Avenir Next Regular"/>
                          <a:ea typeface="Avenir Next Regular"/>
                          <a:cs typeface="Avenir Next Regular"/>
                          <a:sym typeface="Avenir Next Regular"/>
                        </a:rPr>
                        <a:t>What the code produces</a:t>
                      </a:r>
                    </a:p>
                  </a:txBody>
                  <a:tcPr marL="50800" marR="50800" marT="50800" marB="50800" anchor="ctr" anchorCtr="0" horzOverflow="overflow">
                    <a:solidFill>
                      <a:srgbClr val="1D4260"/>
                    </a:solidFill>
                  </a:tcPr>
                </a:tc>
              </a:tr>
              <a:tr h="1460500">
                <a:tc>
                  <a:txBody>
                    <a:bodyPr/>
                    <a:lstStyle/>
                    <a:p>
                      <a:pPr defTabSz="914400"/>
                      <a:r>
                        <a:rPr sz="3800">
                          <a:solidFill>
                            <a:srgbClr val="1D4260"/>
                          </a:solidFill>
                          <a:latin typeface="Avenir Next Regular"/>
                          <a:ea typeface="Avenir Next Regular"/>
                          <a:cs typeface="Avenir Next Regular"/>
                          <a:sym typeface="Avenir Next Regular"/>
                        </a:rPr>
                        <a:t>Data and signal processing</a:t>
                      </a:r>
                    </a:p>
                  </a:txBody>
                  <a:tcPr marL="50800" marR="50800" marT="50800" marB="50800" anchor="ctr" anchorCtr="0" horzOverflow="overflow">
                    <a:solidFill>
                      <a:srgbClr val="F4F8F9"/>
                    </a:solidFill>
                  </a:tcPr>
                </a:tc>
                <a:tc>
                  <a:txBody>
                    <a:bodyPr/>
                    <a:lstStyle/>
                    <a:p>
                      <a:pPr defTabSz="914400"/>
                      <a:r>
                        <a:rPr sz="3800">
                          <a:solidFill>
                            <a:srgbClr val="1D4260"/>
                          </a:solidFill>
                          <a:latin typeface="Avenir Next Regular"/>
                          <a:ea typeface="Avenir Next Regular"/>
                          <a:cs typeface="Avenir Next Regular"/>
                          <a:sym typeface="Avenir Next Regular"/>
                        </a:rPr>
                        <a:t>Audited patient cohort, clean VCG, aligned beats</a:t>
                      </a:r>
                    </a:p>
                  </a:txBody>
                  <a:tcPr marL="50800" marR="50800" marT="50800" marB="50800" anchor="ctr" anchorCtr="0" horzOverflow="overflow">
                    <a:solidFill>
                      <a:srgbClr val="F4F8F9"/>
                    </a:solidFill>
                  </a:tcPr>
                </a:tc>
              </a:tr>
              <a:tr h="1460500">
                <a:tc>
                  <a:txBody>
                    <a:bodyPr/>
                    <a:lstStyle/>
                    <a:p>
                      <a:pPr defTabSz="914400"/>
                      <a:r>
                        <a:rPr sz="3800">
                          <a:solidFill>
                            <a:srgbClr val="1D4260"/>
                          </a:solidFill>
                          <a:latin typeface="Avenir Next Regular"/>
                          <a:ea typeface="Avenir Next Regular"/>
                          <a:cs typeface="Avenir Next Regular"/>
                          <a:sym typeface="Avenir Next Regular"/>
                        </a:rPr>
                        <a:t>Paper reproduction</a:t>
                      </a:r>
                    </a:p>
                  </a:txBody>
                  <a:tcPr marL="50800" marR="50800" marT="50800" marB="50800" anchor="ctr" anchorCtr="0" horzOverflow="overflow">
                    <a:solidFill>
                      <a:srgbClr val="FFFFFF"/>
                    </a:solidFill>
                  </a:tcPr>
                </a:tc>
                <a:tc>
                  <a:txBody>
                    <a:bodyPr/>
                    <a:lstStyle/>
                    <a:p>
                      <a:pPr defTabSz="914400"/>
                      <a:r>
                        <a:rPr sz="3800">
                          <a:solidFill>
                            <a:srgbClr val="1D4260"/>
                          </a:solidFill>
                          <a:latin typeface="Avenir Next Regular"/>
                          <a:ea typeface="Avenir Next Regular"/>
                          <a:cs typeface="Avenir Next Regular"/>
                          <a:sym typeface="Avenir Next Regular"/>
                        </a:rPr>
                        <a:t>Wavelet tensors, 72 features, random forest results</a:t>
                      </a:r>
                    </a:p>
                  </a:txBody>
                  <a:tcPr marL="50800" marR="50800" marT="50800" marB="50800" anchor="ctr" anchorCtr="0" horzOverflow="overflow">
                    <a:solidFill>
                      <a:srgbClr val="FFFFFF"/>
                    </a:solidFill>
                  </a:tcPr>
                </a:tc>
              </a:tr>
              <a:tr h="1460500">
                <a:tc>
                  <a:txBody>
                    <a:bodyPr/>
                    <a:lstStyle/>
                    <a:p>
                      <a:pPr defTabSz="914400"/>
                      <a:r>
                        <a:rPr sz="3800">
                          <a:solidFill>
                            <a:srgbClr val="1D4260"/>
                          </a:solidFill>
                          <a:latin typeface="Avenir Next Regular"/>
                          <a:ea typeface="Avenir Next Regular"/>
                          <a:cs typeface="Avenir Next Regular"/>
                          <a:sym typeface="Avenir Next Regular"/>
                        </a:rPr>
                        <a:t>Patient benchmark and ablations</a:t>
                      </a:r>
                    </a:p>
                  </a:txBody>
                  <a:tcPr marL="50800" marR="50800" marT="50800" marB="50800" anchor="ctr" anchorCtr="0" horzOverflow="overflow">
                    <a:solidFill>
                      <a:srgbClr val="F4F8F9"/>
                    </a:solidFill>
                  </a:tcPr>
                </a:tc>
                <a:tc>
                  <a:txBody>
                    <a:bodyPr/>
                    <a:lstStyle/>
                    <a:p>
                      <a:pPr defTabSz="914400"/>
                      <a:r>
                        <a:rPr sz="3800">
                          <a:solidFill>
                            <a:srgbClr val="1D4260"/>
                          </a:solidFill>
                          <a:latin typeface="Avenir Next Regular"/>
                          <a:ea typeface="Avenir Next Regular"/>
                          <a:cs typeface="Avenir Next Regular"/>
                          <a:sym typeface="Avenir Next Regular"/>
                        </a:rPr>
                        <a:t>Nested model comparison and 12 representations</a:t>
                      </a:r>
                    </a:p>
                  </a:txBody>
                  <a:tcPr marL="50800" marR="50800" marT="50800" marB="50800" anchor="ctr" anchorCtr="0" horzOverflow="overflow">
                    <a:solidFill>
                      <a:srgbClr val="F4F8F9"/>
                    </a:solidFill>
                  </a:tcPr>
                </a:tc>
              </a:tr>
              <a:tr h="1460500">
                <a:tc>
                  <a:txBody>
                    <a:bodyPr/>
                    <a:lstStyle/>
                    <a:p>
                      <a:pPr defTabSz="914400"/>
                      <a:r>
                        <a:rPr sz="3800">
                          <a:solidFill>
                            <a:srgbClr val="1D4260"/>
                          </a:solidFill>
                          <a:latin typeface="Avenir Next Regular"/>
                          <a:ea typeface="Avenir Next Regular"/>
                          <a:cs typeface="Avenir Next Regular"/>
                          <a:sym typeface="Avenir Next Regular"/>
                        </a:rPr>
                        <a:t>External and domain studies</a:t>
                      </a:r>
                    </a:p>
                  </a:txBody>
                  <a:tcPr marL="50800" marR="50800" marT="50800" marB="50800" anchor="ctr" anchorCtr="0" horzOverflow="overflow">
                    <a:solidFill>
                      <a:srgbClr val="FFFFFF"/>
                    </a:solidFill>
                  </a:tcPr>
                </a:tc>
                <a:tc>
                  <a:txBody>
                    <a:bodyPr/>
                    <a:lstStyle/>
                    <a:p>
                      <a:pPr defTabSz="914400"/>
                      <a:r>
                        <a:rPr sz="3800">
                          <a:solidFill>
                            <a:srgbClr val="1D4260"/>
                          </a:solidFill>
                          <a:latin typeface="Avenir Next Regular"/>
                          <a:ea typeface="Avenir Next Regular"/>
                          <a:cs typeface="Avenir Next Regular"/>
                          <a:sym typeface="Avenir Next Regular"/>
                        </a:rPr>
                        <a:t>PTB-XL predictions and measured/derived comparison</a:t>
                      </a:r>
                    </a:p>
                  </a:txBody>
                  <a:tcPr marL="50800" marR="50800" marT="50800" marB="50800" anchor="ctr" anchorCtr="0" horzOverflow="overflow">
                    <a:solidFill>
                      <a:srgbClr val="FFFFFF"/>
                    </a:solidFill>
                  </a:tcPr>
                </a:tc>
              </a:tr>
            </a:tbl>
          </a:graphicData>
        </a:graphic>
      </p:graphicFrame>
      <p:sp>
        <p:nvSpPr>
          <p:cNvPr id="180" name="One Python pipeline with saved configurations, predictions and metrics"/>
          <p:cNvSpPr txBox="1"/>
          <p:nvPr/>
        </p:nvSpPr>
        <p:spPr>
          <a:xfrm>
            <a:off x="1270000" y="11874499"/>
            <a:ext cx="20320000" cy="5715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2700">
                <a:solidFill>
                  <a:srgbClr val="657B8B"/>
                </a:solidFill>
                <a:latin typeface="Avenir Next Regular"/>
                <a:ea typeface="Avenir Next Regular"/>
                <a:cs typeface="Avenir Next Regular"/>
                <a:sym typeface="Avenir Next Regular"/>
              </a:defRPr>
            </a:lvl1pPr>
          </a:lstStyle>
          <a:p>
            <a:pPr/>
            <a:r>
              <a:t>One Python pipeline with saved configurations, predictions and metrics</a:t>
            </a:r>
          </a:p>
        </p:txBody>
      </p:sp>
    </p:spTree>
  </p:cSld>
  <p:clrMapOvr>
    <a:masterClrMapping/>
  </p:clrMapOvr>
  <p:transition spd="med" advClick="1"/>
</p:sld>
</file>

<file path=ppt/slides/slide3.xml><?xml version="1.0" encoding="utf-8"?>
<p:sld xmlns:a="http://schemas.openxmlformats.org/drawingml/2006/main" xmlns:ns2="http://schemas.microsoft.com/office/mac/drawingml/2011/main" xmlns:p="http://schemas.openxmlformats.org/presentationml/2006/main" showMasterSp="1" showMasterPhAnim="1">
  <p:cSld>
    <p:spTree>
      <p:nvGrpSpPr>
        <p:cNvPr id="1" name=""/>
        <p:cNvGrpSpPr/>
        <p:nvPr/>
      </p:nvGrpSpPr>
      <p:grpSpPr>
        <a:xfrm>
          <a:off x="0" y="0"/>
          <a:ext cx="0" cy="0"/>
          <a:chOff x="0" y="0"/>
          <a:chExt cx="0" cy="0"/>
        </a:xfrm>
      </p:grpSpPr>
      <p:sp>
        <p:nvSpPr>
          <p:cNvPr id="184" name="PTB data preparation"/>
          <p:cNvSpPr txBox="1"/>
          <p:nvPr/>
        </p:nvSpPr>
        <p:spPr>
          <a:xfrm>
            <a:off x="1270000" y="1060449"/>
            <a:ext cx="21844000" cy="12446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6600">
                <a:solidFill>
                  <a:srgbClr val="1D4260"/>
                </a:solidFill>
                <a:latin typeface="Avenir Next Demi Bold"/>
                <a:ea typeface="Avenir Next Demi Bold"/>
                <a:cs typeface="Avenir Next Demi Bold"/>
                <a:sym typeface="Avenir Next Demi Bold"/>
              </a:defRPr>
            </a:lvl1pPr>
          </a:lstStyle>
          <a:p>
            <a:pPr/>
            <a:r>
              <a:t>PTB data preparation</a:t>
            </a:r>
          </a:p>
        </p:txBody>
      </p:sp>
      <p:sp>
        <p:nvSpPr>
          <p:cNvPr id="185" name="03"/>
          <p:cNvSpPr txBox="1"/>
          <p:nvPr/>
        </p:nvSpPr>
        <p:spPr>
          <a:xfrm>
            <a:off x="20827999" y="12738099"/>
            <a:ext cx="2286001" cy="4953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2300">
                <a:solidFill>
                  <a:srgbClr val="657B8B"/>
                </a:solidFill>
                <a:latin typeface="Avenir Next Regular"/>
                <a:ea typeface="Avenir Next Regular"/>
                <a:cs typeface="Avenir Next Regular"/>
                <a:sym typeface="Avenir Next Regular"/>
              </a:defRPr>
            </a:lvl1pPr>
          </a:lstStyle>
          <a:p>
            <a:pPr/>
            <a:r>
              <a:t>03</a:t>
            </a:r>
          </a:p>
        </p:txBody>
      </p:sp>
      <p:sp>
        <p:nvSpPr>
          <p:cNvPr id="186" name="178"/>
          <p:cNvSpPr txBox="1"/>
          <p:nvPr/>
        </p:nvSpPr>
        <p:spPr>
          <a:xfrm>
            <a:off x="1270000" y="3409950"/>
            <a:ext cx="6604000" cy="19431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10600">
                <a:solidFill>
                  <a:srgbClr val="00919E"/>
                </a:solidFill>
                <a:latin typeface="Avenir Next Demi Bold"/>
                <a:ea typeface="Avenir Next Demi Bold"/>
                <a:cs typeface="Avenir Next Demi Bold"/>
                <a:sym typeface="Avenir Next Demi Bold"/>
              </a:defRPr>
            </a:lvl1pPr>
          </a:lstStyle>
          <a:p>
            <a:pPr/>
            <a:r>
              <a:t>178</a:t>
            </a:r>
          </a:p>
        </p:txBody>
      </p:sp>
      <p:sp>
        <p:nvSpPr>
          <p:cNvPr id="187" name="patients"/>
          <p:cNvSpPr txBox="1"/>
          <p:nvPr/>
        </p:nvSpPr>
        <p:spPr>
          <a:xfrm>
            <a:off x="1270000" y="5473699"/>
            <a:ext cx="6604000" cy="8001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4000">
                <a:solidFill>
                  <a:srgbClr val="1D4260"/>
                </a:solidFill>
                <a:latin typeface="Avenir Next Regular"/>
                <a:ea typeface="Avenir Next Regular"/>
                <a:cs typeface="Avenir Next Regular"/>
                <a:sym typeface="Avenir Next Regular"/>
              </a:defRPr>
            </a:lvl1pPr>
          </a:lstStyle>
          <a:p>
            <a:pPr/>
            <a:r>
              <a:t>patients</a:t>
            </a:r>
          </a:p>
        </p:txBody>
      </p:sp>
      <p:sp>
        <p:nvSpPr>
          <p:cNvPr id="188" name="425"/>
          <p:cNvSpPr txBox="1"/>
          <p:nvPr/>
        </p:nvSpPr>
        <p:spPr>
          <a:xfrm>
            <a:off x="8953500" y="3409950"/>
            <a:ext cx="6604000" cy="19431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10600">
                <a:solidFill>
                  <a:srgbClr val="00919E"/>
                </a:solidFill>
                <a:latin typeface="Avenir Next Demi Bold"/>
                <a:ea typeface="Avenir Next Demi Bold"/>
                <a:cs typeface="Avenir Next Demi Bold"/>
                <a:sym typeface="Avenir Next Demi Bold"/>
              </a:defRPr>
            </a:lvl1pPr>
          </a:lstStyle>
          <a:p>
            <a:pPr/>
            <a:r>
              <a:t>425</a:t>
            </a:r>
          </a:p>
        </p:txBody>
      </p:sp>
      <p:sp>
        <p:nvSpPr>
          <p:cNvPr id="189" name="VCG recordings"/>
          <p:cNvSpPr txBox="1"/>
          <p:nvPr/>
        </p:nvSpPr>
        <p:spPr>
          <a:xfrm>
            <a:off x="8953499" y="5473699"/>
            <a:ext cx="6604001" cy="8001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4000">
                <a:solidFill>
                  <a:srgbClr val="1D4260"/>
                </a:solidFill>
                <a:latin typeface="Avenir Next Regular"/>
                <a:ea typeface="Avenir Next Regular"/>
                <a:cs typeface="Avenir Next Regular"/>
                <a:sym typeface="Avenir Next Regular"/>
              </a:defRPr>
            </a:lvl1pPr>
          </a:lstStyle>
          <a:p>
            <a:pPr/>
            <a:r>
              <a:t>VCG recordings</a:t>
            </a:r>
          </a:p>
        </p:txBody>
      </p:sp>
      <p:sp>
        <p:nvSpPr>
          <p:cNvPr id="190" name="60,507"/>
          <p:cNvSpPr txBox="1"/>
          <p:nvPr/>
        </p:nvSpPr>
        <p:spPr>
          <a:xfrm>
            <a:off x="16637000" y="3409950"/>
            <a:ext cx="6604000" cy="19431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10600">
                <a:solidFill>
                  <a:srgbClr val="00919E"/>
                </a:solidFill>
                <a:latin typeface="Avenir Next Demi Bold"/>
                <a:ea typeface="Avenir Next Demi Bold"/>
                <a:cs typeface="Avenir Next Demi Bold"/>
                <a:sym typeface="Avenir Next Demi Bold"/>
              </a:defRPr>
            </a:lvl1pPr>
          </a:lstStyle>
          <a:p>
            <a:pPr/>
            <a:r>
              <a:t>60,507</a:t>
            </a:r>
          </a:p>
        </p:txBody>
      </p:sp>
      <p:sp>
        <p:nvSpPr>
          <p:cNvPr id="191" name="complete beats"/>
          <p:cNvSpPr txBox="1"/>
          <p:nvPr/>
        </p:nvSpPr>
        <p:spPr>
          <a:xfrm>
            <a:off x="16637000" y="5473699"/>
            <a:ext cx="6604000" cy="8001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4000">
                <a:solidFill>
                  <a:srgbClr val="1D4260"/>
                </a:solidFill>
                <a:latin typeface="Avenir Next Regular"/>
                <a:ea typeface="Avenir Next Regular"/>
                <a:cs typeface="Avenir Next Regular"/>
                <a:sym typeface="Avenir Next Regular"/>
              </a:defRPr>
            </a:lvl1pPr>
          </a:lstStyle>
          <a:p>
            <a:pPr/>
            <a:r>
              <a:t>complete beats</a:t>
            </a:r>
          </a:p>
        </p:txBody>
      </p:sp>
      <p:sp>
        <p:nvSpPr>
          <p:cNvPr id="192" name="Measured Frank X, Y and Z at 1,000 Hz"/>
          <p:cNvSpPr txBox="1"/>
          <p:nvPr/>
        </p:nvSpPr>
        <p:spPr>
          <a:xfrm>
            <a:off x="1270000" y="7296149"/>
            <a:ext cx="20955000" cy="9017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4600">
                <a:solidFill>
                  <a:srgbClr val="1D4260"/>
                </a:solidFill>
                <a:latin typeface="Avenir Next Demi Bold"/>
                <a:ea typeface="Avenir Next Demi Bold"/>
                <a:cs typeface="Avenir Next Demi Bold"/>
                <a:sym typeface="Avenir Next Demi Bold"/>
              </a:defRPr>
            </a:lvl1pPr>
          </a:lstStyle>
          <a:p>
            <a:pPr/>
            <a:r>
              <a:t>Measured Frank X, Y and Z at 1,000 Hz</a:t>
            </a:r>
          </a:p>
        </p:txBody>
      </p:sp>
      <p:sp>
        <p:nvSpPr>
          <p:cNvPr id="193" name="126 MI patients and 52 healthy controls…"/>
          <p:cNvSpPr txBox="1"/>
          <p:nvPr/>
        </p:nvSpPr>
        <p:spPr>
          <a:xfrm>
            <a:off x="1270000" y="8624570"/>
            <a:ext cx="21336000" cy="1927861"/>
          </a:xfrm>
          <a:prstGeom prst="rect">
            <a:avLst/>
          </a:prstGeom>
          <a:ln w="12700">
            <a:miter lim="400000"/>
          </a:ln>
          <a:extLst>
            <a:ext uri="{C572A759-6A51-4108-AA02-DFA0A04FC94B}">
              <ns2:wrappingTextBoxFlag val="1"/>
            </a:ext>
          </a:extLst>
        </p:spPr>
        <p:txBody>
          <a:bodyPr lIns="50800" tIns="50800" rIns="50800" bIns="50800" anchor="ctr">
            <a:spAutoFit/>
          </a:bodyPr>
          <a:lstStyle/>
          <a:p>
            <a:pPr>
              <a:defRPr sz="3800">
                <a:solidFill>
                  <a:srgbClr val="1D4260"/>
                </a:solidFill>
                <a:latin typeface="Avenir Next Regular"/>
                <a:ea typeface="Avenir Next Regular"/>
                <a:cs typeface="Avenir Next Regular"/>
                <a:sym typeface="Avenir Next Regular"/>
              </a:defRPr>
            </a:pPr>
            <a:r>
              <a:t>126 MI patients and 52 healthy controls</a:t>
            </a:r>
          </a:p>
          <a:p>
            <a:pPr>
              <a:defRPr sz="3800">
                <a:solidFill>
                  <a:srgbClr val="1D4260"/>
                </a:solidFill>
                <a:latin typeface="Avenir Next Regular"/>
                <a:ea typeface="Avenir Next Regular"/>
                <a:cs typeface="Avenir Next Regular"/>
                <a:sym typeface="Avenir Next Regular"/>
              </a:defRPr>
            </a:pPr>
            <a:r>
              <a:t>Acute-location labels and paper cohort exclusions</a:t>
            </a:r>
          </a:p>
        </p:txBody>
      </p:sp>
      <p:sp>
        <p:nvSpPr>
          <p:cNvPr id="194" name="Paper total: 60,527 beats. Our difference: 20 beats, or 0.033%"/>
          <p:cNvSpPr txBox="1"/>
          <p:nvPr/>
        </p:nvSpPr>
        <p:spPr>
          <a:xfrm>
            <a:off x="1270000" y="11874499"/>
            <a:ext cx="20320000" cy="5715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2700">
                <a:solidFill>
                  <a:srgbClr val="657B8B"/>
                </a:solidFill>
                <a:latin typeface="Avenir Next Regular"/>
                <a:ea typeface="Avenir Next Regular"/>
                <a:cs typeface="Avenir Next Regular"/>
                <a:sym typeface="Avenir Next Regular"/>
              </a:defRPr>
            </a:lvl1pPr>
          </a:lstStyle>
          <a:p>
            <a:pPr/>
            <a:r>
              <a:t>Paper total: 60,527 beats. Our difference: 20 beats, or 0.033%</a:t>
            </a:r>
          </a:p>
        </p:txBody>
      </p:sp>
    </p:spTree>
  </p:cSld>
  <p:clrMapOvr>
    <a:masterClrMapping/>
  </p:clrMapOvr>
  <p:transition spd="med" advClick="1"/>
</p:sld>
</file>

<file path=ppt/slides/slide4.xml><?xml version="1.0" encoding="utf-8"?>
<p:sld xmlns:a="http://schemas.openxmlformats.org/drawingml/2006/main" xmlns:ns2="http://schemas.microsoft.com/office/mac/drawingml/2011/main" xmlns:p="http://schemas.openxmlformats.org/presentationml/2006/main" xmlns:r="http://schemas.openxmlformats.org/officeDocument/2006/relationships" showMasterSp="1" showMasterPhAnim="1">
  <p:cSld>
    <p:spTree>
      <p:nvGrpSpPr>
        <p:cNvPr id="1" name=""/>
        <p:cNvGrpSpPr/>
        <p:nvPr/>
      </p:nvGrpSpPr>
      <p:grpSpPr>
        <a:xfrm>
          <a:off x="0" y="0"/>
          <a:ext cx="0" cy="0"/>
          <a:chOff x="0" y="0"/>
          <a:chExt cx="0" cy="0"/>
        </a:xfrm>
      </p:grpSpPr>
      <p:sp>
        <p:nvSpPr>
          <p:cNvPr id="198" name="Signal processing and beat extraction"/>
          <p:cNvSpPr txBox="1"/>
          <p:nvPr/>
        </p:nvSpPr>
        <p:spPr>
          <a:xfrm>
            <a:off x="1270000" y="1060449"/>
            <a:ext cx="21844000" cy="12446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6600">
                <a:solidFill>
                  <a:srgbClr val="1D4260"/>
                </a:solidFill>
                <a:latin typeface="Avenir Next Demi Bold"/>
                <a:ea typeface="Avenir Next Demi Bold"/>
                <a:cs typeface="Avenir Next Demi Bold"/>
                <a:sym typeface="Avenir Next Demi Bold"/>
              </a:defRPr>
            </a:lvl1pPr>
          </a:lstStyle>
          <a:p>
            <a:pPr/>
            <a:r>
              <a:t>Signal processing and beat extraction</a:t>
            </a:r>
          </a:p>
        </p:txBody>
      </p:sp>
      <p:sp>
        <p:nvSpPr>
          <p:cNvPr id="199" name="04"/>
          <p:cNvSpPr txBox="1"/>
          <p:nvPr/>
        </p:nvSpPr>
        <p:spPr>
          <a:xfrm>
            <a:off x="20827999" y="12738099"/>
            <a:ext cx="2286001" cy="4953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2300">
                <a:solidFill>
                  <a:srgbClr val="657B8B"/>
                </a:solidFill>
                <a:latin typeface="Avenir Next Regular"/>
                <a:ea typeface="Avenir Next Regular"/>
                <a:cs typeface="Avenir Next Regular"/>
                <a:sym typeface="Avenir Next Regular"/>
              </a:defRPr>
            </a:lvl1pPr>
          </a:lstStyle>
          <a:p>
            <a:pPr/>
            <a:r>
              <a:t>04</a:t>
            </a:r>
          </a:p>
        </p:txBody>
      </p:sp>
      <p:pic>
        <p:nvPicPr>
          <p:cNvPr id="200" name="real_vcg_processing.png" descr="real_vcg_processing.png"/>
          <p:cNvPicPr>
            <a:picLocks noChangeAspect="1"/>
          </p:cNvPicPr>
          <p:nvPr/>
        </p:nvPicPr>
        <p:blipFill>
          <a:blip r:embed="rId3">
            <a:extLst/>
          </a:blip>
          <a:stretch>
            <a:fillRect/>
          </a:stretch>
        </p:blipFill>
        <p:spPr>
          <a:xfrm>
            <a:off x="1016000" y="2984499"/>
            <a:ext cx="15630770" cy="8128001"/>
          </a:xfrm>
          <a:prstGeom prst="rect">
            <a:avLst/>
          </a:prstGeom>
          <a:ln w="12700">
            <a:miter lim="400000"/>
          </a:ln>
        </p:spPr>
      </p:pic>
      <p:sp>
        <p:nvSpPr>
          <p:cNvPr id="201" name="bior6.8"/>
          <p:cNvSpPr txBox="1"/>
          <p:nvPr/>
        </p:nvSpPr>
        <p:spPr>
          <a:xfrm>
            <a:off x="17398999" y="3371849"/>
            <a:ext cx="5715001" cy="9398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a:solidFill>
                  <a:srgbClr val="00919E"/>
                </a:solidFill>
                <a:latin typeface="Avenir Next Demi Bold"/>
                <a:ea typeface="Avenir Next Demi Bold"/>
                <a:cs typeface="Avenir Next Demi Bold"/>
                <a:sym typeface="Avenir Next Demi Bold"/>
              </a:defRPr>
            </a:lvl1pPr>
          </a:lstStyle>
          <a:p>
            <a:pPr/>
            <a:r>
              <a:t>bior6.8</a:t>
            </a:r>
          </a:p>
        </p:txBody>
      </p:sp>
      <p:sp>
        <p:nvSpPr>
          <p:cNvPr id="202" name="Wavelet denoising"/>
          <p:cNvSpPr txBox="1"/>
          <p:nvPr/>
        </p:nvSpPr>
        <p:spPr>
          <a:xfrm>
            <a:off x="17399000" y="4591049"/>
            <a:ext cx="5334000" cy="7239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3600">
                <a:solidFill>
                  <a:srgbClr val="1D4260"/>
                </a:solidFill>
                <a:latin typeface="Avenir Next Regular"/>
                <a:ea typeface="Avenir Next Regular"/>
                <a:cs typeface="Avenir Next Regular"/>
                <a:sym typeface="Avenir Next Regular"/>
              </a:defRPr>
            </a:lvl1pPr>
          </a:lstStyle>
          <a:p>
            <a:pPr/>
            <a:r>
              <a:t>Wavelet denoising</a:t>
            </a:r>
          </a:p>
        </p:txBody>
      </p:sp>
      <p:sp>
        <p:nvSpPr>
          <p:cNvPr id="203" name="R peaks"/>
          <p:cNvSpPr txBox="1"/>
          <p:nvPr/>
        </p:nvSpPr>
        <p:spPr>
          <a:xfrm>
            <a:off x="17399000" y="6038849"/>
            <a:ext cx="5334000" cy="9398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a:solidFill>
                  <a:srgbClr val="00919E"/>
                </a:solidFill>
                <a:latin typeface="Avenir Next Demi Bold"/>
                <a:ea typeface="Avenir Next Demi Bold"/>
                <a:cs typeface="Avenir Next Demi Bold"/>
                <a:sym typeface="Avenir Next Demi Bold"/>
              </a:defRPr>
            </a:lvl1pPr>
          </a:lstStyle>
          <a:p>
            <a:pPr/>
            <a:r>
              <a:t>R peaks</a:t>
            </a:r>
          </a:p>
        </p:txBody>
      </p:sp>
      <p:sp>
        <p:nvSpPr>
          <p:cNvPr id="204" name="Vector-magnitude detector"/>
          <p:cNvSpPr txBox="1"/>
          <p:nvPr/>
        </p:nvSpPr>
        <p:spPr>
          <a:xfrm>
            <a:off x="17399000" y="6841906"/>
            <a:ext cx="5334000" cy="128397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3600">
                <a:solidFill>
                  <a:srgbClr val="1D4260"/>
                </a:solidFill>
                <a:latin typeface="Avenir Next Regular"/>
                <a:ea typeface="Avenir Next Regular"/>
                <a:cs typeface="Avenir Next Regular"/>
                <a:sym typeface="Avenir Next Regular"/>
              </a:defRPr>
            </a:lvl1pPr>
          </a:lstStyle>
          <a:p>
            <a:pPr/>
            <a:r>
              <a:t>Vector-magnitude detector</a:t>
            </a:r>
          </a:p>
        </p:txBody>
      </p:sp>
      <p:sp>
        <p:nvSpPr>
          <p:cNvPr id="205" name="651 samples"/>
          <p:cNvSpPr txBox="1"/>
          <p:nvPr/>
        </p:nvSpPr>
        <p:spPr>
          <a:xfrm>
            <a:off x="17399000" y="8928099"/>
            <a:ext cx="5334000" cy="9398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a:solidFill>
                  <a:srgbClr val="00919E"/>
                </a:solidFill>
                <a:latin typeface="Avenir Next Demi Bold"/>
                <a:ea typeface="Avenir Next Demi Bold"/>
                <a:cs typeface="Avenir Next Demi Bold"/>
                <a:sym typeface="Avenir Next Demi Bold"/>
              </a:defRPr>
            </a:lvl1pPr>
          </a:lstStyle>
          <a:p>
            <a:pPr/>
            <a:r>
              <a:t>651 samples</a:t>
            </a:r>
          </a:p>
        </p:txBody>
      </p:sp>
      <p:sp>
        <p:nvSpPr>
          <p:cNvPr id="206" name="250 before, R, 400 after"/>
          <p:cNvSpPr txBox="1"/>
          <p:nvPr/>
        </p:nvSpPr>
        <p:spPr>
          <a:xfrm>
            <a:off x="17399000" y="9934991"/>
            <a:ext cx="5588001" cy="6858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3400">
                <a:solidFill>
                  <a:srgbClr val="1D4260"/>
                </a:solidFill>
                <a:latin typeface="Avenir Next Regular"/>
                <a:ea typeface="Avenir Next Regular"/>
                <a:cs typeface="Avenir Next Regular"/>
                <a:sym typeface="Avenir Next Regular"/>
              </a:defRPr>
            </a:lvl1pPr>
          </a:lstStyle>
          <a:p>
            <a:pPr/>
            <a:r>
              <a:t>250 before, R, 400 after</a:t>
            </a:r>
          </a:p>
        </p:txBody>
      </p:sp>
      <p:sp>
        <p:nvSpPr>
          <p:cNvPr id="207" name="Real PTB example. Shading marks one beat window. Dashed lines mark detected peaks"/>
          <p:cNvSpPr txBox="1"/>
          <p:nvPr/>
        </p:nvSpPr>
        <p:spPr>
          <a:xfrm>
            <a:off x="1270000" y="11547891"/>
            <a:ext cx="20320001" cy="5715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2700">
                <a:solidFill>
                  <a:srgbClr val="657B8B"/>
                </a:solidFill>
                <a:latin typeface="Avenir Next Regular"/>
                <a:ea typeface="Avenir Next Regular"/>
                <a:cs typeface="Avenir Next Regular"/>
                <a:sym typeface="Avenir Next Regular"/>
              </a:defRPr>
            </a:lvl1pPr>
          </a:lstStyle>
          <a:p>
            <a:pPr/>
            <a:r>
              <a:t>Real PTB example. Shading marks one beat window. Dashed lines mark detected peaks</a:t>
            </a:r>
          </a:p>
        </p:txBody>
      </p:sp>
    </p:spTree>
  </p:cSld>
  <p:clrMapOvr>
    <a:masterClrMapping/>
  </p:clrMapOvr>
  <p:transition spd="med" advClick="1"/>
</p:sld>
</file>

<file path=ppt/slides/slide5.xml><?xml version="1.0" encoding="utf-8"?>
<p:sld xmlns:a="http://schemas.openxmlformats.org/drawingml/2006/main" xmlns:ns2="http://schemas.microsoft.com/office/mac/drawingml/2011/main" xmlns:p="http://schemas.openxmlformats.org/presentationml/2006/main" showMasterSp="1" showMasterPhAnim="1">
  <p:cSld>
    <p:spTree>
      <p:nvGrpSpPr>
        <p:cNvPr id="1" name=""/>
        <p:cNvGrpSpPr/>
        <p:nvPr/>
      </p:nvGrpSpPr>
      <p:grpSpPr>
        <a:xfrm>
          <a:off x="0" y="0"/>
          <a:ext cx="0" cy="0"/>
          <a:chOff x="0" y="0"/>
          <a:chExt cx="0" cy="0"/>
        </a:xfrm>
      </p:grpSpPr>
      <p:sp>
        <p:nvSpPr>
          <p:cNvPr id="211" name="Tensor construction and Tucker features"/>
          <p:cNvSpPr txBox="1"/>
          <p:nvPr/>
        </p:nvSpPr>
        <p:spPr>
          <a:xfrm>
            <a:off x="1270000" y="1060449"/>
            <a:ext cx="21844000" cy="12446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6600">
                <a:solidFill>
                  <a:srgbClr val="1D4260"/>
                </a:solidFill>
                <a:latin typeface="Avenir Next Demi Bold"/>
                <a:ea typeface="Avenir Next Demi Bold"/>
                <a:cs typeface="Avenir Next Demi Bold"/>
                <a:sym typeface="Avenir Next Demi Bold"/>
              </a:defRPr>
            </a:lvl1pPr>
          </a:lstStyle>
          <a:p>
            <a:pPr/>
            <a:r>
              <a:t>Tensor construction and Tucker features</a:t>
            </a:r>
          </a:p>
        </p:txBody>
      </p:sp>
      <p:sp>
        <p:nvSpPr>
          <p:cNvPr id="212" name="05"/>
          <p:cNvSpPr txBox="1"/>
          <p:nvPr/>
        </p:nvSpPr>
        <p:spPr>
          <a:xfrm>
            <a:off x="20827999" y="12738099"/>
            <a:ext cx="2286001" cy="4953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2300">
                <a:solidFill>
                  <a:srgbClr val="657B8B"/>
                </a:solidFill>
                <a:latin typeface="Avenir Next Regular"/>
                <a:ea typeface="Avenir Next Regular"/>
                <a:cs typeface="Avenir Next Regular"/>
                <a:sym typeface="Avenir Next Regular"/>
              </a:defRPr>
            </a:lvl1pPr>
          </a:lstStyle>
          <a:p>
            <a:pPr/>
            <a:r>
              <a:t>05</a:t>
            </a:r>
          </a:p>
        </p:txBody>
      </p:sp>
      <p:graphicFrame>
        <p:nvGraphicFramePr>
          <p:cNvPr id="213" name="Table 1"/>
          <p:cNvGraphicFramePr/>
          <p:nvPr/>
        </p:nvGraphicFramePr>
        <p:xfrm>
          <a:off x="1270000" y="3111500"/>
          <a:ext cx="10922000" cy="11176000"/>
        </p:xfrm>
        <a:graphic>
          <a:graphicData uri="http://schemas.openxmlformats.org/drawingml/2006/table">
            <a:tbl>
              <a:tblPr firstCol="0" firstRow="1" lastCol="0" lastRow="0" bandCol="0" bandRow="0" rtl="0">
                <a:tableStyleId>{4C3C2611-4C71-4FC5-86AE-919BDF0F9419}</a:tableStyleId>
              </a:tblPr>
              <a:tblGrid>
                <a:gridCol w="6223000"/>
                <a:gridCol w="5969000"/>
                <a:gridCol w="9652000"/>
              </a:tblGrid>
              <a:tr h="1587500">
                <a:tc>
                  <a:txBody>
                    <a:bodyPr/>
                    <a:lstStyle/>
                    <a:p>
                      <a:pPr defTabSz="914400">
                        <a:tabLst>
                          <a:tab pos="1663700" algn="l"/>
                        </a:tabLst>
                        <a:defRPr b="0"/>
                      </a:pPr>
                      <a:r>
                        <a:rPr sz="3800">
                          <a:solidFill>
                            <a:srgbClr val="FFFFFF"/>
                          </a:solidFill>
                          <a:latin typeface="Avenir Next Regular"/>
                          <a:ea typeface="Avenir Next Regular"/>
                          <a:cs typeface="Avenir Next Regular"/>
                          <a:sym typeface="Avenir Next Regular"/>
                        </a:rPr>
                        <a:t>Stage</a:t>
                      </a:r>
                    </a:p>
                  </a:txBody>
                  <a:tcPr marL="50800" marR="50800" marT="50800" marB="50800" anchor="ctr" anchorCtr="0" horzOverflow="overflow">
                    <a:solidFill>
                      <a:srgbClr val="1D4260"/>
                    </a:solidFill>
                  </a:tcPr>
                </a:tc>
                <a:tc>
                  <a:txBody>
                    <a:bodyPr/>
                    <a:lstStyle/>
                    <a:p>
                      <a:pPr defTabSz="914400">
                        <a:tabLst>
                          <a:tab pos="1663700" algn="l"/>
                        </a:tabLst>
                        <a:defRPr b="0"/>
                      </a:pPr>
                      <a:r>
                        <a:rPr sz="3800">
                          <a:solidFill>
                            <a:srgbClr val="FFFFFF"/>
                          </a:solidFill>
                          <a:latin typeface="Avenir Next Regular"/>
                          <a:ea typeface="Avenir Next Regular"/>
                          <a:cs typeface="Avenir Next Regular"/>
                          <a:sym typeface="Avenir Next Regular"/>
                        </a:rPr>
                        <a:t>Dimensions</a:t>
                      </a:r>
                    </a:p>
                  </a:txBody>
                  <a:tcPr marL="50800" marR="50800" marT="50800" marB="50800" anchor="ctr" anchorCtr="0" horzOverflow="overflow">
                    <a:solidFill>
                      <a:srgbClr val="1D4260"/>
                    </a:solidFill>
                  </a:tcPr>
                </a:tc>
                <a:tc>
                  <a:txBody>
                    <a:bodyPr/>
                    <a:lstStyle/>
                    <a:p>
                      <a:pPr defTabSz="914400">
                        <a:tabLst>
                          <a:tab pos="1663700" algn="l"/>
                        </a:tabLst>
                        <a:defRPr b="0"/>
                      </a:pPr>
                      <a:r>
                        <a:rPr sz="3800">
                          <a:solidFill>
                            <a:srgbClr val="FFFFFF"/>
                          </a:solidFill>
                          <a:latin typeface="Avenir Next Regular"/>
                          <a:ea typeface="Avenir Next Regular"/>
                          <a:cs typeface="Avenir Next Regular"/>
                          <a:sym typeface="Avenir Next Regular"/>
                        </a:rPr>
                        <a:t>Implementation</a:t>
                      </a:r>
                    </a:p>
                  </a:txBody>
                  <a:tcPr marL="50800" marR="50800" marT="50800" marB="50800" anchor="ctr" anchorCtr="0" horzOverflow="overflow">
                    <a:solidFill>
                      <a:srgbClr val="1D4260"/>
                    </a:solidFill>
                  </a:tcPr>
                </a:tc>
              </a:tr>
              <a:tr h="1587500">
                <a:tc>
                  <a:txBody>
                    <a:bodyPr/>
                    <a:lstStyle/>
                    <a:p>
                      <a:pPr defTabSz="914400"/>
                      <a:r>
                        <a:rPr sz="3800">
                          <a:solidFill>
                            <a:srgbClr val="1D4260"/>
                          </a:solidFill>
                          <a:latin typeface="Avenir Next Regular"/>
                          <a:ea typeface="Avenir Next Regular"/>
                          <a:cs typeface="Avenir Next Regular"/>
                          <a:sym typeface="Avenir Next Regular"/>
                        </a:rPr>
                        <a:t>Wavelet tensor</a:t>
                      </a:r>
                    </a:p>
                  </a:txBody>
                  <a:tcPr marL="50800" marR="50800" marT="50800" marB="50800" anchor="ctr" anchorCtr="0" horzOverflow="overflow">
                    <a:solidFill>
                      <a:srgbClr val="F4F8F9"/>
                    </a:solidFill>
                  </a:tcPr>
                </a:tc>
                <a:tc>
                  <a:txBody>
                    <a:bodyPr/>
                    <a:lstStyle/>
                    <a:p>
                      <a:pPr defTabSz="914400"/>
                      <a:r>
                        <a:rPr sz="3800">
                          <a:solidFill>
                            <a:srgbClr val="1D4260"/>
                          </a:solidFill>
                          <a:latin typeface="Avenir Next Regular"/>
                          <a:ea typeface="Avenir Next Regular"/>
                          <a:cs typeface="Avenir Next Regular"/>
                          <a:sym typeface="Avenir Next Regular"/>
                        </a:rPr>
                        <a:t>3 × 651 × 8</a:t>
                      </a:r>
                    </a:p>
                  </a:txBody>
                  <a:tcPr marL="50800" marR="50800" marT="50800" marB="50800" anchor="ctr" anchorCtr="0" horzOverflow="overflow">
                    <a:solidFill>
                      <a:srgbClr val="F4F8F9"/>
                    </a:solidFill>
                  </a:tcPr>
                </a:tc>
                <a:tc>
                  <a:txBody>
                    <a:bodyPr/>
                    <a:lstStyle/>
                    <a:p>
                      <a:pPr defTabSz="914400"/>
                      <a:r>
                        <a:rPr sz="3800">
                          <a:solidFill>
                            <a:srgbClr val="1D4260"/>
                          </a:solidFill>
                          <a:latin typeface="Avenir Next Regular"/>
                          <a:ea typeface="Avenir Next Regular"/>
                          <a:cs typeface="Avenir Next Regular"/>
                          <a:sym typeface="Avenir Next Regular"/>
                        </a:rPr>
                        <a:t>X/Y/Z, time, original + D3–D9</a:t>
                      </a:r>
                    </a:p>
                  </a:txBody>
                  <a:tcPr marL="50800" marR="50800" marT="50800" marB="50800" anchor="ctr" anchorCtr="0" horzOverflow="overflow">
                    <a:solidFill>
                      <a:srgbClr val="F4F8F9"/>
                    </a:solidFill>
                  </a:tcPr>
                </a:tc>
              </a:tr>
              <a:tr h="1587500">
                <a:tc>
                  <a:txBody>
                    <a:bodyPr/>
                    <a:lstStyle/>
                    <a:p>
                      <a:pPr defTabSz="914400"/>
                      <a:r>
                        <a:rPr sz="3800">
                          <a:solidFill>
                            <a:srgbClr val="1D4260"/>
                          </a:solidFill>
                          <a:latin typeface="Avenir Next Regular"/>
                          <a:ea typeface="Avenir Next Regular"/>
                          <a:cs typeface="Avenir Next Regular"/>
                          <a:sym typeface="Avenir Next Regular"/>
                        </a:rPr>
                        <a:t>Tucker core</a:t>
                      </a:r>
                    </a:p>
                  </a:txBody>
                  <a:tcPr marL="50800" marR="50800" marT="50800" marB="50800" anchor="ctr" anchorCtr="0" horzOverflow="overflow">
                    <a:solidFill>
                      <a:srgbClr val="FFFFFF"/>
                    </a:solidFill>
                  </a:tcPr>
                </a:tc>
                <a:tc>
                  <a:txBody>
                    <a:bodyPr/>
                    <a:lstStyle/>
                    <a:p>
                      <a:pPr defTabSz="914400"/>
                      <a:r>
                        <a:rPr sz="3800">
                          <a:solidFill>
                            <a:srgbClr val="1D4260"/>
                          </a:solidFill>
                          <a:latin typeface="Avenir Next Regular"/>
                          <a:ea typeface="Avenir Next Regular"/>
                          <a:cs typeface="Avenir Next Regular"/>
                          <a:sym typeface="Avenir Next Regular"/>
                        </a:rPr>
                        <a:t>3 × 3 × 8</a:t>
                      </a:r>
                    </a:p>
                  </a:txBody>
                  <a:tcPr marL="50800" marR="50800" marT="50800" marB="50800" anchor="ctr" anchorCtr="0" horzOverflow="overflow">
                    <a:solidFill>
                      <a:srgbClr val="FFFFFF"/>
                    </a:solidFill>
                  </a:tcPr>
                </a:tc>
                <a:tc>
                  <a:txBody>
                    <a:bodyPr/>
                    <a:lstStyle/>
                    <a:p>
                      <a:pPr defTabSz="914400"/>
                      <a:r>
                        <a:rPr sz="3800">
                          <a:solidFill>
                            <a:srgbClr val="1D4260"/>
                          </a:solidFill>
                          <a:latin typeface="Avenir Next Regular"/>
                          <a:ea typeface="Avenir Next Regular"/>
                          <a:cs typeface="Avenir Next Regular"/>
                          <a:sym typeface="Avenir Next Regular"/>
                        </a:rPr>
                        <a:t>Time rank 3 through truncated SVD</a:t>
                      </a:r>
                    </a:p>
                  </a:txBody>
                  <a:tcPr marL="50800" marR="50800" marT="50800" marB="50800" anchor="ctr" anchorCtr="0" horzOverflow="overflow">
                    <a:solidFill>
                      <a:srgbClr val="FFFFFF"/>
                    </a:solidFill>
                  </a:tcPr>
                </a:tc>
              </a:tr>
              <a:tr h="1587500">
                <a:tc>
                  <a:txBody>
                    <a:bodyPr/>
                    <a:lstStyle/>
                    <a:p>
                      <a:pPr defTabSz="914400"/>
                      <a:r>
                        <a:rPr sz="3800">
                          <a:solidFill>
                            <a:srgbClr val="1D4260"/>
                          </a:solidFill>
                          <a:latin typeface="Avenir Next Regular"/>
                          <a:ea typeface="Avenir Next Regular"/>
                          <a:cs typeface="Avenir Next Regular"/>
                          <a:sym typeface="Avenir Next Regular"/>
                        </a:rPr>
                        <a:t>Classifier input</a:t>
                      </a:r>
                    </a:p>
                  </a:txBody>
                  <a:tcPr marL="50800" marR="50800" marT="50800" marB="50800" anchor="ctr" anchorCtr="0" horzOverflow="overflow">
                    <a:solidFill>
                      <a:srgbClr val="F4F8F9"/>
                    </a:solidFill>
                  </a:tcPr>
                </a:tc>
                <a:tc>
                  <a:txBody>
                    <a:bodyPr/>
                    <a:lstStyle/>
                    <a:p>
                      <a:pPr defTabSz="914400"/>
                      <a:r>
                        <a:rPr sz="3800">
                          <a:solidFill>
                            <a:srgbClr val="1D4260"/>
                          </a:solidFill>
                          <a:latin typeface="Avenir Next Regular"/>
                          <a:ea typeface="Avenir Next Regular"/>
                          <a:cs typeface="Avenir Next Regular"/>
                          <a:sym typeface="Avenir Next Regular"/>
                        </a:rPr>
                        <a:t>72 features</a:t>
                      </a:r>
                    </a:p>
                  </a:txBody>
                  <a:tcPr marL="50800" marR="50800" marT="50800" marB="50800" anchor="ctr" anchorCtr="0" horzOverflow="overflow">
                    <a:solidFill>
                      <a:srgbClr val="F4F8F9"/>
                    </a:solidFill>
                  </a:tcPr>
                </a:tc>
                <a:tc>
                  <a:txBody>
                    <a:bodyPr/>
                    <a:lstStyle/>
                    <a:p>
                      <a:pPr defTabSz="914400"/>
                      <a:r>
                        <a:rPr sz="3800">
                          <a:solidFill>
                            <a:srgbClr val="1D4260"/>
                          </a:solidFill>
                          <a:latin typeface="Avenir Next Regular"/>
                          <a:ea typeface="Avenir Next Regular"/>
                          <a:cs typeface="Avenir Next Regular"/>
                          <a:sym typeface="Avenir Next Regular"/>
                        </a:rPr>
                        <a:t>Flattened core for each beat</a:t>
                      </a:r>
                    </a:p>
                  </a:txBody>
                  <a:tcPr marL="50800" marR="50800" marT="50800" marB="50800" anchor="ctr" anchorCtr="0" horzOverflow="overflow">
                    <a:solidFill>
                      <a:srgbClr val="F4F8F9"/>
                    </a:solidFill>
                  </a:tcPr>
                </a:tc>
              </a:tr>
            </a:tbl>
          </a:graphicData>
        </a:graphic>
      </p:graphicFrame>
      <p:sp>
        <p:nvSpPr>
          <p:cNvPr id="214" name="500-tree bootstrap random forest"/>
          <p:cNvSpPr txBox="1"/>
          <p:nvPr/>
        </p:nvSpPr>
        <p:spPr>
          <a:xfrm>
            <a:off x="1270000" y="10375899"/>
            <a:ext cx="20955001" cy="9017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4600">
                <a:solidFill>
                  <a:srgbClr val="00919E"/>
                </a:solidFill>
                <a:latin typeface="Avenir Next Demi Bold"/>
                <a:ea typeface="Avenir Next Demi Bold"/>
                <a:cs typeface="Avenir Next Demi Bold"/>
                <a:sym typeface="Avenir Next Demi Bold"/>
              </a:defRPr>
            </a:lvl1pPr>
          </a:lstStyle>
          <a:p>
            <a:pPr/>
            <a:r>
              <a:t>500-tree bootstrap random forest</a:t>
            </a:r>
          </a:p>
        </p:txBody>
      </p:sp>
      <p:sp>
        <p:nvSpPr>
          <p:cNvPr id="215" name="Lead and subband modes stay intact. SVD sign handling and vectorization are deterministic"/>
          <p:cNvSpPr txBox="1"/>
          <p:nvPr/>
        </p:nvSpPr>
        <p:spPr>
          <a:xfrm>
            <a:off x="1270000" y="11874499"/>
            <a:ext cx="20320000" cy="5715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2700">
                <a:solidFill>
                  <a:srgbClr val="657B8B"/>
                </a:solidFill>
                <a:latin typeface="Avenir Next Regular"/>
                <a:ea typeface="Avenir Next Regular"/>
                <a:cs typeface="Avenir Next Regular"/>
                <a:sym typeface="Avenir Next Regular"/>
              </a:defRPr>
            </a:lvl1pPr>
          </a:lstStyle>
          <a:p>
            <a:pPr/>
            <a:r>
              <a:t>Lead and subband modes stay intact. SVD sign handling and vectorization are deterministic</a:t>
            </a:r>
          </a:p>
        </p:txBody>
      </p:sp>
    </p:spTree>
  </p:cSld>
  <p:clrMapOvr>
    <a:masterClrMapping/>
  </p:clrMapOvr>
  <p:transition spd="med" advClick="1"/>
</p:sld>
</file>

<file path=ppt/slides/slide6.xml><?xml version="1.0" encoding="utf-8"?>
<p:sld xmlns:a="http://schemas.openxmlformats.org/drawingml/2006/main" xmlns:c="http://schemas.openxmlformats.org/drawingml/2006/chart" xmlns:ns2="http://schemas.microsoft.com/office/mac/drawingml/2011/main" xmlns:p="http://schemas.openxmlformats.org/presentationml/2006/main" xmlns:r="http://schemas.openxmlformats.org/officeDocument/2006/relationships" showMasterSp="1" showMasterPhAnim="1">
  <p:cSld>
    <p:spTree>
      <p:nvGrpSpPr>
        <p:cNvPr id="1" name=""/>
        <p:cNvGrpSpPr/>
        <p:nvPr/>
      </p:nvGrpSpPr>
      <p:grpSpPr>
        <a:xfrm>
          <a:off x="0" y="0"/>
          <a:ext cx="0" cy="0"/>
          <a:chOff x="0" y="0"/>
          <a:chExt cx="0" cy="0"/>
        </a:xfrm>
      </p:grpSpPr>
      <p:sp>
        <p:nvSpPr>
          <p:cNvPr id="219" name="The evaluation split changes the result"/>
          <p:cNvSpPr txBox="1"/>
          <p:nvPr/>
        </p:nvSpPr>
        <p:spPr>
          <a:xfrm>
            <a:off x="1270000" y="1060449"/>
            <a:ext cx="21844000" cy="12446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6600">
                <a:solidFill>
                  <a:srgbClr val="1D4260"/>
                </a:solidFill>
                <a:latin typeface="Avenir Next Demi Bold"/>
                <a:ea typeface="Avenir Next Demi Bold"/>
                <a:cs typeface="Avenir Next Demi Bold"/>
                <a:sym typeface="Avenir Next Demi Bold"/>
              </a:defRPr>
            </a:lvl1pPr>
          </a:lstStyle>
          <a:p>
            <a:pPr/>
            <a:r>
              <a:t>The evaluation split changes the result</a:t>
            </a:r>
          </a:p>
        </p:txBody>
      </p:sp>
      <p:sp>
        <p:nvSpPr>
          <p:cNvPr id="220" name="06"/>
          <p:cNvSpPr txBox="1"/>
          <p:nvPr/>
        </p:nvSpPr>
        <p:spPr>
          <a:xfrm>
            <a:off x="20827999" y="12738099"/>
            <a:ext cx="2286001" cy="4953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2300">
                <a:solidFill>
                  <a:srgbClr val="657B8B"/>
                </a:solidFill>
                <a:latin typeface="Avenir Next Regular"/>
                <a:ea typeface="Avenir Next Regular"/>
                <a:cs typeface="Avenir Next Regular"/>
                <a:sym typeface="Avenir Next Regular"/>
              </a:defRPr>
            </a:lvl1pPr>
          </a:lstStyle>
          <a:p>
            <a:pPr/>
            <a:r>
              <a:t>06</a:t>
            </a:r>
          </a:p>
        </p:txBody>
      </p:sp>
      <p:graphicFrame>
        <p:nvGraphicFramePr>
          <p:cNvPr id="221" name="2D Bar Chart"/>
          <p:cNvGraphicFramePr/>
          <p:nvPr/>
        </p:nvGraphicFramePr>
        <p:xfrm>
          <a:off x="-3655402" y="2615590"/>
          <a:ext cx="27135874" cy="7694942"/>
        </p:xfrm>
        <a:graphic>
          <a:graphicData uri="http://schemas.openxmlformats.org/drawingml/2006/chart">
            <c:chart r:id="rId3"/>
          </a:graphicData>
        </a:graphic>
      </p:graphicFrame>
      <p:sp>
        <p:nvSpPr>
          <p:cNvPr id="222" name="57.75 percentage-point drop"/>
          <p:cNvSpPr txBox="1"/>
          <p:nvPr/>
        </p:nvSpPr>
        <p:spPr>
          <a:xfrm>
            <a:off x="1270000" y="10420349"/>
            <a:ext cx="20955001" cy="8763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4500">
                <a:solidFill>
                  <a:srgbClr val="BB6A38"/>
                </a:solidFill>
                <a:latin typeface="Avenir Next Demi Bold"/>
                <a:ea typeface="Avenir Next Demi Bold"/>
                <a:cs typeface="Avenir Next Demi Bold"/>
                <a:sym typeface="Avenir Next Demi Bold"/>
              </a:defRPr>
            </a:lvl1pPr>
          </a:lstStyle>
          <a:p>
            <a:pPr/>
            <a:r>
              <a:t>57.75 percentage-point drop</a:t>
            </a:r>
          </a:p>
        </p:txBody>
      </p:sp>
      <p:sp>
        <p:nvSpPr>
          <p:cNvPr id="223" name="Beat accuracy (%). Random beat folds share patients. Patient grouped folds have zero overlap"/>
          <p:cNvSpPr txBox="1"/>
          <p:nvPr/>
        </p:nvSpPr>
        <p:spPr>
          <a:xfrm>
            <a:off x="1270000" y="11874499"/>
            <a:ext cx="20320000" cy="5715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2700">
                <a:solidFill>
                  <a:srgbClr val="657B8B"/>
                </a:solidFill>
                <a:latin typeface="Avenir Next Regular"/>
                <a:ea typeface="Avenir Next Regular"/>
                <a:cs typeface="Avenir Next Regular"/>
                <a:sym typeface="Avenir Next Regular"/>
              </a:defRPr>
            </a:lvl1pPr>
          </a:lstStyle>
          <a:p>
            <a:pPr/>
            <a:r>
              <a:t>Beat accuracy (%). Random beat folds share patients. Patient grouped folds have zero overlap</a:t>
            </a:r>
          </a:p>
        </p:txBody>
      </p:sp>
    </p:spTree>
  </p:cSld>
  <p:clrMapOvr>
    <a:masterClrMapping/>
  </p:clrMapOvr>
  <p:transition spd="med" advClick="1"/>
</p:sld>
</file>

<file path=ppt/slides/slide7.xml><?xml version="1.0" encoding="utf-8"?>
<p:sld xmlns:a="http://schemas.openxmlformats.org/drawingml/2006/main" xmlns:ns2="http://schemas.microsoft.com/office/mac/drawingml/2011/main" xmlns:p="http://schemas.openxmlformats.org/presentationml/2006/main" showMasterSp="1" showMasterPhAnim="1">
  <p:cSld>
    <p:spTree>
      <p:nvGrpSpPr>
        <p:cNvPr id="1" name=""/>
        <p:cNvGrpSpPr/>
        <p:nvPr/>
      </p:nvGrpSpPr>
      <p:grpSpPr>
        <a:xfrm>
          <a:off x="0" y="0"/>
          <a:ext cx="0" cy="0"/>
          <a:chOff x="0" y="0"/>
          <a:chExt cx="0" cy="0"/>
        </a:xfrm>
      </p:grpSpPr>
      <p:sp>
        <p:nvSpPr>
          <p:cNvPr id="227" name="Patient benchmark design"/>
          <p:cNvSpPr txBox="1"/>
          <p:nvPr/>
        </p:nvSpPr>
        <p:spPr>
          <a:xfrm>
            <a:off x="1270000" y="1060449"/>
            <a:ext cx="21844000" cy="12446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6600">
                <a:solidFill>
                  <a:srgbClr val="1D4260"/>
                </a:solidFill>
                <a:latin typeface="Avenir Next Demi Bold"/>
                <a:ea typeface="Avenir Next Demi Bold"/>
                <a:cs typeface="Avenir Next Demi Bold"/>
                <a:sym typeface="Avenir Next Demi Bold"/>
              </a:defRPr>
            </a:lvl1pPr>
          </a:lstStyle>
          <a:p>
            <a:pPr/>
            <a:r>
              <a:t>Patient benchmark design</a:t>
            </a:r>
          </a:p>
        </p:txBody>
      </p:sp>
      <p:sp>
        <p:nvSpPr>
          <p:cNvPr id="228" name="07"/>
          <p:cNvSpPr txBox="1"/>
          <p:nvPr/>
        </p:nvSpPr>
        <p:spPr>
          <a:xfrm>
            <a:off x="20827999" y="12738099"/>
            <a:ext cx="2286001" cy="4953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2300">
                <a:solidFill>
                  <a:srgbClr val="657B8B"/>
                </a:solidFill>
                <a:latin typeface="Avenir Next Regular"/>
                <a:ea typeface="Avenir Next Regular"/>
                <a:cs typeface="Avenir Next Regular"/>
                <a:sym typeface="Avenir Next Regular"/>
              </a:defRPr>
            </a:lvl1pPr>
          </a:lstStyle>
          <a:p>
            <a:pPr/>
            <a:r>
              <a:t>07</a:t>
            </a:r>
          </a:p>
        </p:txBody>
      </p:sp>
      <p:graphicFrame>
        <p:nvGraphicFramePr>
          <p:cNvPr id="229" name="Table 1"/>
          <p:cNvGraphicFramePr/>
          <p:nvPr/>
        </p:nvGraphicFramePr>
        <p:xfrm>
          <a:off x="1270000" y="3238500"/>
          <a:ext cx="10922000" cy="11176000"/>
        </p:xfrm>
        <a:graphic>
          <a:graphicData uri="http://schemas.openxmlformats.org/drawingml/2006/table">
            <a:tbl>
              <a:tblPr firstCol="0" firstRow="1" lastCol="0" lastRow="0" bandCol="0" bandRow="0" rtl="0">
                <a:tableStyleId>{4C3C2611-4C71-4FC5-86AE-919BDF0F9419}</a:tableStyleId>
              </a:tblPr>
              <a:tblGrid>
                <a:gridCol w="5588000"/>
                <a:gridCol w="3302000"/>
              </a:tblGrid>
              <a:tr h="1003300">
                <a:tc>
                  <a:txBody>
                    <a:bodyPr/>
                    <a:lstStyle/>
                    <a:p>
                      <a:pPr defTabSz="914400">
                        <a:tabLst>
                          <a:tab pos="1663700" algn="l"/>
                        </a:tabLst>
                        <a:defRPr b="0"/>
                      </a:pPr>
                      <a:r>
                        <a:rPr sz="3300">
                          <a:solidFill>
                            <a:srgbClr val="FFFFFF"/>
                          </a:solidFill>
                          <a:latin typeface="Avenir Next Regular"/>
                          <a:ea typeface="Avenir Next Regular"/>
                          <a:cs typeface="Avenir Next Regular"/>
                          <a:sym typeface="Avenir Next Regular"/>
                        </a:rPr>
                        <a:t>Class</a:t>
                      </a:r>
                    </a:p>
                  </a:txBody>
                  <a:tcPr marL="50800" marR="50800" marT="50800" marB="50800" anchor="ctr" anchorCtr="0" horzOverflow="overflow">
                    <a:solidFill>
                      <a:srgbClr val="1D4260"/>
                    </a:solidFill>
                  </a:tcPr>
                </a:tc>
                <a:tc>
                  <a:txBody>
                    <a:bodyPr/>
                    <a:lstStyle/>
                    <a:p>
                      <a:pPr defTabSz="914400">
                        <a:tabLst>
                          <a:tab pos="1663700" algn="l"/>
                        </a:tabLst>
                        <a:defRPr b="0"/>
                      </a:pPr>
                      <a:r>
                        <a:rPr sz="3300">
                          <a:solidFill>
                            <a:srgbClr val="FFFFFF"/>
                          </a:solidFill>
                          <a:latin typeface="Avenir Next Regular"/>
                          <a:ea typeface="Avenir Next Regular"/>
                          <a:cs typeface="Avenir Next Regular"/>
                          <a:sym typeface="Avenir Next Regular"/>
                        </a:rPr>
                        <a:t>Patients</a:t>
                      </a:r>
                    </a:p>
                  </a:txBody>
                  <a:tcPr marL="50800" marR="50800" marT="50800" marB="50800" anchor="ctr" anchorCtr="0" horzOverflow="overflow">
                    <a:solidFill>
                      <a:srgbClr val="1D4260"/>
                    </a:solidFill>
                  </a:tcPr>
                </a:tc>
              </a:tr>
              <a:tr h="1003300">
                <a:tc>
                  <a:txBody>
                    <a:bodyPr/>
                    <a:lstStyle/>
                    <a:p>
                      <a:pPr defTabSz="914400"/>
                      <a:r>
                        <a:rPr sz="3300">
                          <a:solidFill>
                            <a:srgbClr val="1D4260"/>
                          </a:solidFill>
                          <a:latin typeface="Avenir Next Regular"/>
                          <a:ea typeface="Avenir Next Regular"/>
                          <a:cs typeface="Avenir Next Regular"/>
                          <a:sym typeface="Avenir Next Regular"/>
                        </a:rPr>
                        <a:t>AMI</a:t>
                      </a:r>
                    </a:p>
                  </a:txBody>
                  <a:tcPr marL="50800" marR="50800" marT="50800" marB="50800" anchor="ctr" anchorCtr="0" horzOverflow="overflow">
                    <a:solidFill>
                      <a:srgbClr val="F4F8F9"/>
                    </a:solidFill>
                  </a:tcPr>
                </a:tc>
                <a:tc>
                  <a:txBody>
                    <a:bodyPr/>
                    <a:lstStyle/>
                    <a:p>
                      <a:pPr defTabSz="914400"/>
                      <a:r>
                        <a:rPr sz="3300">
                          <a:solidFill>
                            <a:srgbClr val="1D4260"/>
                          </a:solidFill>
                          <a:latin typeface="Avenir Next Regular"/>
                          <a:ea typeface="Avenir Next Regular"/>
                          <a:cs typeface="Avenir Next Regular"/>
                          <a:sym typeface="Avenir Next Regular"/>
                        </a:rPr>
                        <a:t>17</a:t>
                      </a:r>
                    </a:p>
                  </a:txBody>
                  <a:tcPr marL="50800" marR="50800" marT="50800" marB="50800" anchor="ctr" anchorCtr="0" horzOverflow="overflow">
                    <a:solidFill>
                      <a:srgbClr val="F4F8F9"/>
                    </a:solidFill>
                  </a:tcPr>
                </a:tc>
              </a:tr>
              <a:tr h="1003300">
                <a:tc>
                  <a:txBody>
                    <a:bodyPr/>
                    <a:lstStyle/>
                    <a:p>
                      <a:pPr defTabSz="914400"/>
                      <a:r>
                        <a:rPr sz="3300">
                          <a:solidFill>
                            <a:srgbClr val="1D4260"/>
                          </a:solidFill>
                          <a:latin typeface="Avenir Next Regular"/>
                          <a:ea typeface="Avenir Next Regular"/>
                          <a:cs typeface="Avenir Next Regular"/>
                          <a:sym typeface="Avenir Next Regular"/>
                        </a:rPr>
                        <a:t>ALMI</a:t>
                      </a:r>
                    </a:p>
                  </a:txBody>
                  <a:tcPr marL="50800" marR="50800" marT="50800" marB="50800" anchor="ctr" anchorCtr="0" horzOverflow="overflow">
                    <a:solidFill>
                      <a:srgbClr val="FFFFFF"/>
                    </a:solidFill>
                  </a:tcPr>
                </a:tc>
                <a:tc>
                  <a:txBody>
                    <a:bodyPr/>
                    <a:lstStyle/>
                    <a:p>
                      <a:pPr defTabSz="914400"/>
                      <a:r>
                        <a:rPr sz="3300">
                          <a:solidFill>
                            <a:srgbClr val="1D4260"/>
                          </a:solidFill>
                          <a:latin typeface="Avenir Next Regular"/>
                          <a:ea typeface="Avenir Next Regular"/>
                          <a:cs typeface="Avenir Next Regular"/>
                          <a:sym typeface="Avenir Next Regular"/>
                        </a:rPr>
                        <a:t>16</a:t>
                      </a:r>
                    </a:p>
                  </a:txBody>
                  <a:tcPr marL="50800" marR="50800" marT="50800" marB="50800" anchor="ctr" anchorCtr="0" horzOverflow="overflow">
                    <a:solidFill>
                      <a:srgbClr val="FFFFFF"/>
                    </a:solidFill>
                  </a:tcPr>
                </a:tc>
              </a:tr>
              <a:tr h="1003300">
                <a:tc>
                  <a:txBody>
                    <a:bodyPr/>
                    <a:lstStyle/>
                    <a:p>
                      <a:pPr defTabSz="914400"/>
                      <a:r>
                        <a:rPr sz="3300">
                          <a:solidFill>
                            <a:srgbClr val="1D4260"/>
                          </a:solidFill>
                          <a:latin typeface="Avenir Next Regular"/>
                          <a:ea typeface="Avenir Next Regular"/>
                          <a:cs typeface="Avenir Next Regular"/>
                          <a:sym typeface="Avenir Next Regular"/>
                        </a:rPr>
                        <a:t>ASMI</a:t>
                      </a:r>
                    </a:p>
                  </a:txBody>
                  <a:tcPr marL="50800" marR="50800" marT="50800" marB="50800" anchor="ctr" anchorCtr="0" horzOverflow="overflow">
                    <a:solidFill>
                      <a:srgbClr val="F4F8F9"/>
                    </a:solidFill>
                  </a:tcPr>
                </a:tc>
                <a:tc>
                  <a:txBody>
                    <a:bodyPr/>
                    <a:lstStyle/>
                    <a:p>
                      <a:pPr defTabSz="914400"/>
                      <a:r>
                        <a:rPr sz="3300">
                          <a:solidFill>
                            <a:srgbClr val="1D4260"/>
                          </a:solidFill>
                          <a:latin typeface="Avenir Next Regular"/>
                          <a:ea typeface="Avenir Next Regular"/>
                          <a:cs typeface="Avenir Next Regular"/>
                          <a:sym typeface="Avenir Next Regular"/>
                        </a:rPr>
                        <a:t>27</a:t>
                      </a:r>
                    </a:p>
                  </a:txBody>
                  <a:tcPr marL="50800" marR="50800" marT="50800" marB="50800" anchor="ctr" anchorCtr="0" horzOverflow="overflow">
                    <a:solidFill>
                      <a:srgbClr val="F4F8F9"/>
                    </a:solidFill>
                  </a:tcPr>
                </a:tc>
              </a:tr>
              <a:tr h="1003300">
                <a:tc>
                  <a:txBody>
                    <a:bodyPr/>
                    <a:lstStyle/>
                    <a:p>
                      <a:pPr defTabSz="914400"/>
                      <a:r>
                        <a:rPr sz="3300">
                          <a:solidFill>
                            <a:srgbClr val="1D4260"/>
                          </a:solidFill>
                          <a:latin typeface="Avenir Next Regular"/>
                          <a:ea typeface="Avenir Next Regular"/>
                          <a:cs typeface="Avenir Next Regular"/>
                          <a:sym typeface="Avenir Next Regular"/>
                        </a:rPr>
                        <a:t>IMI</a:t>
                      </a:r>
                    </a:p>
                  </a:txBody>
                  <a:tcPr marL="50800" marR="50800" marT="50800" marB="50800" anchor="ctr" anchorCtr="0" horzOverflow="overflow">
                    <a:solidFill>
                      <a:srgbClr val="FFFFFF"/>
                    </a:solidFill>
                  </a:tcPr>
                </a:tc>
                <a:tc>
                  <a:txBody>
                    <a:bodyPr/>
                    <a:lstStyle/>
                    <a:p>
                      <a:pPr defTabSz="914400"/>
                      <a:r>
                        <a:rPr sz="3300">
                          <a:solidFill>
                            <a:srgbClr val="1D4260"/>
                          </a:solidFill>
                          <a:latin typeface="Avenir Next Regular"/>
                          <a:ea typeface="Avenir Next Regular"/>
                          <a:cs typeface="Avenir Next Regular"/>
                          <a:sym typeface="Avenir Next Regular"/>
                        </a:rPr>
                        <a:t>29</a:t>
                      </a:r>
                    </a:p>
                  </a:txBody>
                  <a:tcPr marL="50800" marR="50800" marT="50800" marB="50800" anchor="ctr" anchorCtr="0" horzOverflow="overflow">
                    <a:solidFill>
                      <a:srgbClr val="FFFFFF"/>
                    </a:solidFill>
                  </a:tcPr>
                </a:tc>
              </a:tr>
              <a:tr h="1003300">
                <a:tc>
                  <a:txBody>
                    <a:bodyPr/>
                    <a:lstStyle/>
                    <a:p>
                      <a:pPr defTabSz="914400"/>
                      <a:r>
                        <a:rPr sz="3300">
                          <a:solidFill>
                            <a:srgbClr val="1D4260"/>
                          </a:solidFill>
                          <a:latin typeface="Avenir Next Regular"/>
                          <a:ea typeface="Avenir Next Regular"/>
                          <a:cs typeface="Avenir Next Regular"/>
                          <a:sym typeface="Avenir Next Regular"/>
                        </a:rPr>
                        <a:t>ILMI</a:t>
                      </a:r>
                    </a:p>
                  </a:txBody>
                  <a:tcPr marL="50800" marR="50800" marT="50800" marB="50800" anchor="ctr" anchorCtr="0" horzOverflow="overflow">
                    <a:solidFill>
                      <a:srgbClr val="F4F8F9"/>
                    </a:solidFill>
                  </a:tcPr>
                </a:tc>
                <a:tc>
                  <a:txBody>
                    <a:bodyPr/>
                    <a:lstStyle/>
                    <a:p>
                      <a:pPr defTabSz="914400"/>
                      <a:r>
                        <a:rPr sz="3300">
                          <a:solidFill>
                            <a:srgbClr val="1D4260"/>
                          </a:solidFill>
                          <a:latin typeface="Avenir Next Regular"/>
                          <a:ea typeface="Avenir Next Regular"/>
                          <a:cs typeface="Avenir Next Regular"/>
                          <a:sym typeface="Avenir Next Regular"/>
                        </a:rPr>
                        <a:t>23</a:t>
                      </a:r>
                    </a:p>
                  </a:txBody>
                  <a:tcPr marL="50800" marR="50800" marT="50800" marB="50800" anchor="ctr" anchorCtr="0" horzOverflow="overflow">
                    <a:solidFill>
                      <a:srgbClr val="F4F8F9"/>
                    </a:solidFill>
                  </a:tcPr>
                </a:tc>
              </a:tr>
              <a:tr h="1003300">
                <a:tc>
                  <a:txBody>
                    <a:bodyPr/>
                    <a:lstStyle/>
                    <a:p>
                      <a:pPr defTabSz="914400"/>
                      <a:r>
                        <a:rPr sz="3300">
                          <a:solidFill>
                            <a:srgbClr val="1D4260"/>
                          </a:solidFill>
                          <a:latin typeface="Avenir Next Regular"/>
                          <a:ea typeface="Avenir Next Regular"/>
                          <a:cs typeface="Avenir Next Regular"/>
                          <a:sym typeface="Avenir Next Regular"/>
                        </a:rPr>
                        <a:t>HC</a:t>
                      </a:r>
                    </a:p>
                  </a:txBody>
                  <a:tcPr marL="50800" marR="50800" marT="50800" marB="50800" anchor="ctr" anchorCtr="0" horzOverflow="overflow">
                    <a:solidFill>
                      <a:srgbClr val="FFFFFF"/>
                    </a:solidFill>
                  </a:tcPr>
                </a:tc>
                <a:tc>
                  <a:txBody>
                    <a:bodyPr/>
                    <a:lstStyle/>
                    <a:p>
                      <a:pPr defTabSz="914400"/>
                      <a:r>
                        <a:rPr sz="3300">
                          <a:solidFill>
                            <a:srgbClr val="1D4260"/>
                          </a:solidFill>
                          <a:latin typeface="Avenir Next Regular"/>
                          <a:ea typeface="Avenir Next Regular"/>
                          <a:cs typeface="Avenir Next Regular"/>
                          <a:sym typeface="Avenir Next Regular"/>
                        </a:rPr>
                        <a:t>52</a:t>
                      </a:r>
                    </a:p>
                  </a:txBody>
                  <a:tcPr marL="50800" marR="50800" marT="50800" marB="50800" anchor="ctr" anchorCtr="0" horzOverflow="overflow">
                    <a:solidFill>
                      <a:srgbClr val="FFFFFF"/>
                    </a:solidFill>
                  </a:tcPr>
                </a:tc>
              </a:tr>
            </a:tbl>
          </a:graphicData>
        </a:graphic>
      </p:graphicFrame>
      <p:sp>
        <p:nvSpPr>
          <p:cNvPr id="230" name="164 patients and 55,863 beats"/>
          <p:cNvSpPr txBox="1"/>
          <p:nvPr/>
        </p:nvSpPr>
        <p:spPr>
          <a:xfrm>
            <a:off x="11430000" y="3359149"/>
            <a:ext cx="11684000" cy="9017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4600">
                <a:solidFill>
                  <a:srgbClr val="00919E"/>
                </a:solidFill>
                <a:latin typeface="Avenir Next Demi Bold"/>
                <a:ea typeface="Avenir Next Demi Bold"/>
                <a:cs typeface="Avenir Next Demi Bold"/>
                <a:sym typeface="Avenir Next Demi Bold"/>
              </a:defRPr>
            </a:lvl1pPr>
          </a:lstStyle>
          <a:p>
            <a:pPr/>
            <a:r>
              <a:t>164 patients and 55,863 beats</a:t>
            </a:r>
          </a:p>
        </p:txBody>
      </p:sp>
      <p:sp>
        <p:nvSpPr>
          <p:cNvPr id="231" name="10 outer patient folds…"/>
          <p:cNvSpPr txBox="1"/>
          <p:nvPr/>
        </p:nvSpPr>
        <p:spPr>
          <a:xfrm>
            <a:off x="11430000" y="5102225"/>
            <a:ext cx="11176000" cy="4400550"/>
          </a:xfrm>
          <a:prstGeom prst="rect">
            <a:avLst/>
          </a:prstGeom>
          <a:ln w="12700">
            <a:miter lim="400000"/>
          </a:ln>
          <a:extLst>
            <a:ext uri="{C572A759-6A51-4108-AA02-DFA0A04FC94B}">
              <ns2:wrappingTextBoxFlag val="1"/>
            </a:ext>
          </a:extLst>
        </p:spPr>
        <p:txBody>
          <a:bodyPr lIns="50800" tIns="50800" rIns="50800" bIns="50800" anchor="ctr">
            <a:spAutoFit/>
          </a:bodyPr>
          <a:lstStyle/>
          <a:p>
            <a:pPr>
              <a:defRPr sz="4000">
                <a:solidFill>
                  <a:srgbClr val="1D4260"/>
                </a:solidFill>
                <a:latin typeface="Avenir Next Regular"/>
                <a:ea typeface="Avenir Next Regular"/>
                <a:cs typeface="Avenir Next Regular"/>
                <a:sym typeface="Avenir Next Regular"/>
              </a:defRPr>
            </a:pPr>
            <a:r>
              <a:t>10 outer patient folds</a:t>
            </a:r>
          </a:p>
          <a:p>
            <a:pPr>
              <a:defRPr sz="4000">
                <a:solidFill>
                  <a:srgbClr val="1D4260"/>
                </a:solidFill>
                <a:latin typeface="Avenir Next Regular"/>
                <a:ea typeface="Avenir Next Regular"/>
                <a:cs typeface="Avenir Next Regular"/>
                <a:sym typeface="Avenir Next Regular"/>
              </a:defRPr>
            </a:pPr>
            <a:r>
              <a:t>3 inner folds for tuning</a:t>
            </a:r>
          </a:p>
          <a:p>
            <a:pPr>
              <a:defRPr sz="4000">
                <a:solidFill>
                  <a:srgbClr val="1D4260"/>
                </a:solidFill>
                <a:latin typeface="Avenir Next Regular"/>
                <a:ea typeface="Avenir Next Regular"/>
                <a:cs typeface="Avenir Next Regular"/>
                <a:sym typeface="Avenir Next Regular"/>
              </a:defRPr>
            </a:pPr>
            <a:r>
              <a:t>Equal class and patient weights</a:t>
            </a:r>
          </a:p>
          <a:p>
            <a:pPr>
              <a:defRPr sz="4000">
                <a:solidFill>
                  <a:srgbClr val="1D4260"/>
                </a:solidFill>
                <a:latin typeface="Avenir Next Regular"/>
                <a:ea typeface="Avenir Next Regular"/>
                <a:cs typeface="Avenir Next Regular"/>
                <a:sym typeface="Avenir Next Regular"/>
              </a:defRPr>
            </a:pPr>
            <a:r>
              <a:t>Mean beat probabilities per patient</a:t>
            </a:r>
          </a:p>
        </p:txBody>
      </p:sp>
      <p:sp>
        <p:nvSpPr>
          <p:cNvPr id="232" name="Primary endpoint: patient macro F1"/>
          <p:cNvSpPr txBox="1"/>
          <p:nvPr/>
        </p:nvSpPr>
        <p:spPr>
          <a:xfrm>
            <a:off x="11430000" y="10667999"/>
            <a:ext cx="11684000" cy="7620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3800">
                <a:solidFill>
                  <a:srgbClr val="1D4260"/>
                </a:solidFill>
                <a:latin typeface="Avenir Next Demi Bold"/>
                <a:ea typeface="Avenir Next Demi Bold"/>
                <a:cs typeface="Avenir Next Demi Bold"/>
                <a:sym typeface="Avenir Next Demi Bold"/>
              </a:defRPr>
            </a:lvl1pPr>
          </a:lstStyle>
          <a:p>
            <a:pPr/>
            <a:r>
              <a:t>Primary endpoint: patient macro F1</a:t>
            </a:r>
          </a:p>
        </p:txBody>
      </p:sp>
      <p:sp>
        <p:nvSpPr>
          <p:cNvPr id="233" name="Every outer test fold contains all six classes. No test patient contributes to model selection"/>
          <p:cNvSpPr txBox="1"/>
          <p:nvPr/>
        </p:nvSpPr>
        <p:spPr>
          <a:xfrm>
            <a:off x="1270000" y="11874499"/>
            <a:ext cx="20320000" cy="5715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2700">
                <a:solidFill>
                  <a:srgbClr val="657B8B"/>
                </a:solidFill>
                <a:latin typeface="Avenir Next Regular"/>
                <a:ea typeface="Avenir Next Regular"/>
                <a:cs typeface="Avenir Next Regular"/>
                <a:sym typeface="Avenir Next Regular"/>
              </a:defRPr>
            </a:lvl1pPr>
          </a:lstStyle>
          <a:p>
            <a:pPr/>
            <a:r>
              <a:t>Every outer test fold contains all six classes. No test patient contributes to model selection</a:t>
            </a:r>
          </a:p>
        </p:txBody>
      </p:sp>
    </p:spTree>
  </p:cSld>
  <p:clrMapOvr>
    <a:masterClrMapping/>
  </p:clrMapOvr>
  <p:transition spd="med" advClick="1"/>
</p:sld>
</file>

<file path=ppt/slides/slide8.xml><?xml version="1.0" encoding="utf-8"?>
<p:sld xmlns:a="http://schemas.openxmlformats.org/drawingml/2006/main" xmlns:c="http://schemas.openxmlformats.org/drawingml/2006/chart" xmlns:ns2="http://schemas.microsoft.com/office/mac/drawingml/2011/main" xmlns:p="http://schemas.openxmlformats.org/presentationml/2006/main" xmlns:r="http://schemas.openxmlformats.org/officeDocument/2006/relationships" showMasterSp="1" showMasterPhAnim="1">
  <p:cSld>
    <p:spTree>
      <p:nvGrpSpPr>
        <p:cNvPr id="1" name=""/>
        <p:cNvGrpSpPr/>
        <p:nvPr/>
      </p:nvGrpSpPr>
      <p:grpSpPr>
        <a:xfrm>
          <a:off x="0" y="0"/>
          <a:ext cx="0" cy="0"/>
          <a:chOff x="0" y="0"/>
          <a:chExt cx="0" cy="0"/>
        </a:xfrm>
      </p:grpSpPr>
      <p:sp>
        <p:nvSpPr>
          <p:cNvPr id="237" name="Classifier comparison on Tucker features"/>
          <p:cNvSpPr txBox="1"/>
          <p:nvPr/>
        </p:nvSpPr>
        <p:spPr>
          <a:xfrm>
            <a:off x="1270000" y="1060449"/>
            <a:ext cx="21844000" cy="12446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6600">
                <a:solidFill>
                  <a:srgbClr val="1D4260"/>
                </a:solidFill>
                <a:latin typeface="Avenir Next Demi Bold"/>
                <a:ea typeface="Avenir Next Demi Bold"/>
                <a:cs typeface="Avenir Next Demi Bold"/>
                <a:sym typeface="Avenir Next Demi Bold"/>
              </a:defRPr>
            </a:lvl1pPr>
          </a:lstStyle>
          <a:p>
            <a:pPr/>
            <a:r>
              <a:t>Classifier comparison on Tucker features</a:t>
            </a:r>
          </a:p>
        </p:txBody>
      </p:sp>
      <p:sp>
        <p:nvSpPr>
          <p:cNvPr id="238" name="08"/>
          <p:cNvSpPr txBox="1"/>
          <p:nvPr/>
        </p:nvSpPr>
        <p:spPr>
          <a:xfrm>
            <a:off x="20827999" y="12738099"/>
            <a:ext cx="2286001" cy="4953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2300">
                <a:solidFill>
                  <a:srgbClr val="657B8B"/>
                </a:solidFill>
                <a:latin typeface="Avenir Next Regular"/>
                <a:ea typeface="Avenir Next Regular"/>
                <a:cs typeface="Avenir Next Regular"/>
                <a:sym typeface="Avenir Next Regular"/>
              </a:defRPr>
            </a:lvl1pPr>
          </a:lstStyle>
          <a:p>
            <a:pPr/>
            <a:r>
              <a:t>08</a:t>
            </a:r>
          </a:p>
        </p:txBody>
      </p:sp>
      <p:graphicFrame>
        <p:nvGraphicFramePr>
          <p:cNvPr id="239" name="2D Bar Chart"/>
          <p:cNvGraphicFramePr/>
          <p:nvPr/>
        </p:nvGraphicFramePr>
        <p:xfrm>
          <a:off x="-1919566" y="2615590"/>
          <a:ext cx="25460058" cy="7694942"/>
        </p:xfrm>
        <a:graphic>
          <a:graphicData uri="http://schemas.openxmlformats.org/drawingml/2006/chart">
            <c:chart r:id="rId3"/>
          </a:graphicData>
        </a:graphic>
      </p:graphicFrame>
      <p:sp>
        <p:nvSpPr>
          <p:cNvPr id="240" name="XGBoost leads on the chosen endpoint"/>
          <p:cNvSpPr txBox="1"/>
          <p:nvPr/>
        </p:nvSpPr>
        <p:spPr>
          <a:xfrm>
            <a:off x="1270000" y="10515599"/>
            <a:ext cx="21209000" cy="8763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4500">
                <a:solidFill>
                  <a:srgbClr val="00919E"/>
                </a:solidFill>
                <a:latin typeface="Avenir Next Demi Bold"/>
                <a:ea typeface="Avenir Next Demi Bold"/>
                <a:cs typeface="Avenir Next Demi Bold"/>
                <a:sym typeface="Avenir Next Demi Bold"/>
              </a:defRPr>
            </a:lvl1pPr>
          </a:lstStyle>
          <a:p>
            <a:pPr/>
            <a:r>
              <a:t>XGBoost leads on the chosen endpoint</a:t>
            </a:r>
          </a:p>
        </p:txBody>
      </p:sp>
      <p:sp>
        <p:nvSpPr>
          <p:cNvPr id="241" name="Patient macro F1, six classes. Confidence intervals overlap across all three classifiers"/>
          <p:cNvSpPr txBox="1"/>
          <p:nvPr/>
        </p:nvSpPr>
        <p:spPr>
          <a:xfrm>
            <a:off x="1270000" y="11547891"/>
            <a:ext cx="20320000" cy="5715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2700">
                <a:solidFill>
                  <a:srgbClr val="657B8B"/>
                </a:solidFill>
                <a:latin typeface="Avenir Next Regular"/>
                <a:ea typeface="Avenir Next Regular"/>
                <a:cs typeface="Avenir Next Regular"/>
                <a:sym typeface="Avenir Next Regular"/>
              </a:defRPr>
            </a:lvl1pPr>
          </a:lstStyle>
          <a:p>
            <a:pPr/>
            <a:r>
              <a:t>Patient macro F1, six classes. Confidence intervals overlap across all three classifiers</a:t>
            </a:r>
          </a:p>
        </p:txBody>
      </p:sp>
    </p:spTree>
  </p:cSld>
  <p:clrMapOvr>
    <a:masterClrMapping/>
  </p:clrMapOvr>
  <p:transition spd="med" advClick="1"/>
</p:sld>
</file>

<file path=ppt/slides/slide9.xml><?xml version="1.0" encoding="utf-8"?>
<p:sld xmlns:a="http://schemas.openxmlformats.org/drawingml/2006/main" xmlns:c="http://schemas.openxmlformats.org/drawingml/2006/chart" xmlns:ns2="http://schemas.microsoft.com/office/mac/drawingml/2011/main" xmlns:p="http://schemas.openxmlformats.org/presentationml/2006/main" xmlns:r="http://schemas.openxmlformats.org/officeDocument/2006/relationships" showMasterSp="1" showMasterPhAnim="1">
  <p:cSld>
    <p:spTree>
      <p:nvGrpSpPr>
        <p:cNvPr id="1" name=""/>
        <p:cNvGrpSpPr/>
        <p:nvPr/>
      </p:nvGrpSpPr>
      <p:grpSpPr>
        <a:xfrm>
          <a:off x="0" y="0"/>
          <a:ext cx="0" cy="0"/>
          <a:chOff x="0" y="0"/>
          <a:chExt cx="0" cy="0"/>
        </a:xfrm>
      </p:grpSpPr>
      <p:sp>
        <p:nvSpPr>
          <p:cNvPr id="245" name="Representation study with 12 ablations"/>
          <p:cNvSpPr txBox="1"/>
          <p:nvPr/>
        </p:nvSpPr>
        <p:spPr>
          <a:xfrm>
            <a:off x="1270000" y="1060449"/>
            <a:ext cx="21844000" cy="12446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6600">
                <a:solidFill>
                  <a:srgbClr val="1D4260"/>
                </a:solidFill>
                <a:latin typeface="Avenir Next Demi Bold"/>
                <a:ea typeface="Avenir Next Demi Bold"/>
                <a:cs typeface="Avenir Next Demi Bold"/>
                <a:sym typeface="Avenir Next Demi Bold"/>
              </a:defRPr>
            </a:lvl1pPr>
          </a:lstStyle>
          <a:p>
            <a:pPr/>
            <a:r>
              <a:t>Representation study with 12 ablations</a:t>
            </a:r>
          </a:p>
        </p:txBody>
      </p:sp>
      <p:sp>
        <p:nvSpPr>
          <p:cNvPr id="246" name="09"/>
          <p:cNvSpPr txBox="1"/>
          <p:nvPr/>
        </p:nvSpPr>
        <p:spPr>
          <a:xfrm>
            <a:off x="20827999" y="12738099"/>
            <a:ext cx="2286001" cy="4953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2300">
                <a:solidFill>
                  <a:srgbClr val="657B8B"/>
                </a:solidFill>
                <a:latin typeface="Avenir Next Regular"/>
                <a:ea typeface="Avenir Next Regular"/>
                <a:cs typeface="Avenir Next Regular"/>
                <a:sym typeface="Avenir Next Regular"/>
              </a:defRPr>
            </a:lvl1pPr>
          </a:lstStyle>
          <a:p>
            <a:pPr/>
            <a:r>
              <a:t>09</a:t>
            </a:r>
          </a:p>
        </p:txBody>
      </p:sp>
      <p:graphicFrame>
        <p:nvGraphicFramePr>
          <p:cNvPr id="247" name="2D Bar Chart"/>
          <p:cNvGraphicFramePr/>
          <p:nvPr/>
        </p:nvGraphicFramePr>
        <p:xfrm>
          <a:off x="-3726649" y="2361590"/>
          <a:ext cx="27267141" cy="9472942"/>
        </p:xfrm>
        <a:graphic>
          <a:graphicData uri="http://schemas.openxmlformats.org/drawingml/2006/chart">
            <c:chart r:id="rId3"/>
          </a:graphicData>
        </a:graphic>
      </p:graphicFrame>
      <p:sp>
        <p:nvSpPr>
          <p:cNvPr id="248" name="Exploratory patient macro F1. Same frozen folds and one fixed XGBoost classifier"/>
          <p:cNvSpPr txBox="1"/>
          <p:nvPr/>
        </p:nvSpPr>
        <p:spPr>
          <a:xfrm>
            <a:off x="1270000" y="11547891"/>
            <a:ext cx="20320000" cy="5715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2700">
                <a:solidFill>
                  <a:srgbClr val="657B8B"/>
                </a:solidFill>
                <a:latin typeface="Avenir Next Regular"/>
                <a:ea typeface="Avenir Next Regular"/>
                <a:cs typeface="Avenir Next Regular"/>
                <a:sym typeface="Avenir Next Regular"/>
              </a:defRPr>
            </a:lvl1pPr>
          </a:lstStyle>
          <a:p>
            <a:pPr/>
            <a:r>
              <a:t>Exploratory patient macro F1. Same frozen folds and one fixed XGBoost classifier</a:t>
            </a:r>
          </a:p>
        </p:txBody>
      </p:sp>
    </p:spTree>
  </p:cSld>
  <p:clrMapOvr>
    <a:masterClrMapping/>
  </p:clrMapOvr>
  <p:transition spd="med" advClick="1"/>
</p:sld>
</file>

<file path=ppt/slides/slide10.xml><?xml version="1.0" encoding="utf-8"?>
<p:sld xmlns:a="http://schemas.openxmlformats.org/drawingml/2006/main" xmlns:ns2="http://schemas.microsoft.com/office/mac/drawingml/2011/main" xmlns:p="http://schemas.openxmlformats.org/presentationml/2006/main" showMasterSp="1" showMasterPhAnim="1">
  <p:cSld>
    <p:spTree>
      <p:nvGrpSpPr>
        <p:cNvPr id="1" name=""/>
        <p:cNvGrpSpPr/>
        <p:nvPr/>
      </p:nvGrpSpPr>
      <p:grpSpPr>
        <a:xfrm>
          <a:off x="0" y="0"/>
          <a:ext cx="0" cy="0"/>
          <a:chOff x="0" y="0"/>
          <a:chExt cx="0" cy="0"/>
        </a:xfrm>
      </p:grpSpPr>
      <p:sp>
        <p:nvSpPr>
          <p:cNvPr id="252" name="Wavelet statistics improved the PTB result"/>
          <p:cNvSpPr txBox="1"/>
          <p:nvPr/>
        </p:nvSpPr>
        <p:spPr>
          <a:xfrm>
            <a:off x="1270000" y="1060449"/>
            <a:ext cx="21844000" cy="12446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6600">
                <a:solidFill>
                  <a:srgbClr val="1D4260"/>
                </a:solidFill>
                <a:latin typeface="Avenir Next Demi Bold"/>
                <a:ea typeface="Avenir Next Demi Bold"/>
                <a:cs typeface="Avenir Next Demi Bold"/>
                <a:sym typeface="Avenir Next Demi Bold"/>
              </a:defRPr>
            </a:lvl1pPr>
          </a:lstStyle>
          <a:p>
            <a:pPr/>
            <a:r>
              <a:t>Wavelet statistics improved the PTB result</a:t>
            </a:r>
          </a:p>
        </p:txBody>
      </p:sp>
      <p:sp>
        <p:nvSpPr>
          <p:cNvPr id="253" name="10"/>
          <p:cNvSpPr txBox="1"/>
          <p:nvPr/>
        </p:nvSpPr>
        <p:spPr>
          <a:xfrm>
            <a:off x="20827999" y="12738099"/>
            <a:ext cx="2286001" cy="4953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2300">
                <a:solidFill>
                  <a:srgbClr val="657B8B"/>
                </a:solidFill>
                <a:latin typeface="Avenir Next Regular"/>
                <a:ea typeface="Avenir Next Regular"/>
                <a:cs typeface="Avenir Next Regular"/>
                <a:sym typeface="Avenir Next Regular"/>
              </a:defRPr>
            </a:lvl1pPr>
          </a:lstStyle>
          <a:p>
            <a:pPr/>
            <a:r>
              <a:t>10</a:t>
            </a:r>
          </a:p>
        </p:txBody>
      </p:sp>
      <p:sp>
        <p:nvSpPr>
          <p:cNvPr id="254" name="3 leads × 8 slices × 8 statistics = 192 features"/>
          <p:cNvSpPr txBox="1"/>
          <p:nvPr/>
        </p:nvSpPr>
        <p:spPr>
          <a:xfrm>
            <a:off x="1270000" y="3079749"/>
            <a:ext cx="21844000" cy="10160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5300">
                <a:solidFill>
                  <a:srgbClr val="00919E"/>
                </a:solidFill>
                <a:latin typeface="Avenir Next Demi Bold"/>
                <a:ea typeface="Avenir Next Demi Bold"/>
                <a:cs typeface="Avenir Next Demi Bold"/>
                <a:sym typeface="Avenir Next Demi Bold"/>
              </a:defRPr>
            </a:lvl1pPr>
          </a:lstStyle>
          <a:p>
            <a:pPr/>
            <a:r>
              <a:t>3 leads × 8 slices × 8 statistics = 192 features</a:t>
            </a:r>
          </a:p>
        </p:txBody>
      </p:sp>
      <p:sp>
        <p:nvSpPr>
          <p:cNvPr id="255" name="Mean, standard deviation, RMS, peak-to-peak, mean absolute value,…"/>
          <p:cNvSpPr txBox="1"/>
          <p:nvPr/>
        </p:nvSpPr>
        <p:spPr>
          <a:xfrm>
            <a:off x="1270000" y="4469765"/>
            <a:ext cx="21209000" cy="1855471"/>
          </a:xfrm>
          <a:prstGeom prst="rect">
            <a:avLst/>
          </a:prstGeom>
          <a:ln w="12700">
            <a:miter lim="400000"/>
          </a:ln>
          <a:extLst>
            <a:ext uri="{C572A759-6A51-4108-AA02-DFA0A04FC94B}">
              <ns2:wrappingTextBoxFlag val="1"/>
            </a:ext>
          </a:extLst>
        </p:spPr>
        <p:txBody>
          <a:bodyPr lIns="50800" tIns="50800" rIns="50800" bIns="50800" anchor="ctr">
            <a:spAutoFit/>
          </a:bodyPr>
          <a:lstStyle/>
          <a:p>
            <a:pPr>
              <a:defRPr sz="3600">
                <a:solidFill>
                  <a:srgbClr val="1D4260"/>
                </a:solidFill>
                <a:latin typeface="Avenir Next Regular"/>
                <a:ea typeface="Avenir Next Regular"/>
                <a:cs typeface="Avenir Next Regular"/>
                <a:sym typeface="Avenir Next Regular"/>
              </a:defRPr>
            </a:pPr>
            <a:r>
              <a:t>Mean, standard deviation, RMS, peak-to-peak, mean absolute value,</a:t>
            </a:r>
          </a:p>
          <a:p>
            <a:pPr>
              <a:defRPr sz="3600">
                <a:solidFill>
                  <a:srgbClr val="1D4260"/>
                </a:solidFill>
                <a:latin typeface="Avenir Next Regular"/>
                <a:ea typeface="Avenir Next Regular"/>
                <a:cs typeface="Avenir Next Regular"/>
                <a:sym typeface="Avenir Next Regular"/>
              </a:defRPr>
            </a:pPr>
            <a:r>
              <a:t>log energy, skewness and kurtosis</a:t>
            </a:r>
          </a:p>
        </p:txBody>
      </p:sp>
      <p:graphicFrame>
        <p:nvGraphicFramePr>
          <p:cNvPr id="256" name="Table 1"/>
          <p:cNvGraphicFramePr/>
          <p:nvPr/>
        </p:nvGraphicFramePr>
        <p:xfrm>
          <a:off x="1270000" y="6794500"/>
          <a:ext cx="10922000" cy="11176000"/>
        </p:xfrm>
        <a:graphic>
          <a:graphicData uri="http://schemas.openxmlformats.org/drawingml/2006/table">
            <a:tbl>
              <a:tblPr firstCol="0" firstRow="1" lastCol="0" lastRow="0" bandCol="0" bandRow="0" rtl="0">
                <a:tableStyleId>{4C3C2611-4C71-4FC5-86AE-919BDF0F9419}</a:tableStyleId>
              </a:tblPr>
              <a:tblGrid>
                <a:gridCol w="7366000"/>
                <a:gridCol w="7112000"/>
                <a:gridCol w="7366000"/>
              </a:tblGrid>
              <a:tr h="1333500">
                <a:tc>
                  <a:txBody>
                    <a:bodyPr/>
                    <a:lstStyle/>
                    <a:p>
                      <a:pPr defTabSz="914400">
                        <a:tabLst>
                          <a:tab pos="1663700" algn="l"/>
                        </a:tabLst>
                        <a:defRPr b="0"/>
                      </a:pPr>
                      <a:r>
                        <a:rPr sz="3500">
                          <a:solidFill>
                            <a:srgbClr val="FFFFFF"/>
                          </a:solidFill>
                          <a:latin typeface="Avenir Next Regular"/>
                          <a:ea typeface="Avenir Next Regular"/>
                          <a:cs typeface="Avenir Next Regular"/>
                          <a:sym typeface="Avenir Next Regular"/>
                        </a:rPr>
                        <a:t>Nested PTB result</a:t>
                      </a:r>
                    </a:p>
                  </a:txBody>
                  <a:tcPr marL="50800" marR="50800" marT="50800" marB="50800" anchor="ctr" anchorCtr="0" horzOverflow="overflow">
                    <a:solidFill>
                      <a:srgbClr val="1D4260"/>
                    </a:solidFill>
                  </a:tcPr>
                </a:tc>
                <a:tc>
                  <a:txBody>
                    <a:bodyPr/>
                    <a:lstStyle/>
                    <a:p>
                      <a:pPr defTabSz="914400">
                        <a:tabLst>
                          <a:tab pos="1663700" algn="l"/>
                        </a:tabLst>
                        <a:defRPr b="0"/>
                      </a:pPr>
                      <a:r>
                        <a:rPr sz="3500">
                          <a:solidFill>
                            <a:srgbClr val="FFFFFF"/>
                          </a:solidFill>
                          <a:latin typeface="Avenir Next Regular"/>
                          <a:ea typeface="Avenir Next Regular"/>
                          <a:cs typeface="Avenir Next Regular"/>
                          <a:sym typeface="Avenir Next Regular"/>
                        </a:rPr>
                        <a:t>Tucker + XGBoost</a:t>
                      </a:r>
                    </a:p>
                  </a:txBody>
                  <a:tcPr marL="50800" marR="50800" marT="50800" marB="50800" anchor="ctr" anchorCtr="0" horzOverflow="overflow">
                    <a:solidFill>
                      <a:srgbClr val="1D4260"/>
                    </a:solidFill>
                  </a:tcPr>
                </a:tc>
                <a:tc>
                  <a:txBody>
                    <a:bodyPr/>
                    <a:lstStyle/>
                    <a:p>
                      <a:pPr defTabSz="914400">
                        <a:tabLst>
                          <a:tab pos="1663700" algn="l"/>
                        </a:tabLst>
                        <a:defRPr b="0"/>
                      </a:pPr>
                      <a:r>
                        <a:rPr sz="3500">
                          <a:solidFill>
                            <a:srgbClr val="FFFFFF"/>
                          </a:solidFill>
                          <a:latin typeface="Avenir Next Regular"/>
                          <a:ea typeface="Avenir Next Regular"/>
                          <a:cs typeface="Avenir Next Regular"/>
                          <a:sym typeface="Avenir Next Regular"/>
                        </a:rPr>
                        <a:t>Statistics + XGBoost</a:t>
                      </a:r>
                    </a:p>
                  </a:txBody>
                  <a:tcPr marL="50800" marR="50800" marT="50800" marB="50800" anchor="ctr" anchorCtr="0" horzOverflow="overflow">
                    <a:solidFill>
                      <a:srgbClr val="1D4260"/>
                    </a:solidFill>
                  </a:tcPr>
                </a:tc>
              </a:tr>
              <a:tr h="1333500">
                <a:tc>
                  <a:txBody>
                    <a:bodyPr/>
                    <a:lstStyle/>
                    <a:p>
                      <a:pPr defTabSz="914400"/>
                      <a:r>
                        <a:rPr sz="3500">
                          <a:solidFill>
                            <a:srgbClr val="1D4260"/>
                          </a:solidFill>
                          <a:latin typeface="Avenir Next Regular"/>
                          <a:ea typeface="Avenir Next Regular"/>
                          <a:cs typeface="Avenir Next Regular"/>
                          <a:sym typeface="Avenir Next Regular"/>
                        </a:rPr>
                        <a:t>Patient macro F1</a:t>
                      </a:r>
                    </a:p>
                  </a:txBody>
                  <a:tcPr marL="50800" marR="50800" marT="50800" marB="50800" anchor="ctr" anchorCtr="0" horzOverflow="overflow">
                    <a:solidFill>
                      <a:srgbClr val="F4F8F9"/>
                    </a:solidFill>
                  </a:tcPr>
                </a:tc>
                <a:tc>
                  <a:txBody>
                    <a:bodyPr/>
                    <a:lstStyle/>
                    <a:p>
                      <a:pPr defTabSz="914400"/>
                      <a:r>
                        <a:rPr sz="3500">
                          <a:solidFill>
                            <a:srgbClr val="1D4260"/>
                          </a:solidFill>
                          <a:latin typeface="Avenir Next Regular"/>
                          <a:ea typeface="Avenir Next Regular"/>
                          <a:cs typeface="Avenir Next Regular"/>
                          <a:sym typeface="Avenir Next Regular"/>
                        </a:rPr>
                        <a:t>0.403</a:t>
                      </a:r>
                    </a:p>
                  </a:txBody>
                  <a:tcPr marL="50800" marR="50800" marT="50800" marB="50800" anchor="ctr" anchorCtr="0" horzOverflow="overflow">
                    <a:solidFill>
                      <a:srgbClr val="F4F8F9"/>
                    </a:solidFill>
                  </a:tcPr>
                </a:tc>
                <a:tc>
                  <a:txBody>
                    <a:bodyPr/>
                    <a:lstStyle/>
                    <a:p>
                      <a:pPr defTabSz="914400"/>
                      <a:r>
                        <a:rPr sz="3500">
                          <a:solidFill>
                            <a:srgbClr val="1D4260"/>
                          </a:solidFill>
                          <a:latin typeface="Avenir Next Regular"/>
                          <a:ea typeface="Avenir Next Regular"/>
                          <a:cs typeface="Avenir Next Regular"/>
                          <a:sym typeface="Avenir Next Regular"/>
                        </a:rPr>
                        <a:t>0.487</a:t>
                      </a:r>
                    </a:p>
                  </a:txBody>
                  <a:tcPr marL="50800" marR="50800" marT="50800" marB="50800" anchor="ctr" anchorCtr="0" horzOverflow="overflow">
                    <a:solidFill>
                      <a:srgbClr val="F4F8F9"/>
                    </a:solidFill>
                  </a:tcPr>
                </a:tc>
              </a:tr>
              <a:tr h="1333500">
                <a:tc>
                  <a:txBody>
                    <a:bodyPr/>
                    <a:lstStyle/>
                    <a:p>
                      <a:pPr defTabSz="914400"/>
                      <a:r>
                        <a:rPr sz="3500">
                          <a:solidFill>
                            <a:srgbClr val="1D4260"/>
                          </a:solidFill>
                          <a:latin typeface="Avenir Next Regular"/>
                          <a:ea typeface="Avenir Next Regular"/>
                          <a:cs typeface="Avenir Next Regular"/>
                          <a:sym typeface="Avenir Next Regular"/>
                        </a:rPr>
                        <a:t>Patient accuracy</a:t>
                      </a:r>
                    </a:p>
                  </a:txBody>
                  <a:tcPr marL="50800" marR="50800" marT="50800" marB="50800" anchor="ctr" anchorCtr="0" horzOverflow="overflow">
                    <a:solidFill>
                      <a:srgbClr val="FFFFFF"/>
                    </a:solidFill>
                  </a:tcPr>
                </a:tc>
                <a:tc>
                  <a:txBody>
                    <a:bodyPr/>
                    <a:lstStyle/>
                    <a:p>
                      <a:pPr defTabSz="914400"/>
                      <a:r>
                        <a:rPr sz="3500">
                          <a:solidFill>
                            <a:srgbClr val="1D4260"/>
                          </a:solidFill>
                          <a:latin typeface="Avenir Next Regular"/>
                          <a:ea typeface="Avenir Next Regular"/>
                          <a:cs typeface="Avenir Next Regular"/>
                          <a:sym typeface="Avenir Next Regular"/>
                        </a:rPr>
                        <a:t>46.95%</a:t>
                      </a:r>
                    </a:p>
                  </a:txBody>
                  <a:tcPr marL="50800" marR="50800" marT="50800" marB="50800" anchor="ctr" anchorCtr="0" horzOverflow="overflow">
                    <a:solidFill>
                      <a:srgbClr val="FFFFFF"/>
                    </a:solidFill>
                  </a:tcPr>
                </a:tc>
                <a:tc>
                  <a:txBody>
                    <a:bodyPr/>
                    <a:lstStyle/>
                    <a:p>
                      <a:pPr defTabSz="914400"/>
                      <a:r>
                        <a:rPr sz="3500">
                          <a:solidFill>
                            <a:srgbClr val="1D4260"/>
                          </a:solidFill>
                          <a:latin typeface="Avenir Next Regular"/>
                          <a:ea typeface="Avenir Next Regular"/>
                          <a:cs typeface="Avenir Next Regular"/>
                          <a:sym typeface="Avenir Next Regular"/>
                        </a:rPr>
                        <a:t>54.88%</a:t>
                      </a:r>
                    </a:p>
                  </a:txBody>
                  <a:tcPr marL="50800" marR="50800" marT="50800" marB="50800" anchor="ctr" anchorCtr="0" horzOverflow="overflow">
                    <a:solidFill>
                      <a:srgbClr val="FFFFFF"/>
                    </a:solidFill>
                  </a:tcPr>
                </a:tc>
              </a:tr>
            </a:tbl>
          </a:graphicData>
        </a:graphic>
      </p:graphicFrame>
      <p:sp>
        <p:nvSpPr>
          <p:cNvPr id="257" name="Gain: +0.084 macro F1"/>
          <p:cNvSpPr txBox="1"/>
          <p:nvPr/>
        </p:nvSpPr>
        <p:spPr>
          <a:xfrm>
            <a:off x="1270000" y="10864850"/>
            <a:ext cx="20955000" cy="7493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3700">
                <a:solidFill>
                  <a:srgbClr val="00919E"/>
                </a:solidFill>
                <a:latin typeface="Avenir Next Demi Bold"/>
                <a:ea typeface="Avenir Next Demi Bold"/>
                <a:cs typeface="Avenir Next Demi Bold"/>
                <a:sym typeface="Avenir Next Demi Bold"/>
              </a:defRPr>
            </a:lvl1pPr>
          </a:lstStyle>
          <a:p>
            <a:pPr/>
            <a:r>
              <a:t>Gain: +0.084 macro F1</a:t>
            </a:r>
          </a:p>
        </p:txBody>
      </p:sp>
      <p:sp>
        <p:nvSpPr>
          <p:cNvPr id="258" name="Representation selection used these PTB folds. Fresh confirmation is still needed"/>
          <p:cNvSpPr txBox="1"/>
          <p:nvPr/>
        </p:nvSpPr>
        <p:spPr>
          <a:xfrm>
            <a:off x="1270000" y="11547891"/>
            <a:ext cx="20320001" cy="5715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2700">
                <a:solidFill>
                  <a:srgbClr val="657B8B"/>
                </a:solidFill>
                <a:latin typeface="Avenir Next Regular"/>
                <a:ea typeface="Avenir Next Regular"/>
                <a:cs typeface="Avenir Next Regular"/>
                <a:sym typeface="Avenir Next Regular"/>
              </a:defRPr>
            </a:lvl1pPr>
          </a:lstStyle>
          <a:p>
            <a:pPr/>
            <a:r>
              <a:t>Representation selection used these PTB folds. Fresh confirmation is still needed</a:t>
            </a:r>
          </a:p>
        </p:txBody>
      </p:sp>
    </p:spTree>
  </p:cSld>
  <p:clrMapOvr>
    <a:masterClrMapping/>
  </p:clrMapOvr>
  <p:transition spd="med" advClick="1"/>
</p:sld>
</file>

<file path=ppt/slides/slide11.xml><?xml version="1.0" encoding="utf-8"?>
<p:sld xmlns:a="http://schemas.openxmlformats.org/drawingml/2006/main" xmlns:ns2="http://schemas.microsoft.com/office/mac/drawingml/2011/main" xmlns:p="http://schemas.openxmlformats.org/presentationml/2006/main" showMasterSp="1" showMasterPhAnim="1">
  <p:cSld>
    <p:spTree>
      <p:nvGrpSpPr>
        <p:cNvPr id="1" name=""/>
        <p:cNvGrpSpPr/>
        <p:nvPr/>
      </p:nvGrpSpPr>
      <p:grpSpPr>
        <a:xfrm>
          <a:off x="0" y="0"/>
          <a:ext cx="0" cy="0"/>
          <a:chOff x="0" y="0"/>
          <a:chExt cx="0" cy="0"/>
        </a:xfrm>
      </p:grpSpPr>
      <p:sp>
        <p:nvSpPr>
          <p:cNvPr id="262" name="Locked external validation on PTB-XL"/>
          <p:cNvSpPr txBox="1"/>
          <p:nvPr/>
        </p:nvSpPr>
        <p:spPr>
          <a:xfrm>
            <a:off x="1270000" y="1060449"/>
            <a:ext cx="21844000" cy="12446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6600">
                <a:solidFill>
                  <a:srgbClr val="1D4260"/>
                </a:solidFill>
                <a:latin typeface="Avenir Next Demi Bold"/>
                <a:ea typeface="Avenir Next Demi Bold"/>
                <a:cs typeface="Avenir Next Demi Bold"/>
                <a:sym typeface="Avenir Next Demi Bold"/>
              </a:defRPr>
            </a:lvl1pPr>
          </a:lstStyle>
          <a:p>
            <a:pPr/>
            <a:r>
              <a:t>Locked external validation on PTB-XL</a:t>
            </a:r>
          </a:p>
        </p:txBody>
      </p:sp>
      <p:sp>
        <p:nvSpPr>
          <p:cNvPr id="263" name="11"/>
          <p:cNvSpPr txBox="1"/>
          <p:nvPr/>
        </p:nvSpPr>
        <p:spPr>
          <a:xfrm>
            <a:off x="20827999" y="12738099"/>
            <a:ext cx="2286001" cy="4953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2300">
                <a:solidFill>
                  <a:srgbClr val="657B8B"/>
                </a:solidFill>
                <a:latin typeface="Avenir Next Regular"/>
                <a:ea typeface="Avenir Next Regular"/>
                <a:cs typeface="Avenir Next Regular"/>
                <a:sym typeface="Avenir Next Regular"/>
              </a:defRPr>
            </a:lvl1pPr>
          </a:lstStyle>
          <a:p>
            <a:pPr/>
            <a:r>
              <a:t>11</a:t>
            </a:r>
          </a:p>
        </p:txBody>
      </p:sp>
      <p:sp>
        <p:nvSpPr>
          <p:cNvPr id="264" name="1,092"/>
          <p:cNvSpPr txBox="1"/>
          <p:nvPr/>
        </p:nvSpPr>
        <p:spPr>
          <a:xfrm>
            <a:off x="1269999" y="3098800"/>
            <a:ext cx="9652001" cy="18034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9800">
                <a:solidFill>
                  <a:srgbClr val="00919E"/>
                </a:solidFill>
                <a:latin typeface="Avenir Next Demi Bold"/>
                <a:ea typeface="Avenir Next Demi Bold"/>
                <a:cs typeface="Avenir Next Demi Bold"/>
                <a:sym typeface="Avenir Next Demi Bold"/>
              </a:defRPr>
            </a:lvl1pPr>
          </a:lstStyle>
          <a:p>
            <a:pPr/>
            <a:r>
              <a:t>1,092</a:t>
            </a:r>
          </a:p>
        </p:txBody>
      </p:sp>
      <p:sp>
        <p:nvSpPr>
          <p:cNvPr id="265" name="external test patients"/>
          <p:cNvSpPr txBox="1"/>
          <p:nvPr/>
        </p:nvSpPr>
        <p:spPr>
          <a:xfrm>
            <a:off x="1270000" y="5105399"/>
            <a:ext cx="9652001" cy="7747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3900">
                <a:solidFill>
                  <a:srgbClr val="1D4260"/>
                </a:solidFill>
                <a:latin typeface="Avenir Next Regular"/>
                <a:ea typeface="Avenir Next Regular"/>
                <a:cs typeface="Avenir Next Regular"/>
                <a:sym typeface="Avenir Next Regular"/>
              </a:defRPr>
            </a:lvl1pPr>
          </a:lstStyle>
          <a:p>
            <a:pPr/>
            <a:r>
              <a:t>external test patients</a:t>
            </a:r>
          </a:p>
        </p:txBody>
      </p:sp>
      <p:sp>
        <p:nvSpPr>
          <p:cNvPr id="266" name="0.242"/>
          <p:cNvSpPr txBox="1"/>
          <p:nvPr/>
        </p:nvSpPr>
        <p:spPr>
          <a:xfrm>
            <a:off x="13589000" y="3098800"/>
            <a:ext cx="9144000" cy="18034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9800">
                <a:solidFill>
                  <a:srgbClr val="BB6A38"/>
                </a:solidFill>
                <a:latin typeface="Avenir Next Demi Bold"/>
                <a:ea typeface="Avenir Next Demi Bold"/>
                <a:cs typeface="Avenir Next Demi Bold"/>
                <a:sym typeface="Avenir Next Demi Bold"/>
              </a:defRPr>
            </a:lvl1pPr>
          </a:lstStyle>
          <a:p>
            <a:pPr/>
            <a:r>
              <a:t>0.242</a:t>
            </a:r>
          </a:p>
        </p:txBody>
      </p:sp>
      <p:sp>
        <p:nvSpPr>
          <p:cNvPr id="267" name="patient macro F1"/>
          <p:cNvSpPr txBox="1"/>
          <p:nvPr/>
        </p:nvSpPr>
        <p:spPr>
          <a:xfrm>
            <a:off x="13589000" y="5105399"/>
            <a:ext cx="9144001" cy="7747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3900">
                <a:solidFill>
                  <a:srgbClr val="1D4260"/>
                </a:solidFill>
                <a:latin typeface="Avenir Next Regular"/>
                <a:ea typeface="Avenir Next Regular"/>
                <a:cs typeface="Avenir Next Regular"/>
                <a:sym typeface="Avenir Next Regular"/>
              </a:defRPr>
            </a:lvl1pPr>
          </a:lstStyle>
          <a:p>
            <a:pPr/>
            <a:r>
              <a:t>patient macro F1</a:t>
            </a:r>
          </a:p>
        </p:txBody>
      </p:sp>
      <p:sp>
        <p:nvSpPr>
          <p:cNvPr id="268" name="12-lead ECG, Kors-derived XYZ, shared beat and feature pipeline"/>
          <p:cNvSpPr txBox="1"/>
          <p:nvPr/>
        </p:nvSpPr>
        <p:spPr>
          <a:xfrm>
            <a:off x="1270000" y="7048499"/>
            <a:ext cx="21590001" cy="7620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3800">
                <a:solidFill>
                  <a:srgbClr val="1D4260"/>
                </a:solidFill>
                <a:latin typeface="Avenir Next Regular"/>
                <a:ea typeface="Avenir Next Regular"/>
                <a:cs typeface="Avenir Next Regular"/>
                <a:sym typeface="Avenir Next Regular"/>
              </a:defRPr>
            </a:lvl1pPr>
          </a:lstStyle>
          <a:p>
            <a:pPr/>
            <a:r>
              <a:t>12-lead ECG, Kors-derived XYZ, shared beat and feature pipeline</a:t>
            </a:r>
          </a:p>
        </p:txBody>
      </p:sp>
      <p:graphicFrame>
        <p:nvGraphicFramePr>
          <p:cNvPr id="269" name="Table 1"/>
          <p:cNvGraphicFramePr/>
          <p:nvPr/>
        </p:nvGraphicFramePr>
        <p:xfrm>
          <a:off x="1270000" y="8445500"/>
          <a:ext cx="10922000" cy="11176000"/>
        </p:xfrm>
        <a:graphic>
          <a:graphicData uri="http://schemas.openxmlformats.org/drawingml/2006/table">
            <a:tbl>
              <a:tblPr firstCol="0" firstRow="1" lastCol="0" lastRow="0" bandCol="0" bandRow="0" rtl="0">
                <a:tableStyleId>{4C3C2611-4C71-4FC5-86AE-919BDF0F9419}</a:tableStyleId>
              </a:tblPr>
              <a:tblGrid>
                <a:gridCol w="8382000"/>
                <a:gridCol w="6731000"/>
                <a:gridCol w="6731000"/>
              </a:tblGrid>
              <a:tr h="1295400">
                <a:tc>
                  <a:txBody>
                    <a:bodyPr/>
                    <a:lstStyle/>
                    <a:p>
                      <a:pPr defTabSz="914400">
                        <a:tabLst>
                          <a:tab pos="1663700" algn="l"/>
                        </a:tabLst>
                        <a:defRPr b="0"/>
                      </a:pPr>
                      <a:r>
                        <a:rPr sz="3800">
                          <a:solidFill>
                            <a:srgbClr val="FFFFFF"/>
                          </a:solidFill>
                          <a:latin typeface="Avenir Next Regular"/>
                          <a:ea typeface="Avenir Next Regular"/>
                          <a:cs typeface="Avenir Next Regular"/>
                          <a:sym typeface="Avenir Next Regular"/>
                        </a:rPr>
                        <a:t>Patient accuracy</a:t>
                      </a:r>
                    </a:p>
                  </a:txBody>
                  <a:tcPr marL="50800" marR="50800" marT="50800" marB="50800" anchor="ctr" anchorCtr="0" horzOverflow="overflow">
                    <a:solidFill>
                      <a:srgbClr val="1D4260"/>
                    </a:solidFill>
                  </a:tcPr>
                </a:tc>
                <a:tc>
                  <a:txBody>
                    <a:bodyPr/>
                    <a:lstStyle/>
                    <a:p>
                      <a:pPr defTabSz="914400">
                        <a:tabLst>
                          <a:tab pos="1663700" algn="l"/>
                        </a:tabLst>
                        <a:defRPr b="0"/>
                      </a:pPr>
                      <a:r>
                        <a:rPr sz="3800">
                          <a:solidFill>
                            <a:srgbClr val="FFFFFF"/>
                          </a:solidFill>
                          <a:latin typeface="Avenir Next Regular"/>
                          <a:ea typeface="Avenir Next Regular"/>
                          <a:cs typeface="Avenir Next Regular"/>
                          <a:sym typeface="Avenir Next Regular"/>
                        </a:rPr>
                        <a:t>Model</a:t>
                      </a:r>
                    </a:p>
                  </a:txBody>
                  <a:tcPr marL="50800" marR="50800" marT="50800" marB="50800" anchor="ctr" anchorCtr="0" horzOverflow="overflow">
                    <a:solidFill>
                      <a:srgbClr val="1D4260"/>
                    </a:solidFill>
                  </a:tcPr>
                </a:tc>
                <a:tc>
                  <a:txBody>
                    <a:bodyPr/>
                    <a:lstStyle/>
                    <a:p>
                      <a:pPr defTabSz="914400">
                        <a:tabLst>
                          <a:tab pos="1663700" algn="l"/>
                        </a:tabLst>
                        <a:defRPr b="0"/>
                      </a:pPr>
                      <a:r>
                        <a:rPr sz="3800">
                          <a:solidFill>
                            <a:srgbClr val="FFFFFF"/>
                          </a:solidFill>
                          <a:latin typeface="Avenir Next Regular"/>
                          <a:ea typeface="Avenir Next Regular"/>
                          <a:cs typeface="Avenir Next Regular"/>
                          <a:sym typeface="Avenir Next Regular"/>
                        </a:rPr>
                        <a:t>Always healthy</a:t>
                      </a:r>
                    </a:p>
                  </a:txBody>
                  <a:tcPr marL="50800" marR="50800" marT="50800" marB="50800" anchor="ctr" anchorCtr="0" horzOverflow="overflow">
                    <a:solidFill>
                      <a:srgbClr val="1D4260"/>
                    </a:solidFill>
                  </a:tcPr>
                </a:tc>
              </a:tr>
              <a:tr h="1295400">
                <a:tc>
                  <a:txBody>
                    <a:bodyPr/>
                    <a:lstStyle/>
                    <a:p>
                      <a:pPr defTabSz="914400"/>
                      <a:r>
                        <a:rPr sz="3800">
                          <a:solidFill>
                            <a:srgbClr val="1D4260"/>
                          </a:solidFill>
                          <a:latin typeface="Avenir Next Regular"/>
                          <a:ea typeface="Avenir Next Regular"/>
                          <a:cs typeface="Avenir Next Regular"/>
                          <a:sym typeface="Avenir Next Regular"/>
                        </a:rPr>
                        <a:t>PTB-XL fold 10</a:t>
                      </a:r>
                    </a:p>
                  </a:txBody>
                  <a:tcPr marL="50800" marR="50800" marT="50800" marB="50800" anchor="ctr" anchorCtr="0" horzOverflow="overflow">
                    <a:solidFill>
                      <a:srgbClr val="F4F8F9"/>
                    </a:solidFill>
                  </a:tcPr>
                </a:tc>
                <a:tc>
                  <a:txBody>
                    <a:bodyPr/>
                    <a:lstStyle/>
                    <a:p>
                      <a:pPr defTabSz="914400"/>
                      <a:r>
                        <a:rPr sz="3800">
                          <a:solidFill>
                            <a:srgbClr val="1D4260"/>
                          </a:solidFill>
                          <a:latin typeface="Avenir Next Regular"/>
                          <a:ea typeface="Avenir Next Regular"/>
                          <a:cs typeface="Avenir Next Regular"/>
                          <a:sym typeface="Avenir Next Regular"/>
                        </a:rPr>
                        <a:t>56.23%</a:t>
                      </a:r>
                    </a:p>
                  </a:txBody>
                  <a:tcPr marL="50800" marR="50800" marT="50800" marB="50800" anchor="ctr" anchorCtr="0" horzOverflow="overflow">
                    <a:solidFill>
                      <a:srgbClr val="F4F8F9"/>
                    </a:solidFill>
                  </a:tcPr>
                </a:tc>
                <a:tc>
                  <a:txBody>
                    <a:bodyPr/>
                    <a:lstStyle/>
                    <a:p>
                      <a:pPr defTabSz="914400"/>
                      <a:r>
                        <a:rPr sz="3800">
                          <a:solidFill>
                            <a:srgbClr val="1D4260"/>
                          </a:solidFill>
                          <a:latin typeface="Avenir Next Regular"/>
                          <a:ea typeface="Avenir Next Regular"/>
                          <a:cs typeface="Avenir Next Regular"/>
                          <a:sym typeface="Avenir Next Regular"/>
                        </a:rPr>
                        <a:t>71.98%</a:t>
                      </a:r>
                    </a:p>
                  </a:txBody>
                  <a:tcPr marL="50800" marR="50800" marT="50800" marB="50800" anchor="ctr" anchorCtr="0" horzOverflow="overflow">
                    <a:solidFill>
                      <a:srgbClr val="F4F8F9"/>
                    </a:solidFill>
                  </a:tcPr>
                </a:tc>
              </a:tr>
            </a:tbl>
          </a:graphicData>
        </a:graphic>
      </p:graphicFrame>
      <p:sp>
        <p:nvSpPr>
          <p:cNvPr id="270" name="No PTB-XL tuning. Healthy controls comprise 72.0% of the strict cohort"/>
          <p:cNvSpPr txBox="1"/>
          <p:nvPr/>
        </p:nvSpPr>
        <p:spPr>
          <a:xfrm>
            <a:off x="1270000" y="11874499"/>
            <a:ext cx="20320000" cy="5715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2700">
                <a:solidFill>
                  <a:srgbClr val="657B8B"/>
                </a:solidFill>
                <a:latin typeface="Avenir Next Regular"/>
                <a:ea typeface="Avenir Next Regular"/>
                <a:cs typeface="Avenir Next Regular"/>
                <a:sym typeface="Avenir Next Regular"/>
              </a:defRPr>
            </a:lvl1pPr>
          </a:lstStyle>
          <a:p>
            <a:pPr/>
            <a:r>
              <a:t>No PTB-XL tuning. Healthy controls comprise 72.0% of the strict cohort</a:t>
            </a:r>
          </a:p>
        </p:txBody>
      </p:sp>
    </p:spTree>
  </p:cSld>
  <p:clrMapOvr>
    <a:masterClrMapping/>
  </p:clrMapOvr>
  <p:transition spd="med" advClick="1"/>
</p:sld>
</file>

<file path=ppt/slides/slide12.xml><?xml version="1.0" encoding="utf-8"?>
<p:sld xmlns:a="http://schemas.openxmlformats.org/drawingml/2006/main" xmlns:c="http://schemas.openxmlformats.org/drawingml/2006/chart" xmlns:ns2="http://schemas.microsoft.com/office/mac/drawingml/2011/main" xmlns:p="http://schemas.openxmlformats.org/presentationml/2006/main" xmlns:r="http://schemas.openxmlformats.org/officeDocument/2006/relationships" showMasterSp="1" showMasterPhAnim="1">
  <p:cSld>
    <p:spTree>
      <p:nvGrpSpPr>
        <p:cNvPr id="1" name=""/>
        <p:cNvGrpSpPr/>
        <p:nvPr/>
      </p:nvGrpSpPr>
      <p:grpSpPr>
        <a:xfrm>
          <a:off x="0" y="0"/>
          <a:ext cx="0" cy="0"/>
          <a:chOff x="0" y="0"/>
          <a:chExt cx="0" cy="0"/>
        </a:xfrm>
      </p:grpSpPr>
      <p:sp>
        <p:nvSpPr>
          <p:cNvPr id="274" name="Paired measured and derived VCG study"/>
          <p:cNvSpPr txBox="1"/>
          <p:nvPr/>
        </p:nvSpPr>
        <p:spPr>
          <a:xfrm>
            <a:off x="1270000" y="1060449"/>
            <a:ext cx="21844000" cy="12446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6600">
                <a:solidFill>
                  <a:srgbClr val="1D4260"/>
                </a:solidFill>
                <a:latin typeface="Avenir Next Demi Bold"/>
                <a:ea typeface="Avenir Next Demi Bold"/>
                <a:cs typeface="Avenir Next Demi Bold"/>
                <a:sym typeface="Avenir Next Demi Bold"/>
              </a:defRPr>
            </a:lvl1pPr>
          </a:lstStyle>
          <a:p>
            <a:pPr/>
            <a:r>
              <a:t>Paired measured and derived VCG study</a:t>
            </a:r>
          </a:p>
        </p:txBody>
      </p:sp>
      <p:sp>
        <p:nvSpPr>
          <p:cNvPr id="275" name="12"/>
          <p:cNvSpPr txBox="1"/>
          <p:nvPr/>
        </p:nvSpPr>
        <p:spPr>
          <a:xfrm>
            <a:off x="20827999" y="12738099"/>
            <a:ext cx="2286001" cy="4953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2300">
                <a:solidFill>
                  <a:srgbClr val="657B8B"/>
                </a:solidFill>
                <a:latin typeface="Avenir Next Regular"/>
                <a:ea typeface="Avenir Next Regular"/>
                <a:cs typeface="Avenir Next Regular"/>
                <a:sym typeface="Avenir Next Regular"/>
              </a:defRPr>
            </a:lvl1pPr>
          </a:lstStyle>
          <a:p>
            <a:pPr/>
            <a:r>
              <a:t>12</a:t>
            </a:r>
          </a:p>
        </p:txBody>
      </p:sp>
      <p:graphicFrame>
        <p:nvGraphicFramePr>
          <p:cNvPr id="276" name="2D Bar Chart"/>
          <p:cNvGraphicFramePr/>
          <p:nvPr/>
        </p:nvGraphicFramePr>
        <p:xfrm>
          <a:off x="-3279736" y="2615590"/>
          <a:ext cx="26820228" cy="7694942"/>
        </p:xfrm>
        <a:graphic>
          <a:graphicData uri="http://schemas.openxmlformats.org/drawingml/2006/chart">
            <c:chart r:id="rId3"/>
          </a:graphicData>
        </a:graphic>
      </p:graphicFrame>
      <p:sp>
        <p:nvSpPr>
          <p:cNvPr id="277" name="Estimated change: −0.046 macro F1"/>
          <p:cNvSpPr txBox="1"/>
          <p:nvPr/>
        </p:nvSpPr>
        <p:spPr>
          <a:xfrm>
            <a:off x="1270000" y="10483849"/>
            <a:ext cx="21844000" cy="8763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4500">
                <a:solidFill>
                  <a:srgbClr val="BB6A38"/>
                </a:solidFill>
                <a:latin typeface="Avenir Next Demi Bold"/>
                <a:ea typeface="Avenir Next Demi Bold"/>
                <a:cs typeface="Avenir Next Demi Bold"/>
                <a:sym typeface="Avenir Next Demi Bold"/>
              </a:defRPr>
            </a:lvl1pPr>
          </a:lstStyle>
          <a:p>
            <a:pPr/>
            <a:r>
              <a:t>Estimated change: −0.046 macro F1</a:t>
            </a:r>
          </a:p>
        </p:txBody>
      </p:sp>
      <p:sp>
        <p:nvSpPr>
          <p:cNvPr id="278" name="Training / test domains. Paired 95% interval: −0.108 to +0.017. Same patients and beats"/>
          <p:cNvSpPr txBox="1"/>
          <p:nvPr/>
        </p:nvSpPr>
        <p:spPr>
          <a:xfrm>
            <a:off x="1270000" y="11547891"/>
            <a:ext cx="20320000" cy="5715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2700">
                <a:solidFill>
                  <a:srgbClr val="657B8B"/>
                </a:solidFill>
                <a:latin typeface="Avenir Next Regular"/>
                <a:ea typeface="Avenir Next Regular"/>
                <a:cs typeface="Avenir Next Regular"/>
                <a:sym typeface="Avenir Next Regular"/>
              </a:defRPr>
            </a:lvl1pPr>
          </a:lstStyle>
          <a:p>
            <a:pPr/>
            <a:r>
              <a:t>Training / test domains. Paired 95% interval: −0.108 to +0.017. Same patients and beats</a:t>
            </a:r>
          </a:p>
        </p:txBody>
      </p:sp>
    </p:spTree>
  </p:cSld>
  <p:clrMapOvr>
    <a:masterClrMapping/>
  </p:clrMapOvr>
  <p:transition spd="med" advClick="1"/>
</p:sld>
</file>

<file path=ppt/slides/slide13.xml><?xml version="1.0" encoding="utf-8"?>
<p:sld xmlns:a="http://schemas.openxmlformats.org/drawingml/2006/main" xmlns:ns2="http://schemas.microsoft.com/office/mac/drawingml/2011/main" xmlns:p="http://schemas.openxmlformats.org/presentationml/2006/main" showMasterSp="1" showMasterPhAnim="1">
  <p:cSld>
    <p:spTree>
      <p:nvGrpSpPr>
        <p:cNvPr id="1" name=""/>
        <p:cNvGrpSpPr/>
        <p:nvPr/>
      </p:nvGrpSpPr>
      <p:grpSpPr>
        <a:xfrm>
          <a:off x="0" y="0"/>
          <a:ext cx="0" cy="0"/>
          <a:chOff x="0" y="0"/>
          <a:chExt cx="0" cy="0"/>
        </a:xfrm>
      </p:grpSpPr>
      <p:sp>
        <p:nvSpPr>
          <p:cNvPr id="282" name="Codebase and reproducible experiments"/>
          <p:cNvSpPr txBox="1"/>
          <p:nvPr/>
        </p:nvSpPr>
        <p:spPr>
          <a:xfrm>
            <a:off x="1270000" y="1060449"/>
            <a:ext cx="21844000" cy="12446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6600">
                <a:solidFill>
                  <a:srgbClr val="1D4260"/>
                </a:solidFill>
                <a:latin typeface="Avenir Next Demi Bold"/>
                <a:ea typeface="Avenir Next Demi Bold"/>
                <a:cs typeface="Avenir Next Demi Bold"/>
                <a:sym typeface="Avenir Next Demi Bold"/>
              </a:defRPr>
            </a:lvl1pPr>
          </a:lstStyle>
          <a:p>
            <a:pPr/>
            <a:r>
              <a:t>Codebase and reproducible experiments</a:t>
            </a:r>
          </a:p>
        </p:txBody>
      </p:sp>
      <p:sp>
        <p:nvSpPr>
          <p:cNvPr id="283" name="13"/>
          <p:cNvSpPr txBox="1"/>
          <p:nvPr/>
        </p:nvSpPr>
        <p:spPr>
          <a:xfrm>
            <a:off x="20827999" y="12738099"/>
            <a:ext cx="2286001" cy="4953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2300">
                <a:solidFill>
                  <a:srgbClr val="657B8B"/>
                </a:solidFill>
                <a:latin typeface="Avenir Next Regular"/>
                <a:ea typeface="Avenir Next Regular"/>
                <a:cs typeface="Avenir Next Regular"/>
                <a:sym typeface="Avenir Next Regular"/>
              </a:defRPr>
            </a:lvl1pPr>
          </a:lstStyle>
          <a:p>
            <a:pPr/>
            <a:r>
              <a:t>13</a:t>
            </a:r>
          </a:p>
        </p:txBody>
      </p:sp>
      <p:sp>
        <p:nvSpPr>
          <p:cNvPr id="284" name="Python package"/>
          <p:cNvSpPr txBox="1"/>
          <p:nvPr/>
        </p:nvSpPr>
        <p:spPr>
          <a:xfrm>
            <a:off x="1269999" y="3130549"/>
            <a:ext cx="9525001" cy="9144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4700">
                <a:solidFill>
                  <a:srgbClr val="00919E"/>
                </a:solidFill>
                <a:latin typeface="Avenir Next Demi Bold"/>
                <a:ea typeface="Avenir Next Demi Bold"/>
                <a:cs typeface="Avenir Next Demi Bold"/>
                <a:sym typeface="Avenir Next Demi Bold"/>
              </a:defRPr>
            </a:lvl1pPr>
          </a:lstStyle>
          <a:p>
            <a:pPr/>
            <a:r>
              <a:t>Python package</a:t>
            </a:r>
          </a:p>
        </p:txBody>
      </p:sp>
      <p:sp>
        <p:nvSpPr>
          <p:cNvPr id="285" name="data.py and signal.py…"/>
          <p:cNvSpPr txBox="1"/>
          <p:nvPr/>
        </p:nvSpPr>
        <p:spPr>
          <a:xfrm>
            <a:off x="1269999" y="4688205"/>
            <a:ext cx="10668001" cy="4212590"/>
          </a:xfrm>
          <a:prstGeom prst="rect">
            <a:avLst/>
          </a:prstGeom>
          <a:ln w="12700">
            <a:miter lim="400000"/>
          </a:ln>
          <a:extLst>
            <a:ext uri="{C572A759-6A51-4108-AA02-DFA0A04FC94B}">
              <ns2:wrappingTextBoxFlag val="1"/>
            </a:ext>
          </a:extLst>
        </p:spPr>
        <p:txBody>
          <a:bodyPr lIns="50800" tIns="50800" rIns="50800" bIns="50800" anchor="ctr">
            <a:spAutoFit/>
          </a:bodyPr>
          <a:lstStyle/>
          <a:p>
            <a:pPr>
              <a:defRPr sz="3700">
                <a:solidFill>
                  <a:srgbClr val="1D4260"/>
                </a:solidFill>
                <a:latin typeface="Avenir Next Regular"/>
                <a:ea typeface="Avenir Next Regular"/>
                <a:cs typeface="Avenir Next Regular"/>
                <a:sym typeface="Avenir Next Regular"/>
              </a:defRPr>
            </a:pPr>
            <a:r>
              <a:t>data.py and signal.py</a:t>
            </a:r>
          </a:p>
          <a:p>
            <a:pPr>
              <a:defRPr sz="3700">
                <a:solidFill>
                  <a:srgbClr val="1D4260"/>
                </a:solidFill>
                <a:latin typeface="Avenir Next Regular"/>
                <a:ea typeface="Avenir Next Regular"/>
                <a:cs typeface="Avenir Next Regular"/>
                <a:sym typeface="Avenir Next Regular"/>
              </a:defRPr>
            </a:pPr>
            <a:r>
              <a:t>features.py and evaluation.py</a:t>
            </a:r>
          </a:p>
          <a:p>
            <a:pPr>
              <a:defRPr sz="3700">
                <a:solidFill>
                  <a:srgbClr val="1D4260"/>
                </a:solidFill>
                <a:latin typeface="Avenir Next Regular"/>
                <a:ea typeface="Avenir Next Regular"/>
                <a:cs typeface="Avenir Next Regular"/>
                <a:sym typeface="Avenir Next Regular"/>
              </a:defRPr>
            </a:pPr>
            <a:r>
              <a:t>benchmark.py and ablation.py</a:t>
            </a:r>
          </a:p>
          <a:p>
            <a:pPr>
              <a:defRPr sz="3700">
                <a:solidFill>
                  <a:srgbClr val="1D4260"/>
                </a:solidFill>
                <a:latin typeface="Avenir Next Regular"/>
                <a:ea typeface="Avenir Next Regular"/>
                <a:cs typeface="Avenir Next Regular"/>
                <a:sym typeface="Avenir Next Regular"/>
              </a:defRPr>
            </a:pPr>
            <a:r>
              <a:t>external.py and domain_shift.py</a:t>
            </a:r>
          </a:p>
        </p:txBody>
      </p:sp>
      <p:sp>
        <p:nvSpPr>
          <p:cNvPr id="286" name="Repeatable experiments"/>
          <p:cNvSpPr txBox="1"/>
          <p:nvPr/>
        </p:nvSpPr>
        <p:spPr>
          <a:xfrm>
            <a:off x="13208000" y="3130549"/>
            <a:ext cx="9906000" cy="9144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4700">
                <a:solidFill>
                  <a:srgbClr val="00919E"/>
                </a:solidFill>
                <a:latin typeface="Avenir Next Demi Bold"/>
                <a:ea typeface="Avenir Next Demi Bold"/>
                <a:cs typeface="Avenir Next Demi Bold"/>
                <a:sym typeface="Avenir Next Demi Bold"/>
              </a:defRPr>
            </a:lvl1pPr>
          </a:lstStyle>
          <a:p>
            <a:pPr/>
            <a:r>
              <a:t>Repeatable experiments</a:t>
            </a:r>
          </a:p>
        </p:txBody>
      </p:sp>
      <p:sp>
        <p:nvSpPr>
          <p:cNvPr id="287" name="Saved YAML settings and patient folds…"/>
          <p:cNvSpPr txBox="1"/>
          <p:nvPr/>
        </p:nvSpPr>
        <p:spPr>
          <a:xfrm>
            <a:off x="13208000" y="3971488"/>
            <a:ext cx="9906000" cy="4212591"/>
          </a:xfrm>
          <a:prstGeom prst="rect">
            <a:avLst/>
          </a:prstGeom>
          <a:ln w="12700">
            <a:miter lim="400000"/>
          </a:ln>
          <a:extLst>
            <a:ext uri="{C572A759-6A51-4108-AA02-DFA0A04FC94B}">
              <ns2:wrappingTextBoxFlag val="1"/>
            </a:ext>
          </a:extLst>
        </p:spPr>
        <p:txBody>
          <a:bodyPr lIns="50800" tIns="50800" rIns="50800" bIns="50800" anchor="ctr">
            <a:spAutoFit/>
          </a:bodyPr>
          <a:lstStyle/>
          <a:p>
            <a:pPr>
              <a:defRPr sz="3700">
                <a:solidFill>
                  <a:srgbClr val="1D4260"/>
                </a:solidFill>
                <a:latin typeface="Avenir Next Regular"/>
                <a:ea typeface="Avenir Next Regular"/>
                <a:cs typeface="Avenir Next Regular"/>
                <a:sym typeface="Avenir Next Regular"/>
              </a:defRPr>
            </a:pPr>
            <a:r>
              <a:t>Saved YAML settings and patient folds</a:t>
            </a:r>
          </a:p>
          <a:p>
            <a:pPr>
              <a:defRPr sz="3700">
                <a:solidFill>
                  <a:srgbClr val="1D4260"/>
                </a:solidFill>
                <a:latin typeface="Avenir Next Regular"/>
                <a:ea typeface="Avenir Next Regular"/>
                <a:cs typeface="Avenir Next Regular"/>
                <a:sym typeface="Avenir Next Regular"/>
              </a:defRPr>
            </a:pPr>
            <a:r>
              <a:t>Cached feature banks</a:t>
            </a:r>
          </a:p>
          <a:p>
            <a:pPr>
              <a:defRPr sz="3700">
                <a:solidFill>
                  <a:srgbClr val="1D4260"/>
                </a:solidFill>
                <a:latin typeface="Avenir Next Regular"/>
                <a:ea typeface="Avenir Next Regular"/>
                <a:cs typeface="Avenir Next Regular"/>
                <a:sym typeface="Avenir Next Regular"/>
              </a:defRPr>
            </a:pPr>
            <a:r>
              <a:t>Predictions, metrics and confusion matrices</a:t>
            </a:r>
          </a:p>
          <a:p>
            <a:pPr>
              <a:defRPr sz="3700">
                <a:solidFill>
                  <a:srgbClr val="1D4260"/>
                </a:solidFill>
                <a:latin typeface="Avenir Next Regular"/>
                <a:ea typeface="Avenir Next Regular"/>
                <a:cs typeface="Avenir Next Regular"/>
                <a:sym typeface="Avenir Next Regular"/>
              </a:defRPr>
            </a:pPr>
            <a:r>
              <a:t>15 automated tests passing</a:t>
            </a:r>
          </a:p>
        </p:txBody>
      </p:sp>
      <p:sp>
        <p:nvSpPr>
          <p:cNvPr id="288" name="mi-localization run --mode both…"/>
          <p:cNvSpPr txBox="1"/>
          <p:nvPr/>
        </p:nvSpPr>
        <p:spPr>
          <a:xfrm>
            <a:off x="1270000" y="9895840"/>
            <a:ext cx="21717000" cy="1734821"/>
          </a:xfrm>
          <a:prstGeom prst="rect">
            <a:avLst/>
          </a:prstGeom>
          <a:ln w="12700">
            <a:miter lim="400000"/>
          </a:ln>
          <a:extLst>
            <a:ext uri="{C572A759-6A51-4108-AA02-DFA0A04FC94B}">
              <ns2:wrappingTextBoxFlag val="1"/>
            </a:ext>
          </a:extLst>
        </p:spPr>
        <p:txBody>
          <a:bodyPr lIns="50800" tIns="50800" rIns="50800" bIns="50800" anchor="ctr">
            <a:spAutoFit/>
          </a:bodyPr>
          <a:lstStyle/>
          <a:p>
            <a:pPr>
              <a:defRPr sz="3200">
                <a:solidFill>
                  <a:srgbClr val="1D4260"/>
                </a:solidFill>
                <a:latin typeface="Avenir Next Regular"/>
                <a:ea typeface="Avenir Next Regular"/>
                <a:cs typeface="Avenir Next Regular"/>
                <a:sym typeface="Avenir Next Regular"/>
              </a:defRPr>
            </a:pPr>
            <a:r>
              <a:t>mi-localization run --mode both</a:t>
            </a:r>
          </a:p>
          <a:p>
            <a:pPr>
              <a:defRPr sz="3200">
                <a:solidFill>
                  <a:srgbClr val="1D4260"/>
                </a:solidFill>
                <a:latin typeface="Avenir Next Regular"/>
                <a:ea typeface="Avenir Next Regular"/>
                <a:cs typeface="Avenir Next Regular"/>
                <a:sym typeface="Avenir Next Regular"/>
              </a:defRPr>
            </a:pPr>
            <a:r>
              <a:t>mi-localization benchmark --models rf svm xgboost</a:t>
            </a:r>
          </a:p>
        </p:txBody>
      </p:sp>
      <p:sp>
        <p:nvSpPr>
          <p:cNvPr id="289" name="github.com/Kumaryan12/major_project"/>
          <p:cNvSpPr txBox="1"/>
          <p:nvPr/>
        </p:nvSpPr>
        <p:spPr>
          <a:xfrm>
            <a:off x="1270000" y="11874499"/>
            <a:ext cx="20320001" cy="5715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2700">
                <a:solidFill>
                  <a:srgbClr val="657B8B"/>
                </a:solidFill>
                <a:latin typeface="Avenir Next Regular"/>
                <a:ea typeface="Avenir Next Regular"/>
                <a:cs typeface="Avenir Next Regular"/>
                <a:sym typeface="Avenir Next Regular"/>
              </a:defRPr>
            </a:lvl1pPr>
          </a:lstStyle>
          <a:p>
            <a:pPr/>
            <a:r>
              <a:t>github.com/Kumaryan12/major_project</a:t>
            </a:r>
          </a:p>
        </p:txBody>
      </p:sp>
    </p:spTree>
  </p:cSld>
  <p:clrMapOvr>
    <a:masterClrMapping/>
  </p:clrMapOvr>
  <p:transition spd="med" advClick="1"/>
</p:sld>
</file>

<file path=ppt/slides/slide14.xml><?xml version="1.0" encoding="utf-8"?>
<p:sld xmlns:a="http://schemas.openxmlformats.org/drawingml/2006/main" xmlns:ns2="http://schemas.microsoft.com/office/mac/drawingml/2011/main" xmlns:p="http://schemas.openxmlformats.org/presentationml/2006/main" showMasterSp="1" showMasterPhAnim="1">
  <p:cSld>
    <p:spTree>
      <p:nvGrpSpPr>
        <p:cNvPr id="1" name=""/>
        <p:cNvGrpSpPr/>
        <p:nvPr/>
      </p:nvGrpSpPr>
      <p:grpSpPr>
        <a:xfrm>
          <a:off x="0" y="0"/>
          <a:ext cx="0" cy="0"/>
          <a:chOff x="0" y="0"/>
          <a:chExt cx="0" cy="0"/>
        </a:xfrm>
      </p:grpSpPr>
      <p:sp>
        <p:nvSpPr>
          <p:cNvPr id="293" name="Completed work and next milestone"/>
          <p:cNvSpPr txBox="1"/>
          <p:nvPr/>
        </p:nvSpPr>
        <p:spPr>
          <a:xfrm>
            <a:off x="1270000" y="1060449"/>
            <a:ext cx="21844000" cy="12446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6600">
                <a:solidFill>
                  <a:srgbClr val="1D4260"/>
                </a:solidFill>
                <a:latin typeface="Avenir Next Demi Bold"/>
                <a:ea typeface="Avenir Next Demi Bold"/>
                <a:cs typeface="Avenir Next Demi Bold"/>
                <a:sym typeface="Avenir Next Demi Bold"/>
              </a:defRPr>
            </a:lvl1pPr>
          </a:lstStyle>
          <a:p>
            <a:pPr/>
            <a:r>
              <a:t>Completed work and next milestone</a:t>
            </a:r>
          </a:p>
        </p:txBody>
      </p:sp>
      <p:sp>
        <p:nvSpPr>
          <p:cNvPr id="294" name="14"/>
          <p:cNvSpPr txBox="1"/>
          <p:nvPr/>
        </p:nvSpPr>
        <p:spPr>
          <a:xfrm>
            <a:off x="20827999" y="12738099"/>
            <a:ext cx="2286001" cy="4953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2300">
                <a:solidFill>
                  <a:srgbClr val="657B8B"/>
                </a:solidFill>
                <a:latin typeface="Avenir Next Regular"/>
                <a:ea typeface="Avenir Next Regular"/>
                <a:cs typeface="Avenir Next Regular"/>
                <a:sym typeface="Avenir Next Regular"/>
              </a:defRPr>
            </a:lvl1pPr>
          </a:lstStyle>
          <a:p>
            <a:pPr/>
            <a:r>
              <a:t>14</a:t>
            </a:r>
          </a:p>
        </p:txBody>
      </p:sp>
      <p:sp>
        <p:nvSpPr>
          <p:cNvPr id="295" name="Completed"/>
          <p:cNvSpPr txBox="1"/>
          <p:nvPr/>
        </p:nvSpPr>
        <p:spPr>
          <a:xfrm>
            <a:off x="1270000" y="3435349"/>
            <a:ext cx="10033000" cy="10033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5200">
                <a:solidFill>
                  <a:srgbClr val="00919E"/>
                </a:solidFill>
                <a:latin typeface="Avenir Next Demi Bold"/>
                <a:ea typeface="Avenir Next Demi Bold"/>
                <a:cs typeface="Avenir Next Demi Bold"/>
                <a:sym typeface="Avenir Next Demi Bold"/>
              </a:defRPr>
            </a:lvl1pPr>
          </a:lstStyle>
          <a:p>
            <a:pPr/>
            <a:r>
              <a:t>Completed</a:t>
            </a:r>
          </a:p>
        </p:txBody>
      </p:sp>
      <p:sp>
        <p:nvSpPr>
          <p:cNvPr id="296" name="Paper pipeline and close reproduction…"/>
          <p:cNvSpPr txBox="1"/>
          <p:nvPr/>
        </p:nvSpPr>
        <p:spPr>
          <a:xfrm>
            <a:off x="1270000" y="4527748"/>
            <a:ext cx="10287000" cy="4306571"/>
          </a:xfrm>
          <a:prstGeom prst="rect">
            <a:avLst/>
          </a:prstGeom>
          <a:ln w="12700">
            <a:miter lim="400000"/>
          </a:ln>
          <a:extLst>
            <a:ext uri="{C572A759-6A51-4108-AA02-DFA0A04FC94B}">
              <ns2:wrappingTextBoxFlag val="1"/>
            </a:ext>
          </a:extLst>
        </p:spPr>
        <p:txBody>
          <a:bodyPr lIns="50800" tIns="50800" rIns="50800" bIns="50800" anchor="ctr">
            <a:spAutoFit/>
          </a:bodyPr>
          <a:lstStyle/>
          <a:p>
            <a:pPr>
              <a:defRPr sz="3900">
                <a:solidFill>
                  <a:srgbClr val="1D4260"/>
                </a:solidFill>
                <a:latin typeface="Avenir Next Regular"/>
                <a:ea typeface="Avenir Next Regular"/>
                <a:cs typeface="Avenir Next Regular"/>
                <a:sym typeface="Avenir Next Regular"/>
              </a:defRPr>
            </a:pPr>
            <a:r>
              <a:t>Paper pipeline and close reproduction</a:t>
            </a:r>
          </a:p>
          <a:p>
            <a:pPr>
              <a:defRPr sz="3900">
                <a:solidFill>
                  <a:srgbClr val="1D4260"/>
                </a:solidFill>
                <a:latin typeface="Avenir Next Regular"/>
                <a:ea typeface="Avenir Next Regular"/>
                <a:cs typeface="Avenir Next Regular"/>
                <a:sym typeface="Avenir Next Regular"/>
              </a:defRPr>
            </a:pPr>
            <a:r>
              <a:t>Evaluation on unseen patients</a:t>
            </a:r>
          </a:p>
          <a:p>
            <a:pPr>
              <a:defRPr sz="3900">
                <a:solidFill>
                  <a:srgbClr val="1D4260"/>
                </a:solidFill>
                <a:latin typeface="Avenir Next Regular"/>
                <a:ea typeface="Avenir Next Regular"/>
                <a:cs typeface="Avenir Next Regular"/>
                <a:sym typeface="Avenir Next Regular"/>
              </a:defRPr>
            </a:pPr>
            <a:r>
              <a:t>Classifier and representation studies</a:t>
            </a:r>
          </a:p>
          <a:p>
            <a:pPr>
              <a:defRPr sz="3900">
                <a:solidFill>
                  <a:srgbClr val="1D4260"/>
                </a:solidFill>
                <a:latin typeface="Avenir Next Regular"/>
                <a:ea typeface="Avenir Next Regular"/>
                <a:cs typeface="Avenir Next Regular"/>
                <a:sym typeface="Avenir Next Regular"/>
              </a:defRPr>
            </a:pPr>
            <a:r>
              <a:t>External and paired domain experiments</a:t>
            </a:r>
          </a:p>
        </p:txBody>
      </p:sp>
      <p:sp>
        <p:nvSpPr>
          <p:cNvPr id="297" name="Next milestone"/>
          <p:cNvSpPr txBox="1"/>
          <p:nvPr/>
        </p:nvSpPr>
        <p:spPr>
          <a:xfrm>
            <a:off x="13334999" y="3435349"/>
            <a:ext cx="9779001" cy="10033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5200">
                <a:solidFill>
                  <a:srgbClr val="00919E"/>
                </a:solidFill>
                <a:latin typeface="Avenir Next Demi Bold"/>
                <a:ea typeface="Avenir Next Demi Bold"/>
                <a:cs typeface="Avenir Next Demi Bold"/>
                <a:sym typeface="Avenir Next Demi Bold"/>
              </a:defRPr>
            </a:lvl1pPr>
          </a:lstStyle>
          <a:p>
            <a:pPr/>
            <a:r>
              <a:t>Next milestone</a:t>
            </a:r>
          </a:p>
        </p:txBody>
      </p:sp>
      <p:sp>
        <p:nvSpPr>
          <p:cNvPr id="298" name="Compact 1D CNN or ResNet…"/>
          <p:cNvSpPr txBox="1"/>
          <p:nvPr/>
        </p:nvSpPr>
        <p:spPr>
          <a:xfrm>
            <a:off x="13335000" y="4527748"/>
            <a:ext cx="9779001" cy="4306571"/>
          </a:xfrm>
          <a:prstGeom prst="rect">
            <a:avLst/>
          </a:prstGeom>
          <a:ln w="12700">
            <a:miter lim="400000"/>
          </a:ln>
          <a:extLst>
            <a:ext uri="{C572A759-6A51-4108-AA02-DFA0A04FC94B}">
              <ns2:wrappingTextBoxFlag val="1"/>
            </a:ext>
          </a:extLst>
        </p:spPr>
        <p:txBody>
          <a:bodyPr lIns="50800" tIns="50800" rIns="50800" bIns="50800" anchor="ctr">
            <a:spAutoFit/>
          </a:bodyPr>
          <a:lstStyle/>
          <a:p>
            <a:pPr>
              <a:defRPr sz="3900">
                <a:solidFill>
                  <a:srgbClr val="1D4260"/>
                </a:solidFill>
                <a:latin typeface="Avenir Next Regular"/>
                <a:ea typeface="Avenir Next Regular"/>
                <a:cs typeface="Avenir Next Regular"/>
                <a:sym typeface="Avenir Next Regular"/>
              </a:defRPr>
            </a:pPr>
            <a:r>
              <a:t>Compact 1D CNN or ResNet</a:t>
            </a:r>
          </a:p>
          <a:p>
            <a:pPr>
              <a:defRPr sz="3900">
                <a:solidFill>
                  <a:srgbClr val="1D4260"/>
                </a:solidFill>
                <a:latin typeface="Avenir Next Regular"/>
                <a:ea typeface="Avenir Next Regular"/>
                <a:cs typeface="Avenir Next Regular"/>
                <a:sym typeface="Avenir Next Regular"/>
              </a:defRPr>
            </a:pPr>
            <a:r>
              <a:t>Tensor or wavelet plus learned features</a:t>
            </a:r>
          </a:p>
          <a:p>
            <a:pPr>
              <a:defRPr sz="3900">
                <a:solidFill>
                  <a:srgbClr val="1D4260"/>
                </a:solidFill>
                <a:latin typeface="Avenir Next Regular"/>
                <a:ea typeface="Avenir Next Regular"/>
                <a:cs typeface="Avenir Next Regular"/>
                <a:sym typeface="Avenir Next Regular"/>
              </a:defRPr>
            </a:pPr>
            <a:r>
              <a:t>The same patient endpoint and folds</a:t>
            </a:r>
          </a:p>
          <a:p>
            <a:pPr>
              <a:defRPr sz="3900">
                <a:solidFill>
                  <a:srgbClr val="1D4260"/>
                </a:solidFill>
                <a:latin typeface="Avenir Next Regular"/>
                <a:ea typeface="Avenir Next Regular"/>
                <a:cs typeface="Avenir Next Regular"/>
                <a:sym typeface="Avenir Next Regular"/>
              </a:defRPr>
            </a:pPr>
            <a:r>
              <a:t>Fresh independent confirmation</a:t>
            </a:r>
          </a:p>
        </p:txBody>
      </p:sp>
      <p:sp>
        <p:nvSpPr>
          <p:cNvPr id="299" name="The main contribution so far is a tested research baseline"/>
          <p:cNvSpPr txBox="1"/>
          <p:nvPr/>
        </p:nvSpPr>
        <p:spPr>
          <a:xfrm>
            <a:off x="1270000" y="10560049"/>
            <a:ext cx="21844000" cy="9144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4700">
                <a:solidFill>
                  <a:srgbClr val="1D4260"/>
                </a:solidFill>
                <a:latin typeface="Avenir Next Demi Bold"/>
                <a:ea typeface="Avenir Next Demi Bold"/>
                <a:cs typeface="Avenir Next Demi Bold"/>
                <a:sym typeface="Avenir Next Demi Bold"/>
              </a:defRPr>
            </a:lvl1pPr>
          </a:lstStyle>
          <a:p>
            <a:pPr/>
            <a:r>
              <a:t>The main contribution so far is a tested research baseline</a:t>
            </a:r>
          </a:p>
        </p:txBody>
      </p:sp>
      <p:sp>
        <p:nvSpPr>
          <p:cNvPr id="300" name="Current evidence supports research development. SOTA and clinical use remain unestablished"/>
          <p:cNvSpPr txBox="1"/>
          <p:nvPr/>
        </p:nvSpPr>
        <p:spPr>
          <a:xfrm>
            <a:off x="1270000" y="11874499"/>
            <a:ext cx="20320000" cy="5715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2700">
                <a:solidFill>
                  <a:srgbClr val="657B8B"/>
                </a:solidFill>
                <a:latin typeface="Avenir Next Regular"/>
                <a:ea typeface="Avenir Next Regular"/>
                <a:cs typeface="Avenir Next Regular"/>
                <a:sym typeface="Avenir Next Regular"/>
              </a:defRPr>
            </a:lvl1pPr>
          </a:lstStyle>
          <a:p>
            <a:pPr/>
            <a:r>
              <a:t>Current evidence supports research development. SOTA and clinical use remain unestablished</a:t>
            </a:r>
          </a:p>
        </p:txBody>
      </p:sp>
    </p:spTree>
  </p:cSld>
  <p:clrMapOvr>
    <a:masterClrMapping/>
  </p:clrMapOvr>
  <p:transition spd="med" advClick="1"/>
</p:sld>
</file>

<file path=ppt/slides/slide15.xml><?xml version="1.0" encoding="utf-8"?>
<p:sld xmlns:a="http://schemas.openxmlformats.org/drawingml/2006/main" xmlns:ns2="http://schemas.microsoft.com/office/mac/drawingml/2011/main" xmlns:p="http://schemas.openxmlformats.org/presentationml/2006/main" showMasterSp="1" showMasterPhAnim="1">
  <p:cSld>
    <p:spTree>
      <p:nvGrpSpPr>
        <p:cNvPr id="1" name=""/>
        <p:cNvGrpSpPr/>
        <p:nvPr/>
      </p:nvGrpSpPr>
      <p:grpSpPr>
        <a:xfrm>
          <a:off x="0" y="0"/>
          <a:ext cx="0" cy="0"/>
          <a:chOff x="0" y="0"/>
          <a:chExt cx="0" cy="0"/>
        </a:xfrm>
      </p:grpSpPr>
      <p:sp>
        <p:nvSpPr>
          <p:cNvPr id="304" name="Class-level results"/>
          <p:cNvSpPr txBox="1"/>
          <p:nvPr/>
        </p:nvSpPr>
        <p:spPr>
          <a:xfrm>
            <a:off x="1269999" y="1060449"/>
            <a:ext cx="21844001" cy="12446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6600">
                <a:solidFill>
                  <a:srgbClr val="1D4260"/>
                </a:solidFill>
                <a:latin typeface="Avenir Next Demi Bold"/>
                <a:ea typeface="Avenir Next Demi Bold"/>
                <a:cs typeface="Avenir Next Demi Bold"/>
                <a:sym typeface="Avenir Next Demi Bold"/>
              </a:defRPr>
            </a:lvl1pPr>
          </a:lstStyle>
          <a:p>
            <a:pPr/>
            <a:r>
              <a:t>Class-level results</a:t>
            </a:r>
          </a:p>
        </p:txBody>
      </p:sp>
      <p:sp>
        <p:nvSpPr>
          <p:cNvPr id="305" name="Backup 15"/>
          <p:cNvSpPr txBox="1"/>
          <p:nvPr/>
        </p:nvSpPr>
        <p:spPr>
          <a:xfrm>
            <a:off x="20827999" y="12411491"/>
            <a:ext cx="2286001" cy="4953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2300">
                <a:solidFill>
                  <a:srgbClr val="657B8B"/>
                </a:solidFill>
                <a:latin typeface="Avenir Next Regular"/>
                <a:ea typeface="Avenir Next Regular"/>
                <a:cs typeface="Avenir Next Regular"/>
                <a:sym typeface="Avenir Next Regular"/>
              </a:defRPr>
            </a:lvl1pPr>
          </a:lstStyle>
          <a:p>
            <a:pPr/>
            <a:r>
              <a:t>Backup 15</a:t>
            </a:r>
          </a:p>
        </p:txBody>
      </p:sp>
      <p:graphicFrame>
        <p:nvGraphicFramePr>
          <p:cNvPr id="306" name="Table 1"/>
          <p:cNvGraphicFramePr/>
          <p:nvPr/>
        </p:nvGraphicFramePr>
        <p:xfrm>
          <a:off x="1270000" y="3175000"/>
          <a:ext cx="10922000" cy="11176000"/>
        </p:xfrm>
        <a:graphic>
          <a:graphicData uri="http://schemas.openxmlformats.org/drawingml/2006/table">
            <a:tbl>
              <a:tblPr firstCol="0" firstRow="1" lastCol="0" lastRow="0" bandCol="0" bandRow="0" rtl="0">
                <a:tableStyleId>{4C3C2611-4C71-4FC5-86AE-919BDF0F9419}</a:tableStyleId>
              </a:tblPr>
              <a:tblGrid>
                <a:gridCol w="3302000"/>
                <a:gridCol w="4445000"/>
                <a:gridCol w="4445000"/>
                <a:gridCol w="5080000"/>
                <a:gridCol w="4572000"/>
              </a:tblGrid>
              <a:tr h="1092200">
                <a:tc>
                  <a:txBody>
                    <a:bodyPr/>
                    <a:lstStyle/>
                    <a:p>
                      <a:pPr defTabSz="914400">
                        <a:tabLst>
                          <a:tab pos="1663700" algn="l"/>
                        </a:tabLst>
                        <a:defRPr b="0"/>
                      </a:pPr>
                      <a:r>
                        <a:rPr sz="3400">
                          <a:solidFill>
                            <a:srgbClr val="FFFFFF"/>
                          </a:solidFill>
                          <a:latin typeface="Avenir Next Regular"/>
                          <a:ea typeface="Avenir Next Regular"/>
                          <a:cs typeface="Avenir Next Regular"/>
                          <a:sym typeface="Avenir Next Regular"/>
                        </a:rPr>
                        <a:t>Class</a:t>
                      </a:r>
                    </a:p>
                  </a:txBody>
                  <a:tcPr marL="50800" marR="50800" marT="50800" marB="50800" anchor="ctr" anchorCtr="0" horzOverflow="overflow">
                    <a:solidFill>
                      <a:srgbClr val="1D4260"/>
                    </a:solidFill>
                  </a:tcPr>
                </a:tc>
                <a:tc>
                  <a:txBody>
                    <a:bodyPr/>
                    <a:lstStyle/>
                    <a:p>
                      <a:pPr defTabSz="914400">
                        <a:tabLst>
                          <a:tab pos="1663700" algn="l"/>
                        </a:tabLst>
                        <a:defRPr b="0"/>
                      </a:pPr>
                      <a:r>
                        <a:rPr sz="3400">
                          <a:solidFill>
                            <a:srgbClr val="FFFFFF"/>
                          </a:solidFill>
                          <a:latin typeface="Avenir Next Regular"/>
                          <a:ea typeface="Avenir Next Regular"/>
                          <a:cs typeface="Avenir Next Regular"/>
                          <a:sym typeface="Avenir Next Regular"/>
                        </a:rPr>
                        <a:t>PTB patients</a:t>
                      </a:r>
                    </a:p>
                  </a:txBody>
                  <a:tcPr marL="50800" marR="50800" marT="50800" marB="50800" anchor="ctr" anchorCtr="0" horzOverflow="overflow">
                    <a:solidFill>
                      <a:srgbClr val="1D4260"/>
                    </a:solidFill>
                  </a:tcPr>
                </a:tc>
                <a:tc>
                  <a:txBody>
                    <a:bodyPr/>
                    <a:lstStyle/>
                    <a:p>
                      <a:pPr defTabSz="914400">
                        <a:tabLst>
                          <a:tab pos="1663700" algn="l"/>
                        </a:tabLst>
                        <a:defRPr b="0"/>
                      </a:pPr>
                      <a:r>
                        <a:rPr sz="3400">
                          <a:solidFill>
                            <a:srgbClr val="FFFFFF"/>
                          </a:solidFill>
                          <a:latin typeface="Avenir Next Regular"/>
                          <a:ea typeface="Avenir Next Regular"/>
                          <a:cs typeface="Avenir Next Regular"/>
                          <a:sym typeface="Avenir Next Regular"/>
                        </a:rPr>
                        <a:t>Tucker F1</a:t>
                      </a:r>
                    </a:p>
                  </a:txBody>
                  <a:tcPr marL="50800" marR="50800" marT="50800" marB="50800" anchor="ctr" anchorCtr="0" horzOverflow="overflow">
                    <a:solidFill>
                      <a:srgbClr val="1D4260"/>
                    </a:solidFill>
                  </a:tcPr>
                </a:tc>
                <a:tc>
                  <a:txBody>
                    <a:bodyPr/>
                    <a:lstStyle/>
                    <a:p>
                      <a:pPr defTabSz="914400">
                        <a:tabLst>
                          <a:tab pos="1663700" algn="l"/>
                        </a:tabLst>
                        <a:defRPr b="0"/>
                      </a:pPr>
                      <a:r>
                        <a:rPr sz="3400">
                          <a:solidFill>
                            <a:srgbClr val="FFFFFF"/>
                          </a:solidFill>
                          <a:latin typeface="Avenir Next Regular"/>
                          <a:ea typeface="Avenir Next Regular"/>
                          <a:cs typeface="Avenir Next Regular"/>
                          <a:sym typeface="Avenir Next Regular"/>
                        </a:rPr>
                        <a:t>Statistics F1</a:t>
                      </a:r>
                    </a:p>
                  </a:txBody>
                  <a:tcPr marL="50800" marR="50800" marT="50800" marB="50800" anchor="ctr" anchorCtr="0" horzOverflow="overflow">
                    <a:solidFill>
                      <a:srgbClr val="1D4260"/>
                    </a:solidFill>
                  </a:tcPr>
                </a:tc>
                <a:tc>
                  <a:txBody>
                    <a:bodyPr/>
                    <a:lstStyle/>
                    <a:p>
                      <a:pPr defTabSz="914400">
                        <a:tabLst>
                          <a:tab pos="1663700" algn="l"/>
                        </a:tabLst>
                        <a:defRPr b="0"/>
                      </a:pPr>
                      <a:r>
                        <a:rPr sz="3400">
                          <a:solidFill>
                            <a:srgbClr val="FFFFFF"/>
                          </a:solidFill>
                          <a:latin typeface="Avenir Next Regular"/>
                          <a:ea typeface="Avenir Next Regular"/>
                          <a:cs typeface="Avenir Next Regular"/>
                          <a:sym typeface="Avenir Next Regular"/>
                        </a:rPr>
                        <a:t>External F1</a:t>
                      </a:r>
                    </a:p>
                  </a:txBody>
                  <a:tcPr marL="50800" marR="50800" marT="50800" marB="50800" anchor="ctr" anchorCtr="0" horzOverflow="overflow">
                    <a:solidFill>
                      <a:srgbClr val="1D4260"/>
                    </a:solidFill>
                  </a:tcPr>
                </a:tc>
              </a:tr>
              <a:tr h="1092200">
                <a:tc>
                  <a:txBody>
                    <a:bodyPr/>
                    <a:lstStyle/>
                    <a:p>
                      <a:pPr defTabSz="914400"/>
                      <a:r>
                        <a:rPr sz="3400">
                          <a:solidFill>
                            <a:srgbClr val="1D4260"/>
                          </a:solidFill>
                          <a:latin typeface="Avenir Next Regular"/>
                          <a:ea typeface="Avenir Next Regular"/>
                          <a:cs typeface="Avenir Next Regular"/>
                          <a:sym typeface="Avenir Next Regular"/>
                        </a:rPr>
                        <a:t>AMI</a:t>
                      </a:r>
                    </a:p>
                  </a:txBody>
                  <a:tcPr marL="50800" marR="50800" marT="50800" marB="50800" anchor="ctr" anchorCtr="0" horzOverflow="overflow">
                    <a:solidFill>
                      <a:srgbClr val="F4F8F9"/>
                    </a:solidFill>
                  </a:tcPr>
                </a:tc>
                <a:tc>
                  <a:txBody>
                    <a:bodyPr/>
                    <a:lstStyle/>
                    <a:p>
                      <a:pPr defTabSz="914400"/>
                      <a:r>
                        <a:rPr sz="3400">
                          <a:solidFill>
                            <a:srgbClr val="1D4260"/>
                          </a:solidFill>
                          <a:latin typeface="Avenir Next Regular"/>
                          <a:ea typeface="Avenir Next Regular"/>
                          <a:cs typeface="Avenir Next Regular"/>
                          <a:sym typeface="Avenir Next Regular"/>
                        </a:rPr>
                        <a:t>17</a:t>
                      </a:r>
                    </a:p>
                  </a:txBody>
                  <a:tcPr marL="50800" marR="50800" marT="50800" marB="50800" anchor="ctr" anchorCtr="0" horzOverflow="overflow">
                    <a:solidFill>
                      <a:srgbClr val="F4F8F9"/>
                    </a:solidFill>
                  </a:tcPr>
                </a:tc>
                <a:tc>
                  <a:txBody>
                    <a:bodyPr/>
                    <a:lstStyle/>
                    <a:p>
                      <a:pPr defTabSz="914400"/>
                      <a:r>
                        <a:rPr sz="3400">
                          <a:solidFill>
                            <a:srgbClr val="1D4260"/>
                          </a:solidFill>
                          <a:latin typeface="Avenir Next Regular"/>
                          <a:ea typeface="Avenir Next Regular"/>
                          <a:cs typeface="Avenir Next Regular"/>
                          <a:sym typeface="Avenir Next Regular"/>
                        </a:rPr>
                        <a:t>0.188</a:t>
                      </a:r>
                    </a:p>
                  </a:txBody>
                  <a:tcPr marL="50800" marR="50800" marT="50800" marB="50800" anchor="ctr" anchorCtr="0" horzOverflow="overflow">
                    <a:solidFill>
                      <a:srgbClr val="F4F8F9"/>
                    </a:solidFill>
                  </a:tcPr>
                </a:tc>
                <a:tc>
                  <a:txBody>
                    <a:bodyPr/>
                    <a:lstStyle/>
                    <a:p>
                      <a:pPr defTabSz="914400"/>
                      <a:r>
                        <a:rPr sz="3400">
                          <a:solidFill>
                            <a:srgbClr val="1D4260"/>
                          </a:solidFill>
                          <a:latin typeface="Avenir Next Regular"/>
                          <a:ea typeface="Avenir Next Regular"/>
                          <a:cs typeface="Avenir Next Regular"/>
                          <a:sym typeface="Avenir Next Regular"/>
                        </a:rPr>
                        <a:t>0.357</a:t>
                      </a:r>
                    </a:p>
                  </a:txBody>
                  <a:tcPr marL="50800" marR="50800" marT="50800" marB="50800" anchor="ctr" anchorCtr="0" horzOverflow="overflow">
                    <a:solidFill>
                      <a:srgbClr val="F4F8F9"/>
                    </a:solidFill>
                  </a:tcPr>
                </a:tc>
                <a:tc>
                  <a:txBody>
                    <a:bodyPr/>
                    <a:lstStyle/>
                    <a:p>
                      <a:pPr defTabSz="914400"/>
                      <a:r>
                        <a:rPr sz="3400">
                          <a:solidFill>
                            <a:srgbClr val="1D4260"/>
                          </a:solidFill>
                          <a:latin typeface="Avenir Next Regular"/>
                          <a:ea typeface="Avenir Next Regular"/>
                          <a:cs typeface="Avenir Next Regular"/>
                          <a:sym typeface="Avenir Next Regular"/>
                        </a:rPr>
                        <a:t>0.049</a:t>
                      </a:r>
                    </a:p>
                  </a:txBody>
                  <a:tcPr marL="50800" marR="50800" marT="50800" marB="50800" anchor="ctr" anchorCtr="0" horzOverflow="overflow">
                    <a:solidFill>
                      <a:srgbClr val="F4F8F9"/>
                    </a:solidFill>
                  </a:tcPr>
                </a:tc>
              </a:tr>
              <a:tr h="1092200">
                <a:tc>
                  <a:txBody>
                    <a:bodyPr/>
                    <a:lstStyle/>
                    <a:p>
                      <a:pPr defTabSz="914400"/>
                      <a:r>
                        <a:rPr sz="3400">
                          <a:solidFill>
                            <a:srgbClr val="1D4260"/>
                          </a:solidFill>
                          <a:latin typeface="Avenir Next Regular"/>
                          <a:ea typeface="Avenir Next Regular"/>
                          <a:cs typeface="Avenir Next Regular"/>
                          <a:sym typeface="Avenir Next Regular"/>
                        </a:rPr>
                        <a:t>ALMI</a:t>
                      </a:r>
                    </a:p>
                  </a:txBody>
                  <a:tcPr marL="50800" marR="50800" marT="50800" marB="50800" anchor="ctr" anchorCtr="0" horzOverflow="overflow">
                    <a:solidFill>
                      <a:srgbClr val="FFFFFF"/>
                    </a:solidFill>
                  </a:tcPr>
                </a:tc>
                <a:tc>
                  <a:txBody>
                    <a:bodyPr/>
                    <a:lstStyle/>
                    <a:p>
                      <a:pPr defTabSz="914400"/>
                      <a:r>
                        <a:rPr sz="3400">
                          <a:solidFill>
                            <a:srgbClr val="1D4260"/>
                          </a:solidFill>
                          <a:latin typeface="Avenir Next Regular"/>
                          <a:ea typeface="Avenir Next Regular"/>
                          <a:cs typeface="Avenir Next Regular"/>
                          <a:sym typeface="Avenir Next Regular"/>
                        </a:rPr>
                        <a:t>16</a:t>
                      </a:r>
                    </a:p>
                  </a:txBody>
                  <a:tcPr marL="50800" marR="50800" marT="50800" marB="50800" anchor="ctr" anchorCtr="0" horzOverflow="overflow">
                    <a:solidFill>
                      <a:srgbClr val="FFFFFF"/>
                    </a:solidFill>
                  </a:tcPr>
                </a:tc>
                <a:tc>
                  <a:txBody>
                    <a:bodyPr/>
                    <a:lstStyle/>
                    <a:p>
                      <a:pPr defTabSz="914400"/>
                      <a:r>
                        <a:rPr sz="3400">
                          <a:solidFill>
                            <a:srgbClr val="1D4260"/>
                          </a:solidFill>
                          <a:latin typeface="Avenir Next Regular"/>
                          <a:ea typeface="Avenir Next Regular"/>
                          <a:cs typeface="Avenir Next Regular"/>
                          <a:sym typeface="Avenir Next Regular"/>
                        </a:rPr>
                        <a:t>0.400</a:t>
                      </a:r>
                    </a:p>
                  </a:txBody>
                  <a:tcPr marL="50800" marR="50800" marT="50800" marB="50800" anchor="ctr" anchorCtr="0" horzOverflow="overflow">
                    <a:solidFill>
                      <a:srgbClr val="FFFFFF"/>
                    </a:solidFill>
                  </a:tcPr>
                </a:tc>
                <a:tc>
                  <a:txBody>
                    <a:bodyPr/>
                    <a:lstStyle/>
                    <a:p>
                      <a:pPr defTabSz="914400"/>
                      <a:r>
                        <a:rPr sz="3400">
                          <a:solidFill>
                            <a:srgbClr val="1D4260"/>
                          </a:solidFill>
                          <a:latin typeface="Avenir Next Regular"/>
                          <a:ea typeface="Avenir Next Regular"/>
                          <a:cs typeface="Avenir Next Regular"/>
                          <a:sym typeface="Avenir Next Regular"/>
                        </a:rPr>
                        <a:t>0.471</a:t>
                      </a:r>
                    </a:p>
                  </a:txBody>
                  <a:tcPr marL="50800" marR="50800" marT="50800" marB="50800" anchor="ctr" anchorCtr="0" horzOverflow="overflow">
                    <a:solidFill>
                      <a:srgbClr val="FFFFFF"/>
                    </a:solidFill>
                  </a:tcPr>
                </a:tc>
                <a:tc>
                  <a:txBody>
                    <a:bodyPr/>
                    <a:lstStyle/>
                    <a:p>
                      <a:pPr defTabSz="914400"/>
                      <a:r>
                        <a:rPr sz="3400">
                          <a:solidFill>
                            <a:srgbClr val="1D4260"/>
                          </a:solidFill>
                          <a:latin typeface="Avenir Next Regular"/>
                          <a:ea typeface="Avenir Next Regular"/>
                          <a:cs typeface="Avenir Next Regular"/>
                          <a:sym typeface="Avenir Next Regular"/>
                        </a:rPr>
                        <a:t>0.000</a:t>
                      </a:r>
                    </a:p>
                  </a:txBody>
                  <a:tcPr marL="50800" marR="50800" marT="50800" marB="50800" anchor="ctr" anchorCtr="0" horzOverflow="overflow">
                    <a:solidFill>
                      <a:srgbClr val="FFFFFF"/>
                    </a:solidFill>
                  </a:tcPr>
                </a:tc>
              </a:tr>
              <a:tr h="1092200">
                <a:tc>
                  <a:txBody>
                    <a:bodyPr/>
                    <a:lstStyle/>
                    <a:p>
                      <a:pPr defTabSz="914400"/>
                      <a:r>
                        <a:rPr sz="3400">
                          <a:solidFill>
                            <a:srgbClr val="1D4260"/>
                          </a:solidFill>
                          <a:latin typeface="Avenir Next Regular"/>
                          <a:ea typeface="Avenir Next Regular"/>
                          <a:cs typeface="Avenir Next Regular"/>
                          <a:sym typeface="Avenir Next Regular"/>
                        </a:rPr>
                        <a:t>ASMI</a:t>
                      </a:r>
                    </a:p>
                  </a:txBody>
                  <a:tcPr marL="50800" marR="50800" marT="50800" marB="50800" anchor="ctr" anchorCtr="0" horzOverflow="overflow">
                    <a:solidFill>
                      <a:srgbClr val="F4F8F9"/>
                    </a:solidFill>
                  </a:tcPr>
                </a:tc>
                <a:tc>
                  <a:txBody>
                    <a:bodyPr/>
                    <a:lstStyle/>
                    <a:p>
                      <a:pPr defTabSz="914400"/>
                      <a:r>
                        <a:rPr sz="3400">
                          <a:solidFill>
                            <a:srgbClr val="1D4260"/>
                          </a:solidFill>
                          <a:latin typeface="Avenir Next Regular"/>
                          <a:ea typeface="Avenir Next Regular"/>
                          <a:cs typeface="Avenir Next Regular"/>
                          <a:sym typeface="Avenir Next Regular"/>
                        </a:rPr>
                        <a:t>27</a:t>
                      </a:r>
                    </a:p>
                  </a:txBody>
                  <a:tcPr marL="50800" marR="50800" marT="50800" marB="50800" anchor="ctr" anchorCtr="0" horzOverflow="overflow">
                    <a:solidFill>
                      <a:srgbClr val="F4F8F9"/>
                    </a:solidFill>
                  </a:tcPr>
                </a:tc>
                <a:tc>
                  <a:txBody>
                    <a:bodyPr/>
                    <a:lstStyle/>
                    <a:p>
                      <a:pPr defTabSz="914400"/>
                      <a:r>
                        <a:rPr sz="3400">
                          <a:solidFill>
                            <a:srgbClr val="1D4260"/>
                          </a:solidFill>
                          <a:latin typeface="Avenir Next Regular"/>
                          <a:ea typeface="Avenir Next Regular"/>
                          <a:cs typeface="Avenir Next Regular"/>
                          <a:sym typeface="Avenir Next Regular"/>
                        </a:rPr>
                        <a:t>0.412</a:t>
                      </a:r>
                    </a:p>
                  </a:txBody>
                  <a:tcPr marL="50800" marR="50800" marT="50800" marB="50800" anchor="ctr" anchorCtr="0" horzOverflow="overflow">
                    <a:solidFill>
                      <a:srgbClr val="F4F8F9"/>
                    </a:solidFill>
                  </a:tcPr>
                </a:tc>
                <a:tc>
                  <a:txBody>
                    <a:bodyPr/>
                    <a:lstStyle/>
                    <a:p>
                      <a:pPr defTabSz="914400"/>
                      <a:r>
                        <a:rPr sz="3400">
                          <a:solidFill>
                            <a:srgbClr val="1D4260"/>
                          </a:solidFill>
                          <a:latin typeface="Avenir Next Regular"/>
                          <a:ea typeface="Avenir Next Regular"/>
                          <a:cs typeface="Avenir Next Regular"/>
                          <a:sym typeface="Avenir Next Regular"/>
                        </a:rPr>
                        <a:t>0.373</a:t>
                      </a:r>
                    </a:p>
                  </a:txBody>
                  <a:tcPr marL="50800" marR="50800" marT="50800" marB="50800" anchor="ctr" anchorCtr="0" horzOverflow="overflow">
                    <a:solidFill>
                      <a:srgbClr val="F4F8F9"/>
                    </a:solidFill>
                  </a:tcPr>
                </a:tc>
                <a:tc>
                  <a:txBody>
                    <a:bodyPr/>
                    <a:lstStyle/>
                    <a:p>
                      <a:pPr defTabSz="914400"/>
                      <a:r>
                        <a:rPr sz="3400">
                          <a:solidFill>
                            <a:srgbClr val="1D4260"/>
                          </a:solidFill>
                          <a:latin typeface="Avenir Next Regular"/>
                          <a:ea typeface="Avenir Next Regular"/>
                          <a:cs typeface="Avenir Next Regular"/>
                          <a:sym typeface="Avenir Next Regular"/>
                        </a:rPr>
                        <a:t>0.380</a:t>
                      </a:r>
                    </a:p>
                  </a:txBody>
                  <a:tcPr marL="50800" marR="50800" marT="50800" marB="50800" anchor="ctr" anchorCtr="0" horzOverflow="overflow">
                    <a:solidFill>
                      <a:srgbClr val="F4F8F9"/>
                    </a:solidFill>
                  </a:tcPr>
                </a:tc>
              </a:tr>
              <a:tr h="1092200">
                <a:tc>
                  <a:txBody>
                    <a:bodyPr/>
                    <a:lstStyle/>
                    <a:p>
                      <a:pPr defTabSz="914400"/>
                      <a:r>
                        <a:rPr sz="3400">
                          <a:solidFill>
                            <a:srgbClr val="1D4260"/>
                          </a:solidFill>
                          <a:latin typeface="Avenir Next Regular"/>
                          <a:ea typeface="Avenir Next Regular"/>
                          <a:cs typeface="Avenir Next Regular"/>
                          <a:sym typeface="Avenir Next Regular"/>
                        </a:rPr>
                        <a:t>IMI</a:t>
                      </a:r>
                    </a:p>
                  </a:txBody>
                  <a:tcPr marL="50800" marR="50800" marT="50800" marB="50800" anchor="ctr" anchorCtr="0" horzOverflow="overflow">
                    <a:solidFill>
                      <a:srgbClr val="FFFFFF"/>
                    </a:solidFill>
                  </a:tcPr>
                </a:tc>
                <a:tc>
                  <a:txBody>
                    <a:bodyPr/>
                    <a:lstStyle/>
                    <a:p>
                      <a:pPr defTabSz="914400"/>
                      <a:r>
                        <a:rPr sz="3400">
                          <a:solidFill>
                            <a:srgbClr val="1D4260"/>
                          </a:solidFill>
                          <a:latin typeface="Avenir Next Regular"/>
                          <a:ea typeface="Avenir Next Regular"/>
                          <a:cs typeface="Avenir Next Regular"/>
                          <a:sym typeface="Avenir Next Regular"/>
                        </a:rPr>
                        <a:t>29</a:t>
                      </a:r>
                    </a:p>
                  </a:txBody>
                  <a:tcPr marL="50800" marR="50800" marT="50800" marB="50800" anchor="ctr" anchorCtr="0" horzOverflow="overflow">
                    <a:solidFill>
                      <a:srgbClr val="FFFFFF"/>
                    </a:solidFill>
                  </a:tcPr>
                </a:tc>
                <a:tc>
                  <a:txBody>
                    <a:bodyPr/>
                    <a:lstStyle/>
                    <a:p>
                      <a:pPr defTabSz="914400"/>
                      <a:r>
                        <a:rPr sz="3400">
                          <a:solidFill>
                            <a:srgbClr val="1D4260"/>
                          </a:solidFill>
                          <a:latin typeface="Avenir Next Regular"/>
                          <a:ea typeface="Avenir Next Regular"/>
                          <a:cs typeface="Avenir Next Regular"/>
                          <a:sym typeface="Avenir Next Regular"/>
                        </a:rPr>
                        <a:t>0.412</a:t>
                      </a:r>
                    </a:p>
                  </a:txBody>
                  <a:tcPr marL="50800" marR="50800" marT="50800" marB="50800" anchor="ctr" anchorCtr="0" horzOverflow="overflow">
                    <a:solidFill>
                      <a:srgbClr val="FFFFFF"/>
                    </a:solidFill>
                  </a:tcPr>
                </a:tc>
                <a:tc>
                  <a:txBody>
                    <a:bodyPr/>
                    <a:lstStyle/>
                    <a:p>
                      <a:pPr defTabSz="914400"/>
                      <a:r>
                        <a:rPr sz="3400">
                          <a:solidFill>
                            <a:srgbClr val="1D4260"/>
                          </a:solidFill>
                          <a:latin typeface="Avenir Next Regular"/>
                          <a:ea typeface="Avenir Next Regular"/>
                          <a:cs typeface="Avenir Next Regular"/>
                          <a:sym typeface="Avenir Next Regular"/>
                        </a:rPr>
                        <a:t>0.438</a:t>
                      </a:r>
                    </a:p>
                  </a:txBody>
                  <a:tcPr marL="50800" marR="50800" marT="50800" marB="50800" anchor="ctr" anchorCtr="0" horzOverflow="overflow">
                    <a:solidFill>
                      <a:srgbClr val="FFFFFF"/>
                    </a:solidFill>
                  </a:tcPr>
                </a:tc>
                <a:tc>
                  <a:txBody>
                    <a:bodyPr/>
                    <a:lstStyle/>
                    <a:p>
                      <a:pPr defTabSz="914400"/>
                      <a:r>
                        <a:rPr sz="3400">
                          <a:solidFill>
                            <a:srgbClr val="1D4260"/>
                          </a:solidFill>
                          <a:latin typeface="Avenir Next Regular"/>
                          <a:ea typeface="Avenir Next Regular"/>
                          <a:cs typeface="Avenir Next Regular"/>
                          <a:sym typeface="Avenir Next Regular"/>
                        </a:rPr>
                        <a:t>0.241</a:t>
                      </a:r>
                    </a:p>
                  </a:txBody>
                  <a:tcPr marL="50800" marR="50800" marT="50800" marB="50800" anchor="ctr" anchorCtr="0" horzOverflow="overflow">
                    <a:solidFill>
                      <a:srgbClr val="FFFFFF"/>
                    </a:solidFill>
                  </a:tcPr>
                </a:tc>
              </a:tr>
              <a:tr h="1092200">
                <a:tc>
                  <a:txBody>
                    <a:bodyPr/>
                    <a:lstStyle/>
                    <a:p>
                      <a:pPr defTabSz="914400"/>
                      <a:r>
                        <a:rPr sz="3400">
                          <a:solidFill>
                            <a:srgbClr val="1D4260"/>
                          </a:solidFill>
                          <a:latin typeface="Avenir Next Regular"/>
                          <a:ea typeface="Avenir Next Regular"/>
                          <a:cs typeface="Avenir Next Regular"/>
                          <a:sym typeface="Avenir Next Regular"/>
                        </a:rPr>
                        <a:t>ILMI</a:t>
                      </a:r>
                    </a:p>
                  </a:txBody>
                  <a:tcPr marL="50800" marR="50800" marT="50800" marB="50800" anchor="ctr" anchorCtr="0" horzOverflow="overflow">
                    <a:solidFill>
                      <a:srgbClr val="F4F8F9"/>
                    </a:solidFill>
                  </a:tcPr>
                </a:tc>
                <a:tc>
                  <a:txBody>
                    <a:bodyPr/>
                    <a:lstStyle/>
                    <a:p>
                      <a:pPr defTabSz="914400"/>
                      <a:r>
                        <a:rPr sz="3400">
                          <a:solidFill>
                            <a:srgbClr val="1D4260"/>
                          </a:solidFill>
                          <a:latin typeface="Avenir Next Regular"/>
                          <a:ea typeface="Avenir Next Regular"/>
                          <a:cs typeface="Avenir Next Regular"/>
                          <a:sym typeface="Avenir Next Regular"/>
                        </a:rPr>
                        <a:t>23</a:t>
                      </a:r>
                    </a:p>
                  </a:txBody>
                  <a:tcPr marL="50800" marR="50800" marT="50800" marB="50800" anchor="ctr" anchorCtr="0" horzOverflow="overflow">
                    <a:solidFill>
                      <a:srgbClr val="F4F8F9"/>
                    </a:solidFill>
                  </a:tcPr>
                </a:tc>
                <a:tc>
                  <a:txBody>
                    <a:bodyPr/>
                    <a:lstStyle/>
                    <a:p>
                      <a:pPr defTabSz="914400"/>
                      <a:r>
                        <a:rPr sz="3400">
                          <a:solidFill>
                            <a:srgbClr val="1D4260"/>
                          </a:solidFill>
                          <a:latin typeface="Avenir Next Regular"/>
                          <a:ea typeface="Avenir Next Regular"/>
                          <a:cs typeface="Avenir Next Regular"/>
                          <a:sym typeface="Avenir Next Regular"/>
                        </a:rPr>
                        <a:t>0.263</a:t>
                      </a:r>
                    </a:p>
                  </a:txBody>
                  <a:tcPr marL="50800" marR="50800" marT="50800" marB="50800" anchor="ctr" anchorCtr="0" horzOverflow="overflow">
                    <a:solidFill>
                      <a:srgbClr val="F4F8F9"/>
                    </a:solidFill>
                  </a:tcPr>
                </a:tc>
                <a:tc>
                  <a:txBody>
                    <a:bodyPr/>
                    <a:lstStyle/>
                    <a:p>
                      <a:pPr defTabSz="914400"/>
                      <a:r>
                        <a:rPr sz="3400">
                          <a:solidFill>
                            <a:srgbClr val="1D4260"/>
                          </a:solidFill>
                          <a:latin typeface="Avenir Next Regular"/>
                          <a:ea typeface="Avenir Next Regular"/>
                          <a:cs typeface="Avenir Next Regular"/>
                          <a:sym typeface="Avenir Next Regular"/>
                        </a:rPr>
                        <a:t>0.450</a:t>
                      </a:r>
                    </a:p>
                  </a:txBody>
                  <a:tcPr marL="50800" marR="50800" marT="50800" marB="50800" anchor="ctr" anchorCtr="0" horzOverflow="overflow">
                    <a:solidFill>
                      <a:srgbClr val="F4F8F9"/>
                    </a:solidFill>
                  </a:tcPr>
                </a:tc>
                <a:tc>
                  <a:txBody>
                    <a:bodyPr/>
                    <a:lstStyle/>
                    <a:p>
                      <a:pPr defTabSz="914400"/>
                      <a:r>
                        <a:rPr sz="3400">
                          <a:solidFill>
                            <a:srgbClr val="1D4260"/>
                          </a:solidFill>
                          <a:latin typeface="Avenir Next Regular"/>
                          <a:ea typeface="Avenir Next Regular"/>
                          <a:cs typeface="Avenir Next Regular"/>
                          <a:sym typeface="Avenir Next Regular"/>
                        </a:rPr>
                        <a:t>0.035</a:t>
                      </a:r>
                    </a:p>
                  </a:txBody>
                  <a:tcPr marL="50800" marR="50800" marT="50800" marB="50800" anchor="ctr" anchorCtr="0" horzOverflow="overflow">
                    <a:solidFill>
                      <a:srgbClr val="F4F8F9"/>
                    </a:solidFill>
                  </a:tcPr>
                </a:tc>
              </a:tr>
              <a:tr h="1092200">
                <a:tc>
                  <a:txBody>
                    <a:bodyPr/>
                    <a:lstStyle/>
                    <a:p>
                      <a:pPr defTabSz="914400"/>
                      <a:r>
                        <a:rPr sz="3400">
                          <a:solidFill>
                            <a:srgbClr val="1D4260"/>
                          </a:solidFill>
                          <a:latin typeface="Avenir Next Regular"/>
                          <a:ea typeface="Avenir Next Regular"/>
                          <a:cs typeface="Avenir Next Regular"/>
                          <a:sym typeface="Avenir Next Regular"/>
                        </a:rPr>
                        <a:t>HC</a:t>
                      </a:r>
                    </a:p>
                  </a:txBody>
                  <a:tcPr marL="50800" marR="50800" marT="50800" marB="50800" anchor="ctr" anchorCtr="0" horzOverflow="overflow">
                    <a:solidFill>
                      <a:srgbClr val="FFFFFF"/>
                    </a:solidFill>
                  </a:tcPr>
                </a:tc>
                <a:tc>
                  <a:txBody>
                    <a:bodyPr/>
                    <a:lstStyle/>
                    <a:p>
                      <a:pPr defTabSz="914400"/>
                      <a:r>
                        <a:rPr sz="3400">
                          <a:solidFill>
                            <a:srgbClr val="1D4260"/>
                          </a:solidFill>
                          <a:latin typeface="Avenir Next Regular"/>
                          <a:ea typeface="Avenir Next Regular"/>
                          <a:cs typeface="Avenir Next Regular"/>
                          <a:sym typeface="Avenir Next Regular"/>
                        </a:rPr>
                        <a:t>52</a:t>
                      </a:r>
                    </a:p>
                  </a:txBody>
                  <a:tcPr marL="50800" marR="50800" marT="50800" marB="50800" anchor="ctr" anchorCtr="0" horzOverflow="overflow">
                    <a:solidFill>
                      <a:srgbClr val="FFFFFF"/>
                    </a:solidFill>
                  </a:tcPr>
                </a:tc>
                <a:tc>
                  <a:txBody>
                    <a:bodyPr/>
                    <a:lstStyle/>
                    <a:p>
                      <a:pPr defTabSz="914400"/>
                      <a:r>
                        <a:rPr sz="3400">
                          <a:solidFill>
                            <a:srgbClr val="1D4260"/>
                          </a:solidFill>
                          <a:latin typeface="Avenir Next Regular"/>
                          <a:ea typeface="Avenir Next Regular"/>
                          <a:cs typeface="Avenir Next Regular"/>
                          <a:sym typeface="Avenir Next Regular"/>
                        </a:rPr>
                        <a:t>0.742</a:t>
                      </a:r>
                    </a:p>
                  </a:txBody>
                  <a:tcPr marL="50800" marR="50800" marT="50800" marB="50800" anchor="ctr" anchorCtr="0" horzOverflow="overflow">
                    <a:solidFill>
                      <a:srgbClr val="FFFFFF"/>
                    </a:solidFill>
                  </a:tcPr>
                </a:tc>
                <a:tc>
                  <a:txBody>
                    <a:bodyPr/>
                    <a:lstStyle/>
                    <a:p>
                      <a:pPr defTabSz="914400"/>
                      <a:r>
                        <a:rPr sz="3400">
                          <a:solidFill>
                            <a:srgbClr val="1D4260"/>
                          </a:solidFill>
                          <a:latin typeface="Avenir Next Regular"/>
                          <a:ea typeface="Avenir Next Regular"/>
                          <a:cs typeface="Avenir Next Regular"/>
                          <a:sym typeface="Avenir Next Regular"/>
                        </a:rPr>
                        <a:t>0.835</a:t>
                      </a:r>
                    </a:p>
                  </a:txBody>
                  <a:tcPr marL="50800" marR="50800" marT="50800" marB="50800" anchor="ctr" anchorCtr="0" horzOverflow="overflow">
                    <a:solidFill>
                      <a:srgbClr val="FFFFFF"/>
                    </a:solidFill>
                  </a:tcPr>
                </a:tc>
                <a:tc>
                  <a:txBody>
                    <a:bodyPr/>
                    <a:lstStyle/>
                    <a:p>
                      <a:pPr defTabSz="914400"/>
                      <a:r>
                        <a:rPr sz="3400">
                          <a:solidFill>
                            <a:srgbClr val="1D4260"/>
                          </a:solidFill>
                          <a:latin typeface="Avenir Next Regular"/>
                          <a:ea typeface="Avenir Next Regular"/>
                          <a:cs typeface="Avenir Next Regular"/>
                          <a:sym typeface="Avenir Next Regular"/>
                        </a:rPr>
                        <a:t>0.747</a:t>
                      </a:r>
                    </a:p>
                  </a:txBody>
                  <a:tcPr marL="50800" marR="50800" marT="50800" marB="50800" anchor="ctr" anchorCtr="0" horzOverflow="overflow">
                    <a:solidFill>
                      <a:srgbClr val="FFFFFF"/>
                    </a:solidFill>
                  </a:tcPr>
                </a:tc>
              </a:tr>
            </a:tbl>
          </a:graphicData>
        </a:graphic>
      </p:graphicFrame>
      <p:sp>
        <p:nvSpPr>
          <p:cNvPr id="307" name="PTB scores use 164 patients. External scores use a different cohort and label mapping"/>
          <p:cNvSpPr txBox="1"/>
          <p:nvPr/>
        </p:nvSpPr>
        <p:spPr>
          <a:xfrm>
            <a:off x="1270000" y="11547891"/>
            <a:ext cx="20320000" cy="5715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2700">
                <a:solidFill>
                  <a:srgbClr val="657B8B"/>
                </a:solidFill>
                <a:latin typeface="Avenir Next Regular"/>
                <a:ea typeface="Avenir Next Regular"/>
                <a:cs typeface="Avenir Next Regular"/>
                <a:sym typeface="Avenir Next Regular"/>
              </a:defRPr>
            </a:lvl1pPr>
          </a:lstStyle>
          <a:p>
            <a:pPr/>
            <a:r>
              <a:t>PTB scores use 164 patients. External scores use a different cohort and label mapping</a:t>
            </a:r>
          </a:p>
        </p:txBody>
      </p:sp>
    </p:spTree>
  </p:cSld>
  <p:clrMapOvr>
    <a:masterClrMapping/>
  </p:clrMapOvr>
  <p:transition spd="med" advClick="1"/>
</p:sld>
</file>

<file path=ppt/slides/slide16.xml><?xml version="1.0" encoding="utf-8"?>
<p:sld xmlns:a="http://schemas.openxmlformats.org/drawingml/2006/main" xmlns:ns2="http://schemas.microsoft.com/office/mac/drawingml/2011/main" xmlns:p="http://schemas.openxmlformats.org/presentationml/2006/main" showMasterSp="1" showMasterPhAnim="1">
  <p:cSld>
    <p:spTree>
      <p:nvGrpSpPr>
        <p:cNvPr id="1" name=""/>
        <p:cNvGrpSpPr/>
        <p:nvPr/>
      </p:nvGrpSpPr>
      <p:grpSpPr>
        <a:xfrm>
          <a:off x="0" y="0"/>
          <a:ext cx="0" cy="0"/>
          <a:chOff x="0" y="0"/>
          <a:chExt cx="0" cy="0"/>
        </a:xfrm>
      </p:grpSpPr>
      <p:sp>
        <p:nvSpPr>
          <p:cNvPr id="311" name="Full exploratory ablation results"/>
          <p:cNvSpPr txBox="1"/>
          <p:nvPr/>
        </p:nvSpPr>
        <p:spPr>
          <a:xfrm>
            <a:off x="1270000" y="1060449"/>
            <a:ext cx="21844000" cy="12446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6600">
                <a:solidFill>
                  <a:srgbClr val="1D4260"/>
                </a:solidFill>
                <a:latin typeface="Avenir Next Demi Bold"/>
                <a:ea typeface="Avenir Next Demi Bold"/>
                <a:cs typeface="Avenir Next Demi Bold"/>
                <a:sym typeface="Avenir Next Demi Bold"/>
              </a:defRPr>
            </a:lvl1pPr>
          </a:lstStyle>
          <a:p>
            <a:pPr/>
            <a:r>
              <a:t>Full exploratory ablation results</a:t>
            </a:r>
          </a:p>
        </p:txBody>
      </p:sp>
      <p:sp>
        <p:nvSpPr>
          <p:cNvPr id="312" name="Backup 16"/>
          <p:cNvSpPr txBox="1"/>
          <p:nvPr/>
        </p:nvSpPr>
        <p:spPr>
          <a:xfrm>
            <a:off x="20827999" y="12411491"/>
            <a:ext cx="2286001" cy="4953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2300">
                <a:solidFill>
                  <a:srgbClr val="657B8B"/>
                </a:solidFill>
                <a:latin typeface="Avenir Next Regular"/>
                <a:ea typeface="Avenir Next Regular"/>
                <a:cs typeface="Avenir Next Regular"/>
                <a:sym typeface="Avenir Next Regular"/>
              </a:defRPr>
            </a:lvl1pPr>
          </a:lstStyle>
          <a:p>
            <a:pPr/>
            <a:r>
              <a:t>Backup 16</a:t>
            </a:r>
          </a:p>
        </p:txBody>
      </p:sp>
      <p:graphicFrame>
        <p:nvGraphicFramePr>
          <p:cNvPr id="313" name="Table 1"/>
          <p:cNvGraphicFramePr/>
          <p:nvPr/>
        </p:nvGraphicFramePr>
        <p:xfrm>
          <a:off x="1270000" y="2667000"/>
          <a:ext cx="10922000" cy="11176000"/>
        </p:xfrm>
        <a:graphic>
          <a:graphicData uri="http://schemas.openxmlformats.org/drawingml/2006/table">
            <a:tbl>
              <a:tblPr firstCol="0" firstRow="1" lastCol="0" lastRow="0" bandCol="0" bandRow="0" rtl="0">
                <a:tableStyleId>{4C3C2611-4C71-4FC5-86AE-919BDF0F9419}</a:tableStyleId>
              </a:tblPr>
              <a:tblGrid>
                <a:gridCol w="9652000"/>
                <a:gridCol w="3556000"/>
                <a:gridCol w="4318000"/>
                <a:gridCol w="4318000"/>
              </a:tblGrid>
              <a:tr h="673100">
                <a:tc>
                  <a:txBody>
                    <a:bodyPr/>
                    <a:lstStyle/>
                    <a:p>
                      <a:pPr defTabSz="914400">
                        <a:tabLst>
                          <a:tab pos="1663700" algn="l"/>
                        </a:tabLst>
                        <a:defRPr b="0"/>
                      </a:pPr>
                      <a:r>
                        <a:rPr sz="2800">
                          <a:solidFill>
                            <a:srgbClr val="FFFFFF"/>
                          </a:solidFill>
                          <a:latin typeface="Avenir Next Regular"/>
                          <a:ea typeface="Avenir Next Regular"/>
                          <a:cs typeface="Avenir Next Regular"/>
                          <a:sym typeface="Avenir Next Regular"/>
                        </a:rPr>
                        <a:t>Representation</a:t>
                      </a:r>
                    </a:p>
                  </a:txBody>
                  <a:tcPr marL="50800" marR="50800" marT="50800" marB="50800" anchor="ctr" anchorCtr="0" horzOverflow="overflow">
                    <a:solidFill>
                      <a:srgbClr val="1D4260"/>
                    </a:solidFill>
                  </a:tcPr>
                </a:tc>
                <a:tc>
                  <a:txBody>
                    <a:bodyPr/>
                    <a:lstStyle/>
                    <a:p>
                      <a:pPr defTabSz="914400">
                        <a:tabLst>
                          <a:tab pos="1663700" algn="l"/>
                        </a:tabLst>
                        <a:defRPr b="0"/>
                      </a:pPr>
                      <a:r>
                        <a:rPr sz="2800">
                          <a:solidFill>
                            <a:srgbClr val="FFFFFF"/>
                          </a:solidFill>
                          <a:latin typeface="Avenir Next Regular"/>
                          <a:ea typeface="Avenir Next Regular"/>
                          <a:cs typeface="Avenir Next Regular"/>
                          <a:sym typeface="Avenir Next Regular"/>
                        </a:rPr>
                        <a:t>Features</a:t>
                      </a:r>
                    </a:p>
                  </a:txBody>
                  <a:tcPr marL="50800" marR="50800" marT="50800" marB="50800" anchor="ctr" anchorCtr="0" horzOverflow="overflow">
                    <a:solidFill>
                      <a:srgbClr val="1D4260"/>
                    </a:solidFill>
                  </a:tcPr>
                </a:tc>
                <a:tc>
                  <a:txBody>
                    <a:bodyPr/>
                    <a:lstStyle/>
                    <a:p>
                      <a:pPr defTabSz="914400">
                        <a:tabLst>
                          <a:tab pos="1663700" algn="l"/>
                        </a:tabLst>
                        <a:defRPr b="0"/>
                      </a:pPr>
                      <a:r>
                        <a:rPr sz="2800">
                          <a:solidFill>
                            <a:srgbClr val="FFFFFF"/>
                          </a:solidFill>
                          <a:latin typeface="Avenir Next Regular"/>
                          <a:ea typeface="Avenir Next Regular"/>
                          <a:cs typeface="Avenir Next Regular"/>
                          <a:sym typeface="Avenir Next Regular"/>
                        </a:rPr>
                        <a:t>Patient accuracy</a:t>
                      </a:r>
                    </a:p>
                  </a:txBody>
                  <a:tcPr marL="50800" marR="50800" marT="50800" marB="50800" anchor="ctr" anchorCtr="0" horzOverflow="overflow">
                    <a:solidFill>
                      <a:srgbClr val="1D4260"/>
                    </a:solidFill>
                  </a:tcPr>
                </a:tc>
                <a:tc>
                  <a:txBody>
                    <a:bodyPr/>
                    <a:lstStyle/>
                    <a:p>
                      <a:pPr defTabSz="914400">
                        <a:tabLst>
                          <a:tab pos="1663700" algn="l"/>
                        </a:tabLst>
                        <a:defRPr b="0"/>
                      </a:pPr>
                      <a:r>
                        <a:rPr sz="2800">
                          <a:solidFill>
                            <a:srgbClr val="FFFFFF"/>
                          </a:solidFill>
                          <a:latin typeface="Avenir Next Regular"/>
                          <a:ea typeface="Avenir Next Regular"/>
                          <a:cs typeface="Avenir Next Regular"/>
                          <a:sym typeface="Avenir Next Regular"/>
                        </a:rPr>
                        <a:t>Patient macro F1</a:t>
                      </a:r>
                    </a:p>
                  </a:txBody>
                  <a:tcPr marL="50800" marR="50800" marT="50800" marB="50800" anchor="ctr" anchorCtr="0" horzOverflow="overflow">
                    <a:solidFill>
                      <a:srgbClr val="1D4260"/>
                    </a:solidFill>
                  </a:tcPr>
                </a:tc>
              </a:tr>
              <a:tr h="673100">
                <a:tc>
                  <a:txBody>
                    <a:bodyPr/>
                    <a:lstStyle/>
                    <a:p>
                      <a:pPr defTabSz="914400"/>
                      <a:r>
                        <a:rPr sz="2800">
                          <a:solidFill>
                            <a:srgbClr val="1D4260"/>
                          </a:solidFill>
                          <a:latin typeface="Avenir Next Regular"/>
                          <a:ea typeface="Avenir Next Regular"/>
                          <a:cs typeface="Avenir Next Regular"/>
                          <a:sym typeface="Avenir Next Regular"/>
                        </a:rPr>
                        <a:t>Wavelet statistics</a:t>
                      </a:r>
                    </a:p>
                  </a:txBody>
                  <a:tcPr marL="50800" marR="50800" marT="50800" marB="50800" anchor="ctr" anchorCtr="0" horzOverflow="overflow">
                    <a:solidFill>
                      <a:srgbClr val="F4F8F9"/>
                    </a:solidFill>
                  </a:tcPr>
                </a:tc>
                <a:tc>
                  <a:txBody>
                    <a:bodyPr/>
                    <a:lstStyle/>
                    <a:p>
                      <a:pPr defTabSz="914400"/>
                      <a:r>
                        <a:rPr sz="2800">
                          <a:solidFill>
                            <a:srgbClr val="1D4260"/>
                          </a:solidFill>
                          <a:latin typeface="Avenir Next Regular"/>
                          <a:ea typeface="Avenir Next Regular"/>
                          <a:cs typeface="Avenir Next Regular"/>
                          <a:sym typeface="Avenir Next Regular"/>
                        </a:rPr>
                        <a:t>192</a:t>
                      </a:r>
                    </a:p>
                  </a:txBody>
                  <a:tcPr marL="50800" marR="50800" marT="50800" marB="50800" anchor="ctr" anchorCtr="0" horzOverflow="overflow">
                    <a:solidFill>
                      <a:srgbClr val="F4F8F9"/>
                    </a:solidFill>
                  </a:tcPr>
                </a:tc>
                <a:tc>
                  <a:txBody>
                    <a:bodyPr/>
                    <a:lstStyle/>
                    <a:p>
                      <a:pPr defTabSz="914400"/>
                      <a:r>
                        <a:rPr sz="2800">
                          <a:solidFill>
                            <a:srgbClr val="1D4260"/>
                          </a:solidFill>
                          <a:latin typeface="Avenir Next Regular"/>
                          <a:ea typeface="Avenir Next Regular"/>
                          <a:cs typeface="Avenir Next Regular"/>
                          <a:sym typeface="Avenir Next Regular"/>
                        </a:rPr>
                        <a:t>53.66%</a:t>
                      </a:r>
                    </a:p>
                  </a:txBody>
                  <a:tcPr marL="50800" marR="50800" marT="50800" marB="50800" anchor="ctr" anchorCtr="0" horzOverflow="overflow">
                    <a:solidFill>
                      <a:srgbClr val="F4F8F9"/>
                    </a:solidFill>
                  </a:tcPr>
                </a:tc>
                <a:tc>
                  <a:txBody>
                    <a:bodyPr/>
                    <a:lstStyle/>
                    <a:p>
                      <a:pPr defTabSz="914400"/>
                      <a:r>
                        <a:rPr sz="2800">
                          <a:solidFill>
                            <a:srgbClr val="1D4260"/>
                          </a:solidFill>
                          <a:latin typeface="Avenir Next Regular"/>
                          <a:ea typeface="Avenir Next Regular"/>
                          <a:cs typeface="Avenir Next Regular"/>
                          <a:sym typeface="Avenir Next Regular"/>
                        </a:rPr>
                        <a:t>0.464</a:t>
                      </a:r>
                    </a:p>
                  </a:txBody>
                  <a:tcPr marL="50800" marR="50800" marT="50800" marB="50800" anchor="ctr" anchorCtr="0" horzOverflow="overflow">
                    <a:solidFill>
                      <a:srgbClr val="F4F8F9"/>
                    </a:solidFill>
                  </a:tcPr>
                </a:tc>
              </a:tr>
              <a:tr h="673100">
                <a:tc>
                  <a:txBody>
                    <a:bodyPr/>
                    <a:lstStyle/>
                    <a:p>
                      <a:pPr defTabSz="914400"/>
                      <a:r>
                        <a:rPr sz="2800">
                          <a:solidFill>
                            <a:srgbClr val="1D4260"/>
                          </a:solidFill>
                          <a:latin typeface="Avenir Next Regular"/>
                          <a:ea typeface="Avenir Next Regular"/>
                          <a:cs typeface="Avenir Next Regular"/>
                          <a:sym typeface="Avenir Next Regular"/>
                        </a:rPr>
                        <a:t>Tucker rank 5</a:t>
                      </a:r>
                    </a:p>
                  </a:txBody>
                  <a:tcPr marL="50800" marR="50800" marT="50800" marB="50800" anchor="ctr" anchorCtr="0" horzOverflow="overflow">
                    <a:solidFill>
                      <a:srgbClr val="FFFFFF"/>
                    </a:solidFill>
                  </a:tcPr>
                </a:tc>
                <a:tc>
                  <a:txBody>
                    <a:bodyPr/>
                    <a:lstStyle/>
                    <a:p>
                      <a:pPr defTabSz="914400"/>
                      <a:r>
                        <a:rPr sz="2800">
                          <a:solidFill>
                            <a:srgbClr val="1D4260"/>
                          </a:solidFill>
                          <a:latin typeface="Avenir Next Regular"/>
                          <a:ea typeface="Avenir Next Regular"/>
                          <a:cs typeface="Avenir Next Regular"/>
                          <a:sym typeface="Avenir Next Regular"/>
                        </a:rPr>
                        <a:t>120</a:t>
                      </a:r>
                    </a:p>
                  </a:txBody>
                  <a:tcPr marL="50800" marR="50800" marT="50800" marB="50800" anchor="ctr" anchorCtr="0" horzOverflow="overflow">
                    <a:solidFill>
                      <a:srgbClr val="FFFFFF"/>
                    </a:solidFill>
                  </a:tcPr>
                </a:tc>
                <a:tc>
                  <a:txBody>
                    <a:bodyPr/>
                    <a:lstStyle/>
                    <a:p>
                      <a:pPr defTabSz="914400"/>
                      <a:r>
                        <a:rPr sz="2800">
                          <a:solidFill>
                            <a:srgbClr val="1D4260"/>
                          </a:solidFill>
                          <a:latin typeface="Avenir Next Regular"/>
                          <a:ea typeface="Avenir Next Regular"/>
                          <a:cs typeface="Avenir Next Regular"/>
                          <a:sym typeface="Avenir Next Regular"/>
                        </a:rPr>
                        <a:t>48.17%</a:t>
                      </a:r>
                    </a:p>
                  </a:txBody>
                  <a:tcPr marL="50800" marR="50800" marT="50800" marB="50800" anchor="ctr" anchorCtr="0" horzOverflow="overflow">
                    <a:solidFill>
                      <a:srgbClr val="FFFFFF"/>
                    </a:solidFill>
                  </a:tcPr>
                </a:tc>
                <a:tc>
                  <a:txBody>
                    <a:bodyPr/>
                    <a:lstStyle/>
                    <a:p>
                      <a:pPr defTabSz="914400"/>
                      <a:r>
                        <a:rPr sz="2800">
                          <a:solidFill>
                            <a:srgbClr val="1D4260"/>
                          </a:solidFill>
                          <a:latin typeface="Avenir Next Regular"/>
                          <a:ea typeface="Avenir Next Regular"/>
                          <a:cs typeface="Avenir Next Regular"/>
                          <a:sym typeface="Avenir Next Regular"/>
                        </a:rPr>
                        <a:t>0.423</a:t>
                      </a:r>
                    </a:p>
                  </a:txBody>
                  <a:tcPr marL="50800" marR="50800" marT="50800" marB="50800" anchor="ctr" anchorCtr="0" horzOverflow="overflow">
                    <a:solidFill>
                      <a:srgbClr val="FFFFFF"/>
                    </a:solidFill>
                  </a:tcPr>
                </a:tc>
              </a:tr>
              <a:tr h="673100">
                <a:tc>
                  <a:txBody>
                    <a:bodyPr/>
                    <a:lstStyle/>
                    <a:p>
                      <a:pPr defTabSz="914400"/>
                      <a:r>
                        <a:rPr sz="2800">
                          <a:solidFill>
                            <a:srgbClr val="1D4260"/>
                          </a:solidFill>
                          <a:latin typeface="Avenir Next Regular"/>
                          <a:ea typeface="Avenir Next Regular"/>
                          <a:cs typeface="Avenir Next Regular"/>
                          <a:sym typeface="Avenir Next Regular"/>
                        </a:rPr>
                        <a:t>Tucker rank 8</a:t>
                      </a:r>
                    </a:p>
                  </a:txBody>
                  <a:tcPr marL="50800" marR="50800" marT="50800" marB="50800" anchor="ctr" anchorCtr="0" horzOverflow="overflow">
                    <a:solidFill>
                      <a:srgbClr val="F4F8F9"/>
                    </a:solidFill>
                  </a:tcPr>
                </a:tc>
                <a:tc>
                  <a:txBody>
                    <a:bodyPr/>
                    <a:lstStyle/>
                    <a:p>
                      <a:pPr defTabSz="914400"/>
                      <a:r>
                        <a:rPr sz="2800">
                          <a:solidFill>
                            <a:srgbClr val="1D4260"/>
                          </a:solidFill>
                          <a:latin typeface="Avenir Next Regular"/>
                          <a:ea typeface="Avenir Next Regular"/>
                          <a:cs typeface="Avenir Next Regular"/>
                          <a:sym typeface="Avenir Next Regular"/>
                        </a:rPr>
                        <a:t>192</a:t>
                      </a:r>
                    </a:p>
                  </a:txBody>
                  <a:tcPr marL="50800" marR="50800" marT="50800" marB="50800" anchor="ctr" anchorCtr="0" horzOverflow="overflow">
                    <a:solidFill>
                      <a:srgbClr val="F4F8F9"/>
                    </a:solidFill>
                  </a:tcPr>
                </a:tc>
                <a:tc>
                  <a:txBody>
                    <a:bodyPr/>
                    <a:lstStyle/>
                    <a:p>
                      <a:pPr defTabSz="914400"/>
                      <a:r>
                        <a:rPr sz="2800">
                          <a:solidFill>
                            <a:srgbClr val="1D4260"/>
                          </a:solidFill>
                          <a:latin typeface="Avenir Next Regular"/>
                          <a:ea typeface="Avenir Next Regular"/>
                          <a:cs typeface="Avenir Next Regular"/>
                          <a:sym typeface="Avenir Next Regular"/>
                        </a:rPr>
                        <a:t>49.39%</a:t>
                      </a:r>
                    </a:p>
                  </a:txBody>
                  <a:tcPr marL="50800" marR="50800" marT="50800" marB="50800" anchor="ctr" anchorCtr="0" horzOverflow="overflow">
                    <a:solidFill>
                      <a:srgbClr val="F4F8F9"/>
                    </a:solidFill>
                  </a:tcPr>
                </a:tc>
                <a:tc>
                  <a:txBody>
                    <a:bodyPr/>
                    <a:lstStyle/>
                    <a:p>
                      <a:pPr defTabSz="914400"/>
                      <a:r>
                        <a:rPr sz="2800">
                          <a:solidFill>
                            <a:srgbClr val="1D4260"/>
                          </a:solidFill>
                          <a:latin typeface="Avenir Next Regular"/>
                          <a:ea typeface="Avenir Next Regular"/>
                          <a:cs typeface="Avenir Next Regular"/>
                          <a:sym typeface="Avenir Next Regular"/>
                        </a:rPr>
                        <a:t>0.416</a:t>
                      </a:r>
                    </a:p>
                  </a:txBody>
                  <a:tcPr marL="50800" marR="50800" marT="50800" marB="50800" anchor="ctr" anchorCtr="0" horzOverflow="overflow">
                    <a:solidFill>
                      <a:srgbClr val="F4F8F9"/>
                    </a:solidFill>
                  </a:tcPr>
                </a:tc>
              </a:tr>
              <a:tr h="673100">
                <a:tc>
                  <a:txBody>
                    <a:bodyPr/>
                    <a:lstStyle/>
                    <a:p>
                      <a:pPr defTabSz="914400"/>
                      <a:r>
                        <a:rPr sz="2800">
                          <a:solidFill>
                            <a:srgbClr val="1D4260"/>
                          </a:solidFill>
                          <a:latin typeface="Avenir Next Regular"/>
                          <a:ea typeface="Avenir Next Regular"/>
                          <a:cs typeface="Avenir Next Regular"/>
                          <a:sym typeface="Avenir Next Regular"/>
                        </a:rPr>
                        <a:t>Tucker rank 3</a:t>
                      </a:r>
                    </a:p>
                  </a:txBody>
                  <a:tcPr marL="50800" marR="50800" marT="50800" marB="50800" anchor="ctr" anchorCtr="0" horzOverflow="overflow">
                    <a:solidFill>
                      <a:srgbClr val="FFFFFF"/>
                    </a:solidFill>
                  </a:tcPr>
                </a:tc>
                <a:tc>
                  <a:txBody>
                    <a:bodyPr/>
                    <a:lstStyle/>
                    <a:p>
                      <a:pPr defTabSz="914400"/>
                      <a:r>
                        <a:rPr sz="2800">
                          <a:solidFill>
                            <a:srgbClr val="1D4260"/>
                          </a:solidFill>
                          <a:latin typeface="Avenir Next Regular"/>
                          <a:ea typeface="Avenir Next Regular"/>
                          <a:cs typeface="Avenir Next Regular"/>
                          <a:sym typeface="Avenir Next Regular"/>
                        </a:rPr>
                        <a:t>72</a:t>
                      </a:r>
                    </a:p>
                  </a:txBody>
                  <a:tcPr marL="50800" marR="50800" marT="50800" marB="50800" anchor="ctr" anchorCtr="0" horzOverflow="overflow">
                    <a:solidFill>
                      <a:srgbClr val="FFFFFF"/>
                    </a:solidFill>
                  </a:tcPr>
                </a:tc>
                <a:tc>
                  <a:txBody>
                    <a:bodyPr/>
                    <a:lstStyle/>
                    <a:p>
                      <a:pPr defTabSz="914400"/>
                      <a:r>
                        <a:rPr sz="2800">
                          <a:solidFill>
                            <a:srgbClr val="1D4260"/>
                          </a:solidFill>
                          <a:latin typeface="Avenir Next Regular"/>
                          <a:ea typeface="Avenir Next Regular"/>
                          <a:cs typeface="Avenir Next Regular"/>
                          <a:sym typeface="Avenir Next Regular"/>
                        </a:rPr>
                        <a:t>48.17%</a:t>
                      </a:r>
                    </a:p>
                  </a:txBody>
                  <a:tcPr marL="50800" marR="50800" marT="50800" marB="50800" anchor="ctr" anchorCtr="0" horzOverflow="overflow">
                    <a:solidFill>
                      <a:srgbClr val="FFFFFF"/>
                    </a:solidFill>
                  </a:tcPr>
                </a:tc>
                <a:tc>
                  <a:txBody>
                    <a:bodyPr/>
                    <a:lstStyle/>
                    <a:p>
                      <a:pPr defTabSz="914400"/>
                      <a:r>
                        <a:rPr sz="2800">
                          <a:solidFill>
                            <a:srgbClr val="1D4260"/>
                          </a:solidFill>
                          <a:latin typeface="Avenir Next Regular"/>
                          <a:ea typeface="Avenir Next Regular"/>
                          <a:cs typeface="Avenir Next Regular"/>
                          <a:sym typeface="Avenir Next Regular"/>
                        </a:rPr>
                        <a:t>0.416</a:t>
                      </a:r>
                    </a:p>
                  </a:txBody>
                  <a:tcPr marL="50800" marR="50800" marT="50800" marB="50800" anchor="ctr" anchorCtr="0" horzOverflow="overflow">
                    <a:solidFill>
                      <a:srgbClr val="FFFFFF"/>
                    </a:solidFill>
                  </a:tcPr>
                </a:tc>
              </a:tr>
              <a:tr h="673100">
                <a:tc>
                  <a:txBody>
                    <a:bodyPr/>
                    <a:lstStyle/>
                    <a:p>
                      <a:pPr defTabSz="914400"/>
                      <a:r>
                        <a:rPr sz="2800">
                          <a:solidFill>
                            <a:srgbClr val="1D4260"/>
                          </a:solidFill>
                          <a:latin typeface="Avenir Next Regular"/>
                          <a:ea typeface="Avenir Next Regular"/>
                          <a:cs typeface="Avenir Next Regular"/>
                          <a:sym typeface="Avenir Next Regular"/>
                        </a:rPr>
                        <a:t>Raw signal, rank 3</a:t>
                      </a:r>
                    </a:p>
                  </a:txBody>
                  <a:tcPr marL="50800" marR="50800" marT="50800" marB="50800" anchor="ctr" anchorCtr="0" horzOverflow="overflow">
                    <a:solidFill>
                      <a:srgbClr val="F4F8F9"/>
                    </a:solidFill>
                  </a:tcPr>
                </a:tc>
                <a:tc>
                  <a:txBody>
                    <a:bodyPr/>
                    <a:lstStyle/>
                    <a:p>
                      <a:pPr defTabSz="914400"/>
                      <a:r>
                        <a:rPr sz="2800">
                          <a:solidFill>
                            <a:srgbClr val="1D4260"/>
                          </a:solidFill>
                          <a:latin typeface="Avenir Next Regular"/>
                          <a:ea typeface="Avenir Next Regular"/>
                          <a:cs typeface="Avenir Next Regular"/>
                          <a:sym typeface="Avenir Next Regular"/>
                        </a:rPr>
                        <a:t>72</a:t>
                      </a:r>
                    </a:p>
                  </a:txBody>
                  <a:tcPr marL="50800" marR="50800" marT="50800" marB="50800" anchor="ctr" anchorCtr="0" horzOverflow="overflow">
                    <a:solidFill>
                      <a:srgbClr val="F4F8F9"/>
                    </a:solidFill>
                  </a:tcPr>
                </a:tc>
                <a:tc>
                  <a:txBody>
                    <a:bodyPr/>
                    <a:lstStyle/>
                    <a:p>
                      <a:pPr defTabSz="914400"/>
                      <a:r>
                        <a:rPr sz="2800">
                          <a:solidFill>
                            <a:srgbClr val="1D4260"/>
                          </a:solidFill>
                          <a:latin typeface="Avenir Next Regular"/>
                          <a:ea typeface="Avenir Next Regular"/>
                          <a:cs typeface="Avenir Next Regular"/>
                          <a:sym typeface="Avenir Next Regular"/>
                        </a:rPr>
                        <a:t>47.56%</a:t>
                      </a:r>
                    </a:p>
                  </a:txBody>
                  <a:tcPr marL="50800" marR="50800" marT="50800" marB="50800" anchor="ctr" anchorCtr="0" horzOverflow="overflow">
                    <a:solidFill>
                      <a:srgbClr val="F4F8F9"/>
                    </a:solidFill>
                  </a:tcPr>
                </a:tc>
                <a:tc>
                  <a:txBody>
                    <a:bodyPr/>
                    <a:lstStyle/>
                    <a:p>
                      <a:pPr defTabSz="914400"/>
                      <a:r>
                        <a:rPr sz="2800">
                          <a:solidFill>
                            <a:srgbClr val="1D4260"/>
                          </a:solidFill>
                          <a:latin typeface="Avenir Next Regular"/>
                          <a:ea typeface="Avenir Next Regular"/>
                          <a:cs typeface="Avenir Next Regular"/>
                          <a:sym typeface="Avenir Next Regular"/>
                        </a:rPr>
                        <a:t>0.411</a:t>
                      </a:r>
                    </a:p>
                  </a:txBody>
                  <a:tcPr marL="50800" marR="50800" marT="50800" marB="50800" anchor="ctr" anchorCtr="0" horzOverflow="overflow">
                    <a:solidFill>
                      <a:srgbClr val="F4F8F9"/>
                    </a:solidFill>
                  </a:tcPr>
                </a:tc>
              </a:tr>
              <a:tr h="673100">
                <a:tc>
                  <a:txBody>
                    <a:bodyPr/>
                    <a:lstStyle/>
                    <a:p>
                      <a:pPr defTabSz="914400"/>
                      <a:r>
                        <a:rPr sz="2800">
                          <a:solidFill>
                            <a:srgbClr val="1D4260"/>
                          </a:solidFill>
                          <a:latin typeface="Avenir Next Regular"/>
                          <a:ea typeface="Avenir Next Regular"/>
                          <a:cs typeface="Avenir Next Regular"/>
                          <a:sym typeface="Avenir Next Regular"/>
                        </a:rPr>
                        <a:t>Tucker rank 2</a:t>
                      </a:r>
                    </a:p>
                  </a:txBody>
                  <a:tcPr marL="50800" marR="50800" marT="50800" marB="50800" anchor="ctr" anchorCtr="0" horzOverflow="overflow">
                    <a:solidFill>
                      <a:srgbClr val="FFFFFF"/>
                    </a:solidFill>
                  </a:tcPr>
                </a:tc>
                <a:tc>
                  <a:txBody>
                    <a:bodyPr/>
                    <a:lstStyle/>
                    <a:p>
                      <a:pPr defTabSz="914400"/>
                      <a:r>
                        <a:rPr sz="2800">
                          <a:solidFill>
                            <a:srgbClr val="1D4260"/>
                          </a:solidFill>
                          <a:latin typeface="Avenir Next Regular"/>
                          <a:ea typeface="Avenir Next Regular"/>
                          <a:cs typeface="Avenir Next Regular"/>
                          <a:sym typeface="Avenir Next Regular"/>
                        </a:rPr>
                        <a:t>48</a:t>
                      </a:r>
                    </a:p>
                  </a:txBody>
                  <a:tcPr marL="50800" marR="50800" marT="50800" marB="50800" anchor="ctr" anchorCtr="0" horzOverflow="overflow">
                    <a:solidFill>
                      <a:srgbClr val="FFFFFF"/>
                    </a:solidFill>
                  </a:tcPr>
                </a:tc>
                <a:tc>
                  <a:txBody>
                    <a:bodyPr/>
                    <a:lstStyle/>
                    <a:p>
                      <a:pPr defTabSz="914400"/>
                      <a:r>
                        <a:rPr sz="2800">
                          <a:solidFill>
                            <a:srgbClr val="1D4260"/>
                          </a:solidFill>
                          <a:latin typeface="Avenir Next Regular"/>
                          <a:ea typeface="Avenir Next Regular"/>
                          <a:cs typeface="Avenir Next Regular"/>
                          <a:sym typeface="Avenir Next Regular"/>
                        </a:rPr>
                        <a:t>45.12%</a:t>
                      </a:r>
                    </a:p>
                  </a:txBody>
                  <a:tcPr marL="50800" marR="50800" marT="50800" marB="50800" anchor="ctr" anchorCtr="0" horzOverflow="overflow">
                    <a:solidFill>
                      <a:srgbClr val="FFFFFF"/>
                    </a:solidFill>
                  </a:tcPr>
                </a:tc>
                <a:tc>
                  <a:txBody>
                    <a:bodyPr/>
                    <a:lstStyle/>
                    <a:p>
                      <a:pPr defTabSz="914400"/>
                      <a:r>
                        <a:rPr sz="2800">
                          <a:solidFill>
                            <a:srgbClr val="1D4260"/>
                          </a:solidFill>
                          <a:latin typeface="Avenir Next Regular"/>
                          <a:ea typeface="Avenir Next Regular"/>
                          <a:cs typeface="Avenir Next Regular"/>
                          <a:sym typeface="Avenir Next Regular"/>
                        </a:rPr>
                        <a:t>0.377</a:t>
                      </a:r>
                    </a:p>
                  </a:txBody>
                  <a:tcPr marL="50800" marR="50800" marT="50800" marB="50800" anchor="ctr" anchorCtr="0" horzOverflow="overflow">
                    <a:solidFill>
                      <a:srgbClr val="FFFFFF"/>
                    </a:solidFill>
                  </a:tcPr>
                </a:tc>
              </a:tr>
              <a:tr h="673100">
                <a:tc>
                  <a:txBody>
                    <a:bodyPr/>
                    <a:lstStyle/>
                    <a:p>
                      <a:pPr defTabSz="914400"/>
                      <a:r>
                        <a:rPr sz="2800">
                          <a:solidFill>
                            <a:srgbClr val="1D4260"/>
                          </a:solidFill>
                          <a:latin typeface="Avenir Next Regular"/>
                          <a:ea typeface="Avenir Next Regular"/>
                          <a:cs typeface="Avenir Next Regular"/>
                          <a:sym typeface="Avenir Next Regular"/>
                        </a:rPr>
                        <a:t>Amplitude normalized</a:t>
                      </a:r>
                    </a:p>
                  </a:txBody>
                  <a:tcPr marL="50800" marR="50800" marT="50800" marB="50800" anchor="ctr" anchorCtr="0" horzOverflow="overflow">
                    <a:solidFill>
                      <a:srgbClr val="F4F8F9"/>
                    </a:solidFill>
                  </a:tcPr>
                </a:tc>
                <a:tc>
                  <a:txBody>
                    <a:bodyPr/>
                    <a:lstStyle/>
                    <a:p>
                      <a:pPr defTabSz="914400"/>
                      <a:r>
                        <a:rPr sz="2800">
                          <a:solidFill>
                            <a:srgbClr val="1D4260"/>
                          </a:solidFill>
                          <a:latin typeface="Avenir Next Regular"/>
                          <a:ea typeface="Avenir Next Regular"/>
                          <a:cs typeface="Avenir Next Regular"/>
                          <a:sym typeface="Avenir Next Regular"/>
                        </a:rPr>
                        <a:t>72</a:t>
                      </a:r>
                    </a:p>
                  </a:txBody>
                  <a:tcPr marL="50800" marR="50800" marT="50800" marB="50800" anchor="ctr" anchorCtr="0" horzOverflow="overflow">
                    <a:solidFill>
                      <a:srgbClr val="F4F8F9"/>
                    </a:solidFill>
                  </a:tcPr>
                </a:tc>
                <a:tc>
                  <a:txBody>
                    <a:bodyPr/>
                    <a:lstStyle/>
                    <a:p>
                      <a:pPr defTabSz="914400"/>
                      <a:r>
                        <a:rPr sz="2800">
                          <a:solidFill>
                            <a:srgbClr val="1D4260"/>
                          </a:solidFill>
                          <a:latin typeface="Avenir Next Regular"/>
                          <a:ea typeface="Avenir Next Regular"/>
                          <a:cs typeface="Avenir Next Regular"/>
                          <a:sym typeface="Avenir Next Regular"/>
                        </a:rPr>
                        <a:t>43.29%</a:t>
                      </a:r>
                    </a:p>
                  </a:txBody>
                  <a:tcPr marL="50800" marR="50800" marT="50800" marB="50800" anchor="ctr" anchorCtr="0" horzOverflow="overflow">
                    <a:solidFill>
                      <a:srgbClr val="F4F8F9"/>
                    </a:solidFill>
                  </a:tcPr>
                </a:tc>
                <a:tc>
                  <a:txBody>
                    <a:bodyPr/>
                    <a:lstStyle/>
                    <a:p>
                      <a:pPr defTabSz="914400"/>
                      <a:r>
                        <a:rPr sz="2800">
                          <a:solidFill>
                            <a:srgbClr val="1D4260"/>
                          </a:solidFill>
                          <a:latin typeface="Avenir Next Regular"/>
                          <a:ea typeface="Avenir Next Regular"/>
                          <a:cs typeface="Avenir Next Regular"/>
                          <a:sym typeface="Avenir Next Regular"/>
                        </a:rPr>
                        <a:t>0.369</a:t>
                      </a:r>
                    </a:p>
                  </a:txBody>
                  <a:tcPr marL="50800" marR="50800" marT="50800" marB="50800" anchor="ctr" anchorCtr="0" horzOverflow="overflow">
                    <a:solidFill>
                      <a:srgbClr val="F4F8F9"/>
                    </a:solidFill>
                  </a:tcPr>
                </a:tc>
              </a:tr>
              <a:tr h="673100">
                <a:tc>
                  <a:txBody>
                    <a:bodyPr/>
                    <a:lstStyle/>
                    <a:p>
                      <a:pPr defTabSz="914400"/>
                      <a:r>
                        <a:rPr sz="2800">
                          <a:solidFill>
                            <a:srgbClr val="1D4260"/>
                          </a:solidFill>
                          <a:latin typeface="Avenir Next Regular"/>
                          <a:ea typeface="Avenir Next Regular"/>
                          <a:cs typeface="Avenir Next Regular"/>
                          <a:sym typeface="Avenir Next Regular"/>
                        </a:rPr>
                        <a:t>Z lead only</a:t>
                      </a:r>
                    </a:p>
                  </a:txBody>
                  <a:tcPr marL="50800" marR="50800" marT="50800" marB="50800" anchor="ctr" anchorCtr="0" horzOverflow="overflow">
                    <a:solidFill>
                      <a:srgbClr val="FFFFFF"/>
                    </a:solidFill>
                  </a:tcPr>
                </a:tc>
                <a:tc>
                  <a:txBody>
                    <a:bodyPr/>
                    <a:lstStyle/>
                    <a:p>
                      <a:pPr defTabSz="914400"/>
                      <a:r>
                        <a:rPr sz="2800">
                          <a:solidFill>
                            <a:srgbClr val="1D4260"/>
                          </a:solidFill>
                          <a:latin typeface="Avenir Next Regular"/>
                          <a:ea typeface="Avenir Next Regular"/>
                          <a:cs typeface="Avenir Next Regular"/>
                          <a:sym typeface="Avenir Next Regular"/>
                        </a:rPr>
                        <a:t>24</a:t>
                      </a:r>
                    </a:p>
                  </a:txBody>
                  <a:tcPr marL="50800" marR="50800" marT="50800" marB="50800" anchor="ctr" anchorCtr="0" horzOverflow="overflow">
                    <a:solidFill>
                      <a:srgbClr val="FFFFFF"/>
                    </a:solidFill>
                  </a:tcPr>
                </a:tc>
                <a:tc>
                  <a:txBody>
                    <a:bodyPr/>
                    <a:lstStyle/>
                    <a:p>
                      <a:pPr defTabSz="914400"/>
                      <a:r>
                        <a:rPr sz="2800">
                          <a:solidFill>
                            <a:srgbClr val="1D4260"/>
                          </a:solidFill>
                          <a:latin typeface="Avenir Next Regular"/>
                          <a:ea typeface="Avenir Next Regular"/>
                          <a:cs typeface="Avenir Next Regular"/>
                          <a:sym typeface="Avenir Next Regular"/>
                        </a:rPr>
                        <a:t>42.68%</a:t>
                      </a:r>
                    </a:p>
                  </a:txBody>
                  <a:tcPr marL="50800" marR="50800" marT="50800" marB="50800" anchor="ctr" anchorCtr="0" horzOverflow="overflow">
                    <a:solidFill>
                      <a:srgbClr val="FFFFFF"/>
                    </a:solidFill>
                  </a:tcPr>
                </a:tc>
                <a:tc>
                  <a:txBody>
                    <a:bodyPr/>
                    <a:lstStyle/>
                    <a:p>
                      <a:pPr defTabSz="914400"/>
                      <a:r>
                        <a:rPr sz="2800">
                          <a:solidFill>
                            <a:srgbClr val="1D4260"/>
                          </a:solidFill>
                          <a:latin typeface="Avenir Next Regular"/>
                          <a:ea typeface="Avenir Next Regular"/>
                          <a:cs typeface="Avenir Next Regular"/>
                          <a:sym typeface="Avenir Next Regular"/>
                        </a:rPr>
                        <a:t>0.363</a:t>
                      </a:r>
                    </a:p>
                  </a:txBody>
                  <a:tcPr marL="50800" marR="50800" marT="50800" marB="50800" anchor="ctr" anchorCtr="0" horzOverflow="overflow">
                    <a:solidFill>
                      <a:srgbClr val="FFFFFF"/>
                    </a:solidFill>
                  </a:tcPr>
                </a:tc>
              </a:tr>
              <a:tr h="673100">
                <a:tc>
                  <a:txBody>
                    <a:bodyPr/>
                    <a:lstStyle/>
                    <a:p>
                      <a:pPr defTabSz="914400"/>
                      <a:r>
                        <a:rPr sz="2800">
                          <a:solidFill>
                            <a:srgbClr val="1D4260"/>
                          </a:solidFill>
                          <a:latin typeface="Avenir Next Regular"/>
                          <a:ea typeface="Avenir Next Regular"/>
                          <a:cs typeface="Avenir Next Regular"/>
                          <a:sym typeface="Avenir Next Regular"/>
                        </a:rPr>
                        <a:t>Tucker rank 1</a:t>
                      </a:r>
                    </a:p>
                  </a:txBody>
                  <a:tcPr marL="50800" marR="50800" marT="50800" marB="50800" anchor="ctr" anchorCtr="0" horzOverflow="overflow">
                    <a:solidFill>
                      <a:srgbClr val="F4F8F9"/>
                    </a:solidFill>
                  </a:tcPr>
                </a:tc>
                <a:tc>
                  <a:txBody>
                    <a:bodyPr/>
                    <a:lstStyle/>
                    <a:p>
                      <a:pPr defTabSz="914400"/>
                      <a:r>
                        <a:rPr sz="2800">
                          <a:solidFill>
                            <a:srgbClr val="1D4260"/>
                          </a:solidFill>
                          <a:latin typeface="Avenir Next Regular"/>
                          <a:ea typeface="Avenir Next Regular"/>
                          <a:cs typeface="Avenir Next Regular"/>
                          <a:sym typeface="Avenir Next Regular"/>
                        </a:rPr>
                        <a:t>24</a:t>
                      </a:r>
                    </a:p>
                  </a:txBody>
                  <a:tcPr marL="50800" marR="50800" marT="50800" marB="50800" anchor="ctr" anchorCtr="0" horzOverflow="overflow">
                    <a:solidFill>
                      <a:srgbClr val="F4F8F9"/>
                    </a:solidFill>
                  </a:tcPr>
                </a:tc>
                <a:tc>
                  <a:txBody>
                    <a:bodyPr/>
                    <a:lstStyle/>
                    <a:p>
                      <a:pPr defTabSz="914400"/>
                      <a:r>
                        <a:rPr sz="2800">
                          <a:solidFill>
                            <a:srgbClr val="1D4260"/>
                          </a:solidFill>
                          <a:latin typeface="Avenir Next Regular"/>
                          <a:ea typeface="Avenir Next Regular"/>
                          <a:cs typeface="Avenir Next Regular"/>
                          <a:sym typeface="Avenir Next Regular"/>
                        </a:rPr>
                        <a:t>44.51%</a:t>
                      </a:r>
                    </a:p>
                  </a:txBody>
                  <a:tcPr marL="50800" marR="50800" marT="50800" marB="50800" anchor="ctr" anchorCtr="0" horzOverflow="overflow">
                    <a:solidFill>
                      <a:srgbClr val="F4F8F9"/>
                    </a:solidFill>
                  </a:tcPr>
                </a:tc>
                <a:tc>
                  <a:txBody>
                    <a:bodyPr/>
                    <a:lstStyle/>
                    <a:p>
                      <a:pPr defTabSz="914400"/>
                      <a:r>
                        <a:rPr sz="2800">
                          <a:solidFill>
                            <a:srgbClr val="1D4260"/>
                          </a:solidFill>
                          <a:latin typeface="Avenir Next Regular"/>
                          <a:ea typeface="Avenir Next Regular"/>
                          <a:cs typeface="Avenir Next Regular"/>
                          <a:sym typeface="Avenir Next Regular"/>
                        </a:rPr>
                        <a:t>0.353</a:t>
                      </a:r>
                    </a:p>
                  </a:txBody>
                  <a:tcPr marL="50800" marR="50800" marT="50800" marB="50800" anchor="ctr" anchorCtr="0" horzOverflow="overflow">
                    <a:solidFill>
                      <a:srgbClr val="F4F8F9"/>
                    </a:solidFill>
                  </a:tcPr>
                </a:tc>
              </a:tr>
              <a:tr h="673100">
                <a:tc>
                  <a:txBody>
                    <a:bodyPr/>
                    <a:lstStyle/>
                    <a:p>
                      <a:pPr defTabSz="914400"/>
                      <a:r>
                        <a:rPr sz="2800">
                          <a:solidFill>
                            <a:srgbClr val="1D4260"/>
                          </a:solidFill>
                          <a:latin typeface="Avenir Next Regular"/>
                          <a:ea typeface="Avenir Next Regular"/>
                          <a:cs typeface="Avenir Next Regular"/>
                          <a:sym typeface="Avenir Next Regular"/>
                        </a:rPr>
                        <a:t>X lead only</a:t>
                      </a:r>
                    </a:p>
                  </a:txBody>
                  <a:tcPr marL="50800" marR="50800" marT="50800" marB="50800" anchor="ctr" anchorCtr="0" horzOverflow="overflow">
                    <a:solidFill>
                      <a:srgbClr val="FFFFFF"/>
                    </a:solidFill>
                  </a:tcPr>
                </a:tc>
                <a:tc>
                  <a:txBody>
                    <a:bodyPr/>
                    <a:lstStyle/>
                    <a:p>
                      <a:pPr defTabSz="914400"/>
                      <a:r>
                        <a:rPr sz="2800">
                          <a:solidFill>
                            <a:srgbClr val="1D4260"/>
                          </a:solidFill>
                          <a:latin typeface="Avenir Next Regular"/>
                          <a:ea typeface="Avenir Next Regular"/>
                          <a:cs typeface="Avenir Next Regular"/>
                          <a:sym typeface="Avenir Next Regular"/>
                        </a:rPr>
                        <a:t>24</a:t>
                      </a:r>
                    </a:p>
                  </a:txBody>
                  <a:tcPr marL="50800" marR="50800" marT="50800" marB="50800" anchor="ctr" anchorCtr="0" horzOverflow="overflow">
                    <a:solidFill>
                      <a:srgbClr val="FFFFFF"/>
                    </a:solidFill>
                  </a:tcPr>
                </a:tc>
                <a:tc>
                  <a:txBody>
                    <a:bodyPr/>
                    <a:lstStyle/>
                    <a:p>
                      <a:pPr defTabSz="914400"/>
                      <a:r>
                        <a:rPr sz="2800">
                          <a:solidFill>
                            <a:srgbClr val="1D4260"/>
                          </a:solidFill>
                          <a:latin typeface="Avenir Next Regular"/>
                          <a:ea typeface="Avenir Next Regular"/>
                          <a:cs typeface="Avenir Next Regular"/>
                          <a:sym typeface="Avenir Next Regular"/>
                        </a:rPr>
                        <a:t>37.80%</a:t>
                      </a:r>
                    </a:p>
                  </a:txBody>
                  <a:tcPr marL="50800" marR="50800" marT="50800" marB="50800" anchor="ctr" anchorCtr="0" horzOverflow="overflow">
                    <a:solidFill>
                      <a:srgbClr val="FFFFFF"/>
                    </a:solidFill>
                  </a:tcPr>
                </a:tc>
                <a:tc>
                  <a:txBody>
                    <a:bodyPr/>
                    <a:lstStyle/>
                    <a:p>
                      <a:pPr defTabSz="914400"/>
                      <a:r>
                        <a:rPr sz="2800">
                          <a:solidFill>
                            <a:srgbClr val="1D4260"/>
                          </a:solidFill>
                          <a:latin typeface="Avenir Next Regular"/>
                          <a:ea typeface="Avenir Next Regular"/>
                          <a:cs typeface="Avenir Next Regular"/>
                          <a:sym typeface="Avenir Next Regular"/>
                        </a:rPr>
                        <a:t>0.320</a:t>
                      </a:r>
                    </a:p>
                  </a:txBody>
                  <a:tcPr marL="50800" marR="50800" marT="50800" marB="50800" anchor="ctr" anchorCtr="0" horzOverflow="overflow">
                    <a:solidFill>
                      <a:srgbClr val="FFFFFF"/>
                    </a:solidFill>
                  </a:tcPr>
                </a:tc>
              </a:tr>
              <a:tr h="673100">
                <a:tc>
                  <a:txBody>
                    <a:bodyPr/>
                    <a:lstStyle/>
                    <a:p>
                      <a:pPr defTabSz="914400"/>
                      <a:r>
                        <a:rPr sz="2800">
                          <a:solidFill>
                            <a:srgbClr val="1D4260"/>
                          </a:solidFill>
                          <a:latin typeface="Avenir Next Regular"/>
                          <a:ea typeface="Avenir Next Regular"/>
                          <a:cs typeface="Avenir Next Regular"/>
                          <a:sym typeface="Avenir Next Regular"/>
                        </a:rPr>
                        <a:t>Y lead only</a:t>
                      </a:r>
                    </a:p>
                  </a:txBody>
                  <a:tcPr marL="50800" marR="50800" marT="50800" marB="50800" anchor="ctr" anchorCtr="0" horzOverflow="overflow">
                    <a:solidFill>
                      <a:srgbClr val="F4F8F9"/>
                    </a:solidFill>
                  </a:tcPr>
                </a:tc>
                <a:tc>
                  <a:txBody>
                    <a:bodyPr/>
                    <a:lstStyle/>
                    <a:p>
                      <a:pPr defTabSz="914400"/>
                      <a:r>
                        <a:rPr sz="2800">
                          <a:solidFill>
                            <a:srgbClr val="1D4260"/>
                          </a:solidFill>
                          <a:latin typeface="Avenir Next Regular"/>
                          <a:ea typeface="Avenir Next Regular"/>
                          <a:cs typeface="Avenir Next Regular"/>
                          <a:sym typeface="Avenir Next Regular"/>
                        </a:rPr>
                        <a:t>24</a:t>
                      </a:r>
                    </a:p>
                  </a:txBody>
                  <a:tcPr marL="50800" marR="50800" marT="50800" marB="50800" anchor="ctr" anchorCtr="0" horzOverflow="overflow">
                    <a:solidFill>
                      <a:srgbClr val="F4F8F9"/>
                    </a:solidFill>
                  </a:tcPr>
                </a:tc>
                <a:tc>
                  <a:txBody>
                    <a:bodyPr/>
                    <a:lstStyle/>
                    <a:p>
                      <a:pPr defTabSz="914400"/>
                      <a:r>
                        <a:rPr sz="2800">
                          <a:solidFill>
                            <a:srgbClr val="1D4260"/>
                          </a:solidFill>
                          <a:latin typeface="Avenir Next Regular"/>
                          <a:ea typeface="Avenir Next Regular"/>
                          <a:cs typeface="Avenir Next Regular"/>
                          <a:sym typeface="Avenir Next Regular"/>
                        </a:rPr>
                        <a:t>35.37%</a:t>
                      </a:r>
                    </a:p>
                  </a:txBody>
                  <a:tcPr marL="50800" marR="50800" marT="50800" marB="50800" anchor="ctr" anchorCtr="0" horzOverflow="overflow">
                    <a:solidFill>
                      <a:srgbClr val="F4F8F9"/>
                    </a:solidFill>
                  </a:tcPr>
                </a:tc>
                <a:tc>
                  <a:txBody>
                    <a:bodyPr/>
                    <a:lstStyle/>
                    <a:p>
                      <a:pPr defTabSz="914400"/>
                      <a:r>
                        <a:rPr sz="2800">
                          <a:solidFill>
                            <a:srgbClr val="1D4260"/>
                          </a:solidFill>
                          <a:latin typeface="Avenir Next Regular"/>
                          <a:ea typeface="Avenir Next Regular"/>
                          <a:cs typeface="Avenir Next Regular"/>
                          <a:sym typeface="Avenir Next Regular"/>
                        </a:rPr>
                        <a:t>0.301</a:t>
                      </a:r>
                    </a:p>
                  </a:txBody>
                  <a:tcPr marL="50800" marR="50800" marT="50800" marB="50800" anchor="ctr" anchorCtr="0" horzOverflow="overflow">
                    <a:solidFill>
                      <a:srgbClr val="F4F8F9"/>
                    </a:solidFill>
                  </a:tcPr>
                </a:tc>
              </a:tr>
              <a:tr h="673100">
                <a:tc>
                  <a:txBody>
                    <a:bodyPr/>
                    <a:lstStyle/>
                    <a:p>
                      <a:pPr defTabSz="914400"/>
                      <a:r>
                        <a:rPr sz="2800">
                          <a:solidFill>
                            <a:srgbClr val="1D4260"/>
                          </a:solidFill>
                          <a:latin typeface="Avenir Next Regular"/>
                          <a:ea typeface="Avenir Next Regular"/>
                          <a:cs typeface="Avenir Next Regular"/>
                          <a:sym typeface="Avenir Next Regular"/>
                        </a:rPr>
                        <a:t>No wavelet subbands</a:t>
                      </a:r>
                    </a:p>
                  </a:txBody>
                  <a:tcPr marL="50800" marR="50800" marT="50800" marB="50800" anchor="ctr" anchorCtr="0" horzOverflow="overflow">
                    <a:solidFill>
                      <a:srgbClr val="FFFFFF"/>
                    </a:solidFill>
                  </a:tcPr>
                </a:tc>
                <a:tc>
                  <a:txBody>
                    <a:bodyPr/>
                    <a:lstStyle/>
                    <a:p>
                      <a:pPr defTabSz="914400"/>
                      <a:r>
                        <a:rPr sz="2800">
                          <a:solidFill>
                            <a:srgbClr val="1D4260"/>
                          </a:solidFill>
                          <a:latin typeface="Avenir Next Regular"/>
                          <a:ea typeface="Avenir Next Regular"/>
                          <a:cs typeface="Avenir Next Regular"/>
                          <a:sym typeface="Avenir Next Regular"/>
                        </a:rPr>
                        <a:t>9</a:t>
                      </a:r>
                    </a:p>
                  </a:txBody>
                  <a:tcPr marL="50800" marR="50800" marT="50800" marB="50800" anchor="ctr" anchorCtr="0" horzOverflow="overflow">
                    <a:solidFill>
                      <a:srgbClr val="FFFFFF"/>
                    </a:solidFill>
                  </a:tcPr>
                </a:tc>
                <a:tc>
                  <a:txBody>
                    <a:bodyPr/>
                    <a:lstStyle/>
                    <a:p>
                      <a:pPr defTabSz="914400"/>
                      <a:r>
                        <a:rPr sz="2800">
                          <a:solidFill>
                            <a:srgbClr val="1D4260"/>
                          </a:solidFill>
                          <a:latin typeface="Avenir Next Regular"/>
                          <a:ea typeface="Avenir Next Regular"/>
                          <a:cs typeface="Avenir Next Regular"/>
                          <a:sym typeface="Avenir Next Regular"/>
                        </a:rPr>
                        <a:t>35.37%</a:t>
                      </a:r>
                    </a:p>
                  </a:txBody>
                  <a:tcPr marL="50800" marR="50800" marT="50800" marB="50800" anchor="ctr" anchorCtr="0" horzOverflow="overflow">
                    <a:solidFill>
                      <a:srgbClr val="FFFFFF"/>
                    </a:solidFill>
                  </a:tcPr>
                </a:tc>
                <a:tc>
                  <a:txBody>
                    <a:bodyPr/>
                    <a:lstStyle/>
                    <a:p>
                      <a:pPr defTabSz="914400"/>
                      <a:r>
                        <a:rPr sz="2800">
                          <a:solidFill>
                            <a:srgbClr val="1D4260"/>
                          </a:solidFill>
                          <a:latin typeface="Avenir Next Regular"/>
                          <a:ea typeface="Avenir Next Regular"/>
                          <a:cs typeface="Avenir Next Regular"/>
                          <a:sym typeface="Avenir Next Regular"/>
                        </a:rPr>
                        <a:t>0.278</a:t>
                      </a:r>
                    </a:p>
                  </a:txBody>
                  <a:tcPr marL="50800" marR="50800" marT="50800" marB="50800" anchor="ctr" anchorCtr="0" horzOverflow="overflow">
                    <a:solidFill>
                      <a:srgbClr val="FFFFFF"/>
                    </a:solidFill>
                  </a:tcPr>
                </a:tc>
              </a:tr>
            </a:tbl>
          </a:graphicData>
        </a:graphic>
      </p:graphicFrame>
      <p:sp>
        <p:nvSpPr>
          <p:cNvPr id="314" name="Frozen PTB folds with fixed depth-6 XGBoost. Representation choice is exploratory"/>
          <p:cNvSpPr txBox="1"/>
          <p:nvPr/>
        </p:nvSpPr>
        <p:spPr>
          <a:xfrm>
            <a:off x="1270000" y="11547891"/>
            <a:ext cx="20320001" cy="5715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2700">
                <a:solidFill>
                  <a:srgbClr val="657B8B"/>
                </a:solidFill>
                <a:latin typeface="Avenir Next Regular"/>
                <a:ea typeface="Avenir Next Regular"/>
                <a:cs typeface="Avenir Next Regular"/>
                <a:sym typeface="Avenir Next Regular"/>
              </a:defRPr>
            </a:lvl1pPr>
          </a:lstStyle>
          <a:p>
            <a:pPr/>
            <a:r>
              <a:t>Frozen PTB folds with fixed depth-6 XGBoost. Representation choice is exploratory</a:t>
            </a:r>
          </a:p>
        </p:txBody>
      </p:sp>
    </p:spTree>
  </p:cSld>
  <p:clrMapOvr>
    <a:masterClrMapping/>
  </p:clrMapOvr>
  <p:transition spd="med" advClick="1"/>
</p:sld>
</file>

<file path=ppt/slides/slide17.xml><?xml version="1.0" encoding="utf-8"?>
<p:sld xmlns:a="http://schemas.openxmlformats.org/drawingml/2006/main" xmlns:ns2="http://schemas.microsoft.com/office/mac/drawingml/2011/main" xmlns:p="http://schemas.openxmlformats.org/presentationml/2006/main" showMasterSp="1" showMasterPhAnim="1">
  <p:cSld>
    <p:spTree>
      <p:nvGrpSpPr>
        <p:cNvPr id="1" name=""/>
        <p:cNvGrpSpPr/>
        <p:nvPr/>
      </p:nvGrpSpPr>
      <p:grpSpPr>
        <a:xfrm>
          <a:off x="0" y="0"/>
          <a:ext cx="0" cy="0"/>
          <a:chOff x="0" y="0"/>
          <a:chExt cx="0" cy="0"/>
        </a:xfrm>
      </p:grpSpPr>
      <p:sp>
        <p:nvSpPr>
          <p:cNvPr id="318" name="Technical choices and reproduction limits"/>
          <p:cNvSpPr txBox="1"/>
          <p:nvPr/>
        </p:nvSpPr>
        <p:spPr>
          <a:xfrm>
            <a:off x="1270000" y="1060449"/>
            <a:ext cx="21844000" cy="12446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6600">
                <a:solidFill>
                  <a:srgbClr val="1D4260"/>
                </a:solidFill>
                <a:latin typeface="Avenir Next Demi Bold"/>
                <a:ea typeface="Avenir Next Demi Bold"/>
                <a:cs typeface="Avenir Next Demi Bold"/>
                <a:sym typeface="Avenir Next Demi Bold"/>
              </a:defRPr>
            </a:lvl1pPr>
          </a:lstStyle>
          <a:p>
            <a:pPr/>
            <a:r>
              <a:t>Technical choices and reproduction limits</a:t>
            </a:r>
          </a:p>
        </p:txBody>
      </p:sp>
      <p:sp>
        <p:nvSpPr>
          <p:cNvPr id="319" name="Backup 17"/>
          <p:cNvSpPr txBox="1"/>
          <p:nvPr/>
        </p:nvSpPr>
        <p:spPr>
          <a:xfrm>
            <a:off x="20827999" y="12411491"/>
            <a:ext cx="2286001" cy="4953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2300">
                <a:solidFill>
                  <a:srgbClr val="657B8B"/>
                </a:solidFill>
                <a:latin typeface="Avenir Next Regular"/>
                <a:ea typeface="Avenir Next Regular"/>
                <a:cs typeface="Avenir Next Regular"/>
                <a:sym typeface="Avenir Next Regular"/>
              </a:defRPr>
            </a:lvl1pPr>
          </a:lstStyle>
          <a:p>
            <a:pPr/>
            <a:r>
              <a:t>Backup 17</a:t>
            </a:r>
          </a:p>
        </p:txBody>
      </p:sp>
      <p:graphicFrame>
        <p:nvGraphicFramePr>
          <p:cNvPr id="320" name="Table 1"/>
          <p:cNvGraphicFramePr/>
          <p:nvPr/>
        </p:nvGraphicFramePr>
        <p:xfrm>
          <a:off x="1270000" y="2984500"/>
          <a:ext cx="10922000" cy="11176000"/>
        </p:xfrm>
        <a:graphic>
          <a:graphicData uri="http://schemas.openxmlformats.org/drawingml/2006/table">
            <a:tbl>
              <a:tblPr firstCol="0" firstRow="1" lastCol="0" lastRow="0" bandCol="0" bandRow="0" rtl="0">
                <a:tableStyleId>{4C3C2611-4C71-4FC5-86AE-919BDF0F9419}</a:tableStyleId>
              </a:tblPr>
              <a:tblGrid>
                <a:gridCol w="6985000"/>
                <a:gridCol w="14859000"/>
              </a:tblGrid>
              <a:tr h="1320800">
                <a:tc>
                  <a:txBody>
                    <a:bodyPr/>
                    <a:lstStyle/>
                    <a:p>
                      <a:pPr defTabSz="914400">
                        <a:tabLst>
                          <a:tab pos="1663700" algn="l"/>
                        </a:tabLst>
                        <a:defRPr b="0"/>
                      </a:pPr>
                      <a:r>
                        <a:rPr sz="3400">
                          <a:solidFill>
                            <a:srgbClr val="FFFFFF"/>
                          </a:solidFill>
                          <a:latin typeface="Avenir Next Regular"/>
                          <a:ea typeface="Avenir Next Regular"/>
                          <a:cs typeface="Avenir Next Regular"/>
                          <a:sym typeface="Avenir Next Regular"/>
                        </a:rPr>
                        <a:t>Choice</a:t>
                      </a:r>
                    </a:p>
                  </a:txBody>
                  <a:tcPr marL="50800" marR="50800" marT="50800" marB="50800" anchor="ctr" anchorCtr="0" horzOverflow="overflow">
                    <a:solidFill>
                      <a:srgbClr val="1D4260"/>
                    </a:solidFill>
                  </a:tcPr>
                </a:tc>
                <a:tc>
                  <a:txBody>
                    <a:bodyPr/>
                    <a:lstStyle/>
                    <a:p>
                      <a:pPr defTabSz="914400">
                        <a:tabLst>
                          <a:tab pos="1663700" algn="l"/>
                        </a:tabLst>
                        <a:defRPr b="0"/>
                      </a:pPr>
                      <a:r>
                        <a:rPr sz="3400">
                          <a:solidFill>
                            <a:srgbClr val="FFFFFF"/>
                          </a:solidFill>
                          <a:latin typeface="Avenir Next Regular"/>
                          <a:ea typeface="Avenir Next Regular"/>
                          <a:cs typeface="Avenir Next Regular"/>
                          <a:sym typeface="Avenir Next Regular"/>
                        </a:rPr>
                        <a:t>Implementation and limit</a:t>
                      </a:r>
                    </a:p>
                  </a:txBody>
                  <a:tcPr marL="50800" marR="50800" marT="50800" marB="50800" anchor="ctr" anchorCtr="0" horzOverflow="overflow">
                    <a:solidFill>
                      <a:srgbClr val="1D4260"/>
                    </a:solidFill>
                  </a:tcPr>
                </a:tc>
              </a:tr>
              <a:tr h="1320800">
                <a:tc>
                  <a:txBody>
                    <a:bodyPr/>
                    <a:lstStyle/>
                    <a:p>
                      <a:pPr defTabSz="914400"/>
                      <a:r>
                        <a:rPr sz="3400">
                          <a:solidFill>
                            <a:srgbClr val="1D4260"/>
                          </a:solidFill>
                          <a:latin typeface="Avenir Next Regular"/>
                          <a:ea typeface="Avenir Next Regular"/>
                          <a:cs typeface="Avenir Next Regular"/>
                          <a:sym typeface="Avenir Next Regular"/>
                        </a:rPr>
                        <a:t>Wavelet boundaries</a:t>
                      </a:r>
                    </a:p>
                  </a:txBody>
                  <a:tcPr marL="50800" marR="50800" marT="50800" marB="50800" anchor="ctr" anchorCtr="0" horzOverflow="overflow">
                    <a:solidFill>
                      <a:srgbClr val="F4F8F9"/>
                    </a:solidFill>
                  </a:tcPr>
                </a:tc>
                <a:tc>
                  <a:txBody>
                    <a:bodyPr/>
                    <a:lstStyle/>
                    <a:p>
                      <a:pPr defTabSz="914400"/>
                      <a:r>
                        <a:rPr sz="3400">
                          <a:solidFill>
                            <a:srgbClr val="1D4260"/>
                          </a:solidFill>
                          <a:latin typeface="Avenir Next Regular"/>
                          <a:ea typeface="Avenir Next Regular"/>
                          <a:cs typeface="Avenir Next Regular"/>
                          <a:sym typeface="Avenir Next Regular"/>
                        </a:rPr>
                        <a:t>Symmetric extension and soft thresholding</a:t>
                      </a:r>
                    </a:p>
                  </a:txBody>
                  <a:tcPr marL="50800" marR="50800" marT="50800" marB="50800" anchor="ctr" anchorCtr="0" horzOverflow="overflow">
                    <a:solidFill>
                      <a:srgbClr val="F4F8F9"/>
                    </a:solidFill>
                  </a:tcPr>
                </a:tc>
              </a:tr>
              <a:tr h="1320800">
                <a:tc>
                  <a:txBody>
                    <a:bodyPr/>
                    <a:lstStyle/>
                    <a:p>
                      <a:pPr defTabSz="914400"/>
                      <a:r>
                        <a:rPr sz="3400">
                          <a:solidFill>
                            <a:srgbClr val="1D4260"/>
                          </a:solidFill>
                          <a:latin typeface="Avenir Next Regular"/>
                          <a:ea typeface="Avenir Next Regular"/>
                          <a:cs typeface="Avenir Next Regular"/>
                          <a:sym typeface="Avenir Next Regular"/>
                        </a:rPr>
                        <a:t>R peak detection</a:t>
                      </a:r>
                    </a:p>
                  </a:txBody>
                  <a:tcPr marL="50800" marR="50800" marT="50800" marB="50800" anchor="ctr" anchorCtr="0" horzOverflow="overflow">
                    <a:solidFill>
                      <a:srgbClr val="FFFFFF"/>
                    </a:solidFill>
                  </a:tcPr>
                </a:tc>
                <a:tc>
                  <a:txBody>
                    <a:bodyPr/>
                    <a:lstStyle/>
                    <a:p>
                      <a:pPr defTabSz="914400"/>
                      <a:r>
                        <a:rPr sz="3400">
                          <a:solidFill>
                            <a:srgbClr val="1D4260"/>
                          </a:solidFill>
                          <a:latin typeface="Avenir Next Regular"/>
                          <a:ea typeface="Avenir Next Regular"/>
                          <a:cs typeface="Avenir Next Regular"/>
                          <a:sym typeface="Avenir Next Regular"/>
                        </a:rPr>
                        <a:t>Vector magnitude, 0.06 threshold calibrated to beat counts</a:t>
                      </a:r>
                    </a:p>
                  </a:txBody>
                  <a:tcPr marL="50800" marR="50800" marT="50800" marB="50800" anchor="ctr" anchorCtr="0" horzOverflow="overflow">
                    <a:solidFill>
                      <a:srgbClr val="FFFFFF"/>
                    </a:solidFill>
                  </a:tcPr>
                </a:tc>
              </a:tr>
              <a:tr h="1320800">
                <a:tc>
                  <a:txBody>
                    <a:bodyPr/>
                    <a:lstStyle/>
                    <a:p>
                      <a:pPr defTabSz="914400"/>
                      <a:r>
                        <a:rPr sz="3400">
                          <a:solidFill>
                            <a:srgbClr val="1D4260"/>
                          </a:solidFill>
                          <a:latin typeface="Avenir Next Regular"/>
                          <a:ea typeface="Avenir Next Regular"/>
                          <a:cs typeface="Avenir Next Regular"/>
                          <a:sym typeface="Avenir Next Regular"/>
                        </a:rPr>
                        <a:t>Feature determinism</a:t>
                      </a:r>
                    </a:p>
                  </a:txBody>
                  <a:tcPr marL="50800" marR="50800" marT="50800" marB="50800" anchor="ctr" anchorCtr="0" horzOverflow="overflow">
                    <a:solidFill>
                      <a:srgbClr val="F4F8F9"/>
                    </a:solidFill>
                  </a:tcPr>
                </a:tc>
                <a:tc>
                  <a:txBody>
                    <a:bodyPr/>
                    <a:lstStyle/>
                    <a:p>
                      <a:pPr defTabSz="914400"/>
                      <a:r>
                        <a:rPr sz="3400">
                          <a:solidFill>
                            <a:srgbClr val="1D4260"/>
                          </a:solidFill>
                          <a:latin typeface="Avenir Next Regular"/>
                          <a:ea typeface="Avenir Next Regular"/>
                          <a:cs typeface="Avenir Next Regular"/>
                          <a:sym typeface="Avenir Next Regular"/>
                        </a:rPr>
                        <a:t>SVD sign fixing and column-major core flattening</a:t>
                      </a:r>
                    </a:p>
                  </a:txBody>
                  <a:tcPr marL="50800" marR="50800" marT="50800" marB="50800" anchor="ctr" anchorCtr="0" horzOverflow="overflow">
                    <a:solidFill>
                      <a:srgbClr val="F4F8F9"/>
                    </a:solidFill>
                  </a:tcPr>
                </a:tc>
              </a:tr>
              <a:tr h="1320800">
                <a:tc>
                  <a:txBody>
                    <a:bodyPr/>
                    <a:lstStyle/>
                    <a:p>
                      <a:pPr defTabSz="914400"/>
                      <a:r>
                        <a:rPr sz="3400">
                          <a:solidFill>
                            <a:srgbClr val="1D4260"/>
                          </a:solidFill>
                          <a:latin typeface="Avenir Next Regular"/>
                          <a:ea typeface="Avenir Next Regular"/>
                          <a:cs typeface="Avenir Next Regular"/>
                          <a:sym typeface="Avenir Next Regular"/>
                        </a:rPr>
                        <a:t>Classifier analogue</a:t>
                      </a:r>
                    </a:p>
                  </a:txBody>
                  <a:tcPr marL="50800" marR="50800" marT="50800" marB="50800" anchor="ctr" anchorCtr="0" horzOverflow="overflow">
                    <a:solidFill>
                      <a:srgbClr val="FFFFFF"/>
                    </a:solidFill>
                  </a:tcPr>
                </a:tc>
                <a:tc>
                  <a:txBody>
                    <a:bodyPr/>
                    <a:lstStyle/>
                    <a:p>
                      <a:pPr defTabSz="914400"/>
                      <a:r>
                        <a:rPr sz="3400">
                          <a:solidFill>
                            <a:srgbClr val="1D4260"/>
                          </a:solidFill>
                          <a:latin typeface="Avenir Next Regular"/>
                          <a:ea typeface="Avenir Next Regular"/>
                          <a:cs typeface="Avenir Next Regular"/>
                          <a:sym typeface="Avenir Next Regular"/>
                        </a:rPr>
                        <a:t>scikit-learn bootstrap forest instead of MATLAB TreeBagger</a:t>
                      </a:r>
                    </a:p>
                  </a:txBody>
                  <a:tcPr marL="50800" marR="50800" marT="50800" marB="50800" anchor="ctr" anchorCtr="0" horzOverflow="overflow">
                    <a:solidFill>
                      <a:srgbClr val="FFFFFF"/>
                    </a:solidFill>
                  </a:tcPr>
                </a:tc>
              </a:tr>
              <a:tr h="1320800">
                <a:tc>
                  <a:txBody>
                    <a:bodyPr/>
                    <a:lstStyle/>
                    <a:p>
                      <a:pPr defTabSz="914400"/>
                      <a:r>
                        <a:rPr sz="3400">
                          <a:solidFill>
                            <a:srgbClr val="1D4260"/>
                          </a:solidFill>
                          <a:latin typeface="Avenir Next Regular"/>
                          <a:ea typeface="Avenir Next Regular"/>
                          <a:cs typeface="Avenir Next Regular"/>
                          <a:sym typeface="Avenir Next Regular"/>
                        </a:rPr>
                        <a:t>Exact replication</a:t>
                      </a:r>
                    </a:p>
                  </a:txBody>
                  <a:tcPr marL="50800" marR="50800" marT="50800" marB="50800" anchor="ctr" anchorCtr="0" horzOverflow="overflow">
                    <a:solidFill>
                      <a:srgbClr val="F4F8F9"/>
                    </a:solidFill>
                  </a:tcPr>
                </a:tc>
                <a:tc>
                  <a:txBody>
                    <a:bodyPr/>
                    <a:lstStyle/>
                    <a:p>
                      <a:pPr defTabSz="914400"/>
                      <a:r>
                        <a:rPr sz="3400">
                          <a:solidFill>
                            <a:srgbClr val="1D4260"/>
                          </a:solidFill>
                          <a:latin typeface="Avenir Next Regular"/>
                          <a:ea typeface="Avenir Next Regular"/>
                          <a:cs typeface="Avenir Next Regular"/>
                          <a:sym typeface="Avenir Next Regular"/>
                        </a:rPr>
                        <a:t>Unpublished annotations, folds and options limit exact matching</a:t>
                      </a:r>
                    </a:p>
                  </a:txBody>
                  <a:tcPr marL="50800" marR="50800" marT="50800" marB="50800" anchor="ctr" anchorCtr="0" horzOverflow="overflow">
                    <a:solidFill>
                      <a:srgbClr val="F4F8F9"/>
                    </a:solidFill>
                  </a:tcPr>
                </a:tc>
              </a:tr>
            </a:tbl>
          </a:graphicData>
        </a:graphic>
      </p:graphicFrame>
      <p:sp>
        <p:nvSpPr>
          <p:cNvPr id="321" name="Every choice is documented. Near matching the total beat count does not match every annotation"/>
          <p:cNvSpPr txBox="1"/>
          <p:nvPr/>
        </p:nvSpPr>
        <p:spPr>
          <a:xfrm>
            <a:off x="1270000" y="11874499"/>
            <a:ext cx="20320000" cy="571501"/>
          </a:xfrm>
          <a:prstGeom prst="rect">
            <a:avLst/>
          </a:prstGeom>
          <a:ln w="12700">
            <a:miter lim="400000"/>
          </a:ln>
          <a:extLst>
            <a:ext uri="{C572A759-6A51-4108-AA02-DFA0A04FC94B}">
              <ns2:wrappingTextBoxFlag val="1"/>
            </a:ext>
          </a:extLst>
        </p:spPr>
        <p:txBody>
          <a:bodyPr lIns="50800" tIns="50800" rIns="50800" bIns="50800" anchor="ctr">
            <a:spAutoFit/>
          </a:bodyPr>
          <a:lstStyle>
            <a:lvl1pPr>
              <a:defRPr sz="2700">
                <a:solidFill>
                  <a:srgbClr val="657B8B"/>
                </a:solidFill>
                <a:latin typeface="Avenir Next Regular"/>
                <a:ea typeface="Avenir Next Regular"/>
                <a:cs typeface="Avenir Next Regular"/>
                <a:sym typeface="Avenir Next Regular"/>
              </a:defRPr>
            </a:lvl1pPr>
          </a:lstStyle>
          <a:p>
            <a:pPr/>
            <a:r>
              <a:t>Every choice is documented. Near matching the total beat count does not match every annotation</a:t>
            </a:r>
          </a:p>
        </p:txBody>
      </p:sp>
    </p:spTree>
  </p:cSld>
  <p:clrMapOvr>
    <a:masterClrMapping/>
  </p:clrMapOvr>
  <p:transition spd="med" advClick="1"/>
</p:sld>
</file>

<file path=ppt/theme/theme1.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